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  <p:sldMasterId id="2147483671" r:id="rId5"/>
    <p:sldMasterId id="2147483684" r:id="rId6"/>
    <p:sldMasterId id="2147483697" r:id="rId7"/>
    <p:sldMasterId id="2147483710" r:id="rId8"/>
    <p:sldMasterId id="2147483717" r:id="rId9"/>
  </p:sldMasterIdLst>
  <p:notesMasterIdLst>
    <p:notesMasterId r:id="rId53"/>
  </p:notesMasterIdLst>
  <p:sldIdLst>
    <p:sldId id="256" r:id="rId10"/>
    <p:sldId id="367" r:id="rId11"/>
    <p:sldId id="512" r:id="rId12"/>
    <p:sldId id="513" r:id="rId13"/>
    <p:sldId id="514" r:id="rId14"/>
    <p:sldId id="529" r:id="rId15"/>
    <p:sldId id="538" r:id="rId16"/>
    <p:sldId id="555" r:id="rId17"/>
    <p:sldId id="556" r:id="rId18"/>
    <p:sldId id="557" r:id="rId19"/>
    <p:sldId id="540" r:id="rId20"/>
    <p:sldId id="546" r:id="rId21"/>
    <p:sldId id="550" r:id="rId22"/>
    <p:sldId id="552" r:id="rId23"/>
    <p:sldId id="516" r:id="rId24"/>
    <p:sldId id="515" r:id="rId25"/>
    <p:sldId id="517" r:id="rId26"/>
    <p:sldId id="518" r:id="rId27"/>
    <p:sldId id="519" r:id="rId28"/>
    <p:sldId id="520" r:id="rId29"/>
    <p:sldId id="521" r:id="rId30"/>
    <p:sldId id="549" r:id="rId31"/>
    <p:sldId id="523" r:id="rId32"/>
    <p:sldId id="522" r:id="rId33"/>
    <p:sldId id="524" r:id="rId34"/>
    <p:sldId id="525" r:id="rId35"/>
    <p:sldId id="531" r:id="rId36"/>
    <p:sldId id="532" r:id="rId37"/>
    <p:sldId id="533" r:id="rId38"/>
    <p:sldId id="534" r:id="rId39"/>
    <p:sldId id="536" r:id="rId40"/>
    <p:sldId id="526" r:id="rId41"/>
    <p:sldId id="528" r:id="rId42"/>
    <p:sldId id="530" r:id="rId43"/>
    <p:sldId id="539" r:id="rId44"/>
    <p:sldId id="541" r:id="rId45"/>
    <p:sldId id="545" r:id="rId46"/>
    <p:sldId id="548" r:id="rId47"/>
    <p:sldId id="547" r:id="rId48"/>
    <p:sldId id="543" r:id="rId49"/>
    <p:sldId id="551" r:id="rId50"/>
    <p:sldId id="553" r:id="rId51"/>
    <p:sldId id="554" r:id="rId52"/>
  </p:sldIdLst>
  <p:sldSz cx="9144000" cy="6858000" type="screen4x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570"/>
    <a:srgbClr val="438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84773-5F43-4DC9-8E38-8A38D916CA2A}" v="188" dt="2026-07-07T03:36:36.473"/>
    <p1510:client id="{B27A9A7D-8E1B-4CB5-A889-2A9A1F35DE39}" v="110" dt="2026-07-07T03:08:58.948"/>
    <p1510:client id="{C89CA564-A9C4-40DB-AF52-B5E3E2F40031}" v="181" dt="2026-07-07T03:08:25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20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tableStyles" Target="tableStyles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16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035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C795-9706-65C6-272A-ADE22983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509262-5746-F951-0BA0-F478C6547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AC7C91-EA88-C26A-90D4-D3FBF6E4D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425CC-FD85-35E6-1AB8-9C5A23F2C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84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2320A-75CD-F47E-F47E-3ED65CF9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C90F19-913B-9928-9B07-357FEC98B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E118C7-863C-6E10-A675-ECD08BD1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61BCB-5C37-8234-B7F1-4395E1FE9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72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2BC2-A1EF-D7DD-EA50-BFA2D96E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68C5E4-092A-A2F1-DA39-CF9AC9430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EB11F7-74A4-FF85-3E87-FDBBEC7E3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23A15-7312-44AC-0590-15FA7F463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710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7C66-10E5-D117-28AC-EDA7BDB6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3AE8BD-AFDB-AA59-88A8-69EAC9702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E5668-6310-4640-08C7-BEB01D09C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32BC0-EE3C-BDFD-CC0D-3AE60CC56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683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89C4-B873-AE8D-C8D2-0435C70A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1FC82F-D10C-B95D-297D-2C1BB0713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9B0BB5-8B3D-B8FF-6D56-145A852A5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E7050-3126-B911-0EB4-E909AD8EB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875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2EBF-2F2E-9ADE-F374-F328A773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E03A7-36E6-D528-FD3D-0CFE507D0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A0D82A-B4B6-B621-BF9B-7FE3B8735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6944DD-974C-42EE-FFD9-E3E3F74C3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54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CABC-689D-D06B-307B-DFCCBA91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5B6F61-034E-0878-7E83-EFEF8B897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C359ED-09DE-AB2D-7516-BA2E4C5BB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DDE90-396B-6311-B9D9-A3A97F675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800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0722-55F6-C2AF-E865-E5C92F89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26A8E-389D-6F6C-C831-8116FFCBC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494801-0FD3-B71A-5597-C998A699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D524FA-95E9-AFDB-BE85-06A49BE43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44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F402-EC25-6A2F-D23B-DAADE4FC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298986-E980-39F9-A7ED-84037F7BD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B1DA4A-A4DA-5BA9-244D-A3E0EA966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BB72D5-E628-CF66-F025-6742F4726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590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CA6CA-7ACF-741E-16DB-EF49B053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C50CCA-76E6-1D2C-BAA8-42CB0C7B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CBD7FF-73E5-0BA0-F95D-67CD0A8A4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B5432-0A54-28AA-98E1-F7BD1D5CC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50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25AF-2A3C-24A1-579C-4197F400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C1581C-C928-E4B4-F2F8-C1EDB10ED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1B971E-1F8F-C65A-2341-D8C7C54C1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341F5-5FFE-C637-96B6-441812F99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672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A258-8CB2-3C39-1F35-540E9839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58B055-ACD0-ACB5-3CAD-8E3911B38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6BBEC3-D3AC-90C5-8785-C521E4583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1391C-1FD2-6E26-5015-B8CF6536D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074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3202-2630-7562-1D00-5BFC9356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3E46A1-29DF-8242-F0F6-E7846B169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C74E18-3E76-4090-507D-0AA36566B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8BBA50-78E2-B6CF-63D1-996FD896B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129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09F6-BFA7-2D27-C085-E84A5AE2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5BAA0-E652-0EB2-270E-C58A323D8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3DFC98-A666-1C36-9252-69E13D76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04307-546A-0C72-C4AB-568801A92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691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D1A6-9D32-8B66-7AA3-2AB8048A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31455-E8D5-837A-A495-CE7788F60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AC8AAB-735D-A7C3-4B45-D3C400CB3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BF757-A679-7666-3B12-7061313AD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770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821D-0372-D014-027D-26AB9590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91D8A-CC32-8B47-5906-11CA584C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4790F-D31C-1469-628C-3F6107B7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EC62C-B007-40EC-8969-A358AF4CB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319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6A17-A6E6-9193-D310-65BB7AE0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FB5CF7-A9E0-EB30-6E2A-CE235C21C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57F2EF-06C5-7CA0-372D-9E3F50995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AD9018-6712-36E2-956C-13CFA19DF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562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4663-FE29-7270-86CB-2F1A4166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2AAF11-6AA8-9F00-A054-4AE51C467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BBD6AB-7BF2-5755-A971-0A1A3EA41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4A0A8-DBEE-5E7D-0FCB-12318C5BC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876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74CF-7B37-56FD-B0C3-F982CAD3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FAA459-738D-1A82-D696-C4E99D6B5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144EC-2AA5-D324-5086-7FE9C03DD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0E760-24D7-4583-8D85-BC21305A8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07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9B0B-DE69-CD5F-8D39-4DBBA06A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8BEC62-950B-126B-3174-429E19E01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7FF921-A10A-9E8C-49A1-E298AD05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226C0-E073-355C-1A8B-1BD8F19B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498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D4DB-B653-D829-4051-859FC68F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C84706-874B-88E7-A92F-4F1602435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79190E-7B71-C04D-63B1-4BAF4D3FA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928B7-2071-B81F-864B-209344E55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09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2367-DE7F-ED5A-E31D-67D2AF97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5963F6-9AA3-6D43-E416-698595044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F6D393-9000-B96B-791C-C61BA284E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EF42BA-EBB9-4C1D-41AC-43B9982AA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2630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BC58-91B1-1CB6-BB19-A05FBCFD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4C2152-A418-7E5F-EF25-3A2CD96FE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394066-2B32-5240-FD66-018C9B332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893B2-79BB-6ED7-992F-2BB58A4B5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5392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D078-8F67-DC26-23DC-AB3EC88B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F3FDC8-60E5-D7E8-F5F3-DE6DE7AA2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EA26B-4C05-835C-F269-B77650965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8779F8-4E10-4128-B3C5-8F02F43D0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5354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93C9-D90E-E66A-93E5-DB8307D1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00947D-5C1D-2690-E941-23BD452FE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36E6BF-9FE6-0AA2-D05C-556A19AEF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EFCF9-419F-47D9-FE17-B3149CD6F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596C-6236-58CC-6758-98AA6D2E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D35F92-BCFD-4E47-DD73-73DE6D45D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8884DD-1F86-3C3B-F1D8-A289A5C20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12150-6319-2080-CB41-0EB327EE1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5083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7E58-DE7C-2A53-99E3-89BEBFE3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1F3CA8-BBE0-249D-FE7E-8412D1F7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8D5E29-0B1A-1A9A-BB9D-F90449E84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81751-E686-5BF1-F3E3-47EABA20E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756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F5C3-C0C1-9225-B173-E49E0617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7691D-2E90-50CA-C7FB-22212B059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525D3A-4930-7B05-FC27-72074E7B4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54268-9A6A-8C77-9A3B-1D282ED54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5949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F5C3-C0C1-9225-B173-E49E0617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7691D-2E90-50CA-C7FB-22212B059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525D3A-4930-7B05-FC27-72074E7B4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54268-9A6A-8C77-9A3B-1D282ED54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5949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E1542-B959-82E2-10E0-5505DA28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F2A7BC-84DF-FE48-1F04-3F574137C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F5BE07-D535-5354-733B-2372FE6F7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CB57CA-F548-3498-1FE5-A3C90731E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117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63E7-CFDA-FCF2-D378-825DE5AC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F8D912-A749-C36A-D946-12F226C33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317CB2-2771-8E5D-03B9-E0731689E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36B9F-4F54-62A4-4792-8E29794C4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1897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16F1-F4E4-0FC5-602B-2C2BB8CE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D6896-A029-6CF7-F837-083E0381A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164B47-4482-EE48-9B2E-0D729C90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9DA9B-EDDB-596E-1FF8-62F20D6D0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3805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D6C2-3CA6-52CC-848A-EF68055D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A40EF7-DEF7-3087-38EF-082DCDCFA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B00086-A623-C4E4-A0AF-4ACFD4E38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CE3C0-C35D-F67B-18D0-B663FF2C7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9720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023B-06D8-82FC-94C0-76EC3C12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8A1F89-6113-103B-9EBA-C8DD2535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D115F-8BE6-C21E-F57A-61349D0D2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DAFBF-8F09-A9AC-4A1E-A8F9FE788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7893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74D3-9A4A-4516-4B92-5C8DB5BA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BB58C-EBAA-5DD5-780F-8666C030F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4ECCA3-3D64-ED40-845F-5EAD7A6C8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3288AC-227C-C835-F2FF-8C1DA4A5B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84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B98B-DA05-1907-276C-4AFC7554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C02B5A-291A-5B20-C212-F2DB69319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614146-1681-321B-F756-C90E6EDB3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1E39B-EB6B-E758-9129-7E1C7ED0D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9381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3AAD-2EE6-334A-B8B8-3A8A042D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33DF9-CCCB-6526-59DE-FCCD719D2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05C231-8A17-59CF-4EF3-F4F351A56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52CA6-8CC9-193A-45F9-4D5BDC955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61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00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397433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81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07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69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40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95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31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92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36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116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974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676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87029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945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263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267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424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022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830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26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80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900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58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418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636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3068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0605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7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98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2981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3333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021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4685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243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248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802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57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488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7688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7537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55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BFE-807B-4502-AE72-9759AB389969}" type="datetime1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62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34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42FA3-EBB6-45DC-926F-F22FFC4B8A2F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35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8A952-1114-45AB-9A2E-FDA826F0E2D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3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BFE-807B-4502-AE72-9759AB389969}" type="datetime1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77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BFE-807B-4502-AE72-9759AB389969}" type="datetime1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55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 idx="4294967295"/>
          </p:nvPr>
        </p:nvSpPr>
        <p:spPr>
          <a:xfrm>
            <a:off x="793488" y="2306712"/>
            <a:ext cx="7557025" cy="575492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000"/>
              <a:t>디저트 도메인 특화 AI 트렌드 분석·수요예측 엔진 및</a:t>
            </a:r>
            <a:br>
              <a:rPr lang="ko-KR" altLang="en-US" sz="2000"/>
            </a:br>
            <a:r>
              <a:rPr lang="ko-KR" altLang="en-US" sz="2000"/>
              <a:t>B2B/B2B2C 단체주문 자동 매칭·랭킹 시스템 개발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4294967295"/>
          </p:nvPr>
        </p:nvSpPr>
        <p:spPr>
          <a:xfrm>
            <a:off x="3956447" y="5299660"/>
            <a:ext cx="1231106" cy="332399"/>
          </a:xfrm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ko-KR" altLang="en-US" sz="2400"/>
              <a:t>운영사 교보생명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9218" y="1787802"/>
            <a:ext cx="8719456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253" y="1134280"/>
            <a:ext cx="8503494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팁스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(TIPS) </a:t>
            </a:r>
            <a:r>
              <a:rPr kumimoji="0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창업기업 연구개발계획서 본문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1 – </a:t>
            </a: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팁스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R&amp;D</a:t>
            </a:r>
            <a:r>
              <a:rPr kumimoji="0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일반트랙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29" y="3074601"/>
            <a:ext cx="2250942" cy="1591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텍스트 개체 틀 5"/>
          <p:cNvSpPr txBox="1">
            <a:spLocks/>
          </p:cNvSpPr>
          <p:nvPr/>
        </p:nvSpPr>
        <p:spPr>
          <a:xfrm>
            <a:off x="2824727" y="5872198"/>
            <a:ext cx="3494546" cy="3323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창업기업명 딸기로컴퍼니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94645" y="218509"/>
            <a:ext cx="81558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별지 제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1-③-1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호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200" b="1" i="0" u="none" strike="noStrike" kern="0" cap="none" spc="-60" normalizeH="0" baseline="0" noProof="0" err="1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팁스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(TIPS) 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창업기업 연구개발계획서 본문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 &amp; 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부록 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0" cap="none" spc="-60" normalizeH="0" baseline="0" noProof="0" err="1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팁스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R&amp;D(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일반트랙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1" i="0" u="none" strike="noStrike" kern="0" cap="none" spc="0" normalizeH="0" baseline="0" noProof="0">
              <a:ln>
                <a:solidFill>
                  <a:srgbClr val="5B9BD5">
                    <a:shade val="1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0B5720A-5654-4526-27B1-4ABA5D0BD366}"/>
              </a:ext>
            </a:extLst>
          </p:cNvPr>
          <p:cNvGrpSpPr/>
          <p:nvPr/>
        </p:nvGrpSpPr>
        <p:grpSpPr>
          <a:xfrm>
            <a:off x="0" y="-362960"/>
            <a:ext cx="962357" cy="274201"/>
            <a:chOff x="4572000" y="999241"/>
            <a:chExt cx="962357" cy="274201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57B9038-46E0-EB3C-D71E-6D944EC308DF}"/>
                </a:ext>
              </a:extLst>
            </p:cNvPr>
            <p:cNvSpPr/>
            <p:nvPr/>
          </p:nvSpPr>
          <p:spPr>
            <a:xfrm>
              <a:off x="4572000" y="999241"/>
              <a:ext cx="274201" cy="274201"/>
            </a:xfrm>
            <a:prstGeom prst="ellipse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E8E715A-6148-E606-D9F2-2BB522A28C29}"/>
                </a:ext>
              </a:extLst>
            </p:cNvPr>
            <p:cNvSpPr/>
            <p:nvPr/>
          </p:nvSpPr>
          <p:spPr>
            <a:xfrm>
              <a:off x="4916078" y="999241"/>
              <a:ext cx="274201" cy="274201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E49FCEF-56AE-D7DE-4217-B0B41A38A9D7}"/>
                </a:ext>
              </a:extLst>
            </p:cNvPr>
            <p:cNvSpPr/>
            <p:nvPr/>
          </p:nvSpPr>
          <p:spPr>
            <a:xfrm>
              <a:off x="5260156" y="999241"/>
              <a:ext cx="274201" cy="274201"/>
            </a:xfrm>
            <a:prstGeom prst="ellipse">
              <a:avLst/>
            </a:prstGeom>
            <a:solidFill>
              <a:srgbClr val="74AA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4" name="Picture 2" descr="딸기로픽">
            <a:extLst>
              <a:ext uri="{FF2B5EF4-FFF2-40B4-BE49-F238E27FC236}">
                <a16:creationId xmlns:a16="http://schemas.microsoft.com/office/drawing/2014/main" id="{9EF303DE-604E-1FE4-F88E-1AD85230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338" y="-774022"/>
            <a:ext cx="1370525" cy="68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95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247981" y="112549"/>
            <a:ext cx="3679205" cy="464602"/>
          </a:xfrm>
        </p:spPr>
        <p:txBody>
          <a:bodyPr>
            <a:noAutofit/>
          </a:bodyPr>
          <a:lstStyle/>
          <a:p>
            <a:r>
              <a:rPr lang="ko-KR" altLang="en-US" sz="2000" b="1"/>
              <a:t>목 차</a:t>
            </a:r>
            <a:endParaRPr lang="ko-KR" altLang="en-US" sz="2000" b="1">
              <a:latin typeface="+mn-lt"/>
              <a:ea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6640" y="1048465"/>
            <a:ext cx="3786510" cy="375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시장현황 및 문제점 : B2C 실증과 B2B 확장의 운영 병목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(Market status &amp; Problem)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II.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해결방안 및 세부내용  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(Solution &amp; Technology)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1.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연구개발 요약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(Solution)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연구개발 내용 및 목표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  (Technology &amp; Goal)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연구개발 현황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(Preparation Status)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4.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표준화 전략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5.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업무분장 및 추진일정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414650" y="1038305"/>
            <a:ext cx="4444683" cy="4676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III.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전략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(Scale-up)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1.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목표시장 및 경쟁사 현황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글로벌 진출전략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4. </a:t>
            </a:r>
            <a:r>
              <a:rPr kumimoji="0" lang="ko-KR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운영사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지원계획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5.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고용창출 및 기대효과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6.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목표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7.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목표 산정 근거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IV.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창업기업 소개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연구개발 안전 및 보안조치 이행계획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1.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안전조치 이행계획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보안조치 이행계획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그 밖의 조치사항 이행계획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82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58C9-2C29-F642-858B-8E7D5D68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00FFF5EC-3869-2BA8-E04D-943C763030F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607909E-4327-6F48-4C27-956D4750A15A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5768C7D-2CE0-15DB-B5EE-C2BF196219D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DA99EEC7-FD62-48CD-83CE-C02B00BA4A91}"/>
                </a:ext>
              </a:extLst>
            </p:cNvPr>
            <p:cNvGrpSpPr/>
            <p:nvPr/>
          </p:nvGrpSpPr>
          <p:grpSpPr>
            <a:xfrm>
              <a:off x="404618" y="922962"/>
              <a:ext cx="7809919" cy="523558"/>
              <a:chOff x="404618" y="928733"/>
              <a:chExt cx="780991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27C4A3-F2BA-131A-71A6-86462723CF1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58403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수요는 폭발하는데 양극화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수요몰림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구매불편 심화, 공급자는 트렌드·수요·생산을 데이터 없이 판단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소비자와 로컬 베이커리를 기술로 연결할 기회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C6E8AA-2F67-48C4-2BA0-13C4B9AD103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451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커지는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 디저트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베이커리 시장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소비자는 기다리고 공급자는 정보에서 소외됩니다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AFB6F1AC-44FA-587B-8B51-C4959D9ABE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EDF7E7-2850-9B44-0F56-4A53B7E0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A2A36DF-9E3E-114D-CE62-0076811417AF}"/>
              </a:ext>
            </a:extLst>
          </p:cNvPr>
          <p:cNvSpPr/>
          <p:nvPr/>
        </p:nvSpPr>
        <p:spPr>
          <a:xfrm>
            <a:off x="445541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5764826-F5E2-73B4-9D80-F3A89F7DC5B6}"/>
              </a:ext>
            </a:extLst>
          </p:cNvPr>
          <p:cNvSpPr/>
          <p:nvPr/>
        </p:nvSpPr>
        <p:spPr>
          <a:xfrm>
            <a:off x="2547610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D73D644-FE08-C635-C913-F9307F2569A6}"/>
              </a:ext>
            </a:extLst>
          </p:cNvPr>
          <p:cNvSpPr/>
          <p:nvPr/>
        </p:nvSpPr>
        <p:spPr>
          <a:xfrm>
            <a:off x="4649679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B7482C3-DD91-7545-A32F-C6CF6DDD36DC}"/>
              </a:ext>
            </a:extLst>
          </p:cNvPr>
          <p:cNvSpPr/>
          <p:nvPr/>
        </p:nvSpPr>
        <p:spPr>
          <a:xfrm>
            <a:off x="6751748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775BAF-0ED5-B793-DC21-282DD070B084}"/>
              </a:ext>
            </a:extLst>
          </p:cNvPr>
          <p:cNvSpPr txBox="1"/>
          <p:nvPr/>
        </p:nvSpPr>
        <p:spPr>
          <a:xfrm>
            <a:off x="1649406" y="5615393"/>
            <a:ext cx="5845190" cy="487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오픈런과 정보 탐색에 지친 소비자와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정보력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유통 역량이 부족한 로컬 베이커리를</a:t>
            </a:r>
            <a:endParaRPr kumimoji="0" lang="en-US" altLang="ko-KR" sz="15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기술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(AI)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연결해 비효율적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빵지순례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 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문화를 혁신합니다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89BD876-AF09-2745-24F6-0CB3305142A3}"/>
              </a:ext>
            </a:extLst>
          </p:cNvPr>
          <p:cNvGrpSpPr/>
          <p:nvPr/>
        </p:nvGrpSpPr>
        <p:grpSpPr>
          <a:xfrm>
            <a:off x="737621" y="2062952"/>
            <a:ext cx="1362552" cy="666812"/>
            <a:chOff x="737621" y="2151506"/>
            <a:chExt cx="1362552" cy="66681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8323336-A3A2-6B95-A097-180E98B49B91}"/>
                </a:ext>
              </a:extLst>
            </p:cNvPr>
            <p:cNvSpPr txBox="1"/>
            <p:nvPr/>
          </p:nvSpPr>
          <p:spPr>
            <a:xfrm>
              <a:off x="1057901" y="2151506"/>
              <a:ext cx="721993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14</a:t>
              </a: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조원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67F91CF-08A6-B4A0-6AC2-25E7CF5CDADC}"/>
                </a:ext>
              </a:extLst>
            </p:cNvPr>
            <p:cNvSpPr txBox="1"/>
            <p:nvPr/>
          </p:nvSpPr>
          <p:spPr>
            <a:xfrm>
              <a:off x="737621" y="2500282"/>
              <a:ext cx="1362552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국내 디저트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베이커리 시장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최근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년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 성장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(9→14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조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564FE1C-C815-10F1-4AC2-6D467950BDC0}"/>
              </a:ext>
            </a:extLst>
          </p:cNvPr>
          <p:cNvGrpSpPr/>
          <p:nvPr/>
        </p:nvGrpSpPr>
        <p:grpSpPr>
          <a:xfrm>
            <a:off x="2935228" y="2062952"/>
            <a:ext cx="1171475" cy="666812"/>
            <a:chOff x="833159" y="2151506"/>
            <a:chExt cx="1171475" cy="66681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294CCF9-DC75-4C5F-D8D9-E47782DDA517}"/>
                </a:ext>
              </a:extLst>
            </p:cNvPr>
            <p:cNvSpPr txBox="1"/>
            <p:nvPr/>
          </p:nvSpPr>
          <p:spPr>
            <a:xfrm>
              <a:off x="948737" y="2151506"/>
              <a:ext cx="94032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연 </a:t>
              </a: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10%+</a:t>
              </a:r>
              <a:endParaRPr kumimoji="0" lang="ko-KR" altLang="en-US" sz="20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229A989-E922-A016-2D9D-6146CF1994C8}"/>
                </a:ext>
              </a:extLst>
            </p:cNvPr>
            <p:cNvSpPr txBox="1"/>
            <p:nvPr/>
          </p:nvSpPr>
          <p:spPr>
            <a:xfrm>
              <a:off x="833159" y="2500282"/>
              <a:ext cx="1171475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고속 성장률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프리미엄군은</a:t>
              </a:r>
              <a:endParaRPr kumimoji="0" lang="en-US" altLang="ko-KR" sz="95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평균보다 빠름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23105AC-6E9F-11A0-A4C3-58A3628879AE}"/>
              </a:ext>
            </a:extLst>
          </p:cNvPr>
          <p:cNvGrpSpPr/>
          <p:nvPr/>
        </p:nvGrpSpPr>
        <p:grpSpPr>
          <a:xfrm>
            <a:off x="4941759" y="2062952"/>
            <a:ext cx="1362552" cy="666812"/>
            <a:chOff x="737621" y="2151506"/>
            <a:chExt cx="1362552" cy="66681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53717D9-B9A6-EC10-554F-A9AB0ABFFC48}"/>
                </a:ext>
              </a:extLst>
            </p:cNvPr>
            <p:cNvSpPr txBox="1"/>
            <p:nvPr/>
          </p:nvSpPr>
          <p:spPr>
            <a:xfrm>
              <a:off x="1113205" y="2151506"/>
              <a:ext cx="611386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2.4</a:t>
              </a: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배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6686E96-7A9D-EA77-3088-152579A04B01}"/>
                </a:ext>
              </a:extLst>
            </p:cNvPr>
            <p:cNvSpPr txBox="1"/>
            <p:nvPr/>
          </p:nvSpPr>
          <p:spPr>
            <a:xfrm>
              <a:off x="737621" y="2500282"/>
              <a:ext cx="1362552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SNS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언급량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('20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대비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'23,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빵지순례 열풍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E61F4F3-2FA2-868E-433A-A9A2E07A3BB3}"/>
              </a:ext>
            </a:extLst>
          </p:cNvPr>
          <p:cNvGrpSpPr/>
          <p:nvPr/>
        </p:nvGrpSpPr>
        <p:grpSpPr>
          <a:xfrm>
            <a:off x="7043828" y="2062952"/>
            <a:ext cx="1362552" cy="666812"/>
            <a:chOff x="737621" y="2151506"/>
            <a:chExt cx="1362552" cy="66681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1C64641-B8E4-EB92-1E09-EDFA82B1C819}"/>
                </a:ext>
              </a:extLst>
            </p:cNvPr>
            <p:cNvSpPr txBox="1"/>
            <p:nvPr/>
          </p:nvSpPr>
          <p:spPr>
            <a:xfrm>
              <a:off x="1023759" y="2151506"/>
              <a:ext cx="790281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1.8</a:t>
              </a: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만개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E8083CD-0484-5EE0-2585-5CF0D5E9F10A}"/>
                </a:ext>
              </a:extLst>
            </p:cNvPr>
            <p:cNvSpPr txBox="1"/>
            <p:nvPr/>
          </p:nvSpPr>
          <p:spPr>
            <a:xfrm>
              <a:off x="737621" y="2500282"/>
              <a:ext cx="1362552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프리미엄 베이커리 파편화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전국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 매장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800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브랜드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DC8E806-4B86-8CAB-58C9-4857D30308DC}"/>
              </a:ext>
            </a:extLst>
          </p:cNvPr>
          <p:cNvGrpSpPr/>
          <p:nvPr/>
        </p:nvGrpSpPr>
        <p:grpSpPr>
          <a:xfrm>
            <a:off x="447948" y="3097845"/>
            <a:ext cx="4050467" cy="2371220"/>
            <a:chOff x="447948" y="3097845"/>
            <a:chExt cx="4050467" cy="2371220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087E54D9-0D7D-3E17-8B9A-4162D3BBFECF}"/>
                </a:ext>
              </a:extLst>
            </p:cNvPr>
            <p:cNvSpPr/>
            <p:nvPr/>
          </p:nvSpPr>
          <p:spPr>
            <a:xfrm>
              <a:off x="447949" y="3097845"/>
              <a:ext cx="4050466" cy="2371220"/>
            </a:xfrm>
            <a:prstGeom prst="roundRect">
              <a:avLst>
                <a:gd name="adj" fmla="val 449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812E6D6F-6CAC-15F6-8D66-1B2E8D7EC805}"/>
                </a:ext>
              </a:extLst>
            </p:cNvPr>
            <p:cNvSpPr/>
            <p:nvPr/>
          </p:nvSpPr>
          <p:spPr>
            <a:xfrm>
              <a:off x="447948" y="3097845"/>
              <a:ext cx="4046373" cy="349361"/>
            </a:xfrm>
            <a:prstGeom prst="round2SameRect">
              <a:avLst>
                <a:gd name="adj1" fmla="val 27871"/>
                <a:gd name="adj2" fmla="val 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035E0EF-A37C-F757-B319-FDAE4FCBD0FE}"/>
                </a:ext>
              </a:extLst>
            </p:cNvPr>
            <p:cNvSpPr txBox="1"/>
            <p:nvPr/>
          </p:nvSpPr>
          <p:spPr>
            <a:xfrm>
              <a:off x="605852" y="3172498"/>
              <a:ext cx="738344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소비자 문제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815FB133-9FB3-6C9F-097B-2EF9CCD69CF7}"/>
                </a:ext>
              </a:extLst>
            </p:cNvPr>
            <p:cNvGrpSpPr/>
            <p:nvPr/>
          </p:nvGrpSpPr>
          <p:grpSpPr>
            <a:xfrm>
              <a:off x="613201" y="3622800"/>
              <a:ext cx="3719963" cy="1661255"/>
              <a:chOff x="613201" y="3606401"/>
              <a:chExt cx="3719963" cy="1677868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1AD6E38-40A6-16EA-CE2C-BC46613AC05F}"/>
                  </a:ext>
                </a:extLst>
              </p:cNvPr>
              <p:cNvSpPr txBox="1"/>
              <p:nvPr/>
            </p:nvSpPr>
            <p:spPr>
              <a:xfrm>
                <a:off x="661118" y="3606401"/>
                <a:ext cx="3242234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긴 웨이팅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&amp;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오픈런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디케팅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현상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하루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곳 빵지순례에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시간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빵값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40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만원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17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 디저트 페스티벌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685C4E8-094F-4575-30E2-6C1526F400F5}"/>
                  </a:ext>
                </a:extLst>
              </p:cNvPr>
              <p:cNvSpPr txBox="1"/>
              <p:nvPr/>
            </p:nvSpPr>
            <p:spPr>
              <a:xfrm>
                <a:off x="661118" y="4270928"/>
                <a:ext cx="2852384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정보 탐색의 어려움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SNS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정보 분산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 검색으론</a:t>
                </a:r>
                <a:endPara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복합 의도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저당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당일배송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해석 불가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F69FCA-DFC9-F817-5482-35BE1A91CE71}"/>
                  </a:ext>
                </a:extLst>
              </p:cNvPr>
              <p:cNvSpPr txBox="1"/>
              <p:nvPr/>
            </p:nvSpPr>
            <p:spPr>
              <a:xfrm>
                <a:off x="661118" y="4935456"/>
                <a:ext cx="2467342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구매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배송 불편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예약 절차 복잡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직접 수령 필수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변질 우려로 비대면 트렌드와 충돌</a:t>
                </a:r>
              </a:p>
            </p:txBody>
          </p: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CAA32728-D623-A777-08D8-A2DC35C50A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113071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35ADC4FB-BAC2-20AD-6170-FAF90BAFE2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777598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2EDFD29-FF07-0E35-8967-FD8CBCFB1406}"/>
              </a:ext>
            </a:extLst>
          </p:cNvPr>
          <p:cNvGrpSpPr/>
          <p:nvPr/>
        </p:nvGrpSpPr>
        <p:grpSpPr>
          <a:xfrm>
            <a:off x="4647993" y="3097845"/>
            <a:ext cx="4050467" cy="2371220"/>
            <a:chOff x="447948" y="3097845"/>
            <a:chExt cx="4050467" cy="2371220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C2819D25-1706-9A4B-91F6-B992E1A05AB7}"/>
                </a:ext>
              </a:extLst>
            </p:cNvPr>
            <p:cNvSpPr/>
            <p:nvPr/>
          </p:nvSpPr>
          <p:spPr>
            <a:xfrm>
              <a:off x="447949" y="3097845"/>
              <a:ext cx="4050466" cy="2371220"/>
            </a:xfrm>
            <a:prstGeom prst="roundRect">
              <a:avLst>
                <a:gd name="adj" fmla="val 449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사각형: 둥근 위쪽 모서리 87">
              <a:extLst>
                <a:ext uri="{FF2B5EF4-FFF2-40B4-BE49-F238E27FC236}">
                  <a16:creationId xmlns:a16="http://schemas.microsoft.com/office/drawing/2014/main" id="{738A3058-E8F2-0B43-C4E6-640AADE4518C}"/>
                </a:ext>
              </a:extLst>
            </p:cNvPr>
            <p:cNvSpPr/>
            <p:nvPr/>
          </p:nvSpPr>
          <p:spPr>
            <a:xfrm>
              <a:off x="447948" y="3097845"/>
              <a:ext cx="4046373" cy="349361"/>
            </a:xfrm>
            <a:prstGeom prst="round2SameRect">
              <a:avLst>
                <a:gd name="adj1" fmla="val 27871"/>
                <a:gd name="adj2" fmla="val 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13D0155-62C5-7D13-BC04-D3D3EB68C396}"/>
                </a:ext>
              </a:extLst>
            </p:cNvPr>
            <p:cNvSpPr txBox="1"/>
            <p:nvPr/>
          </p:nvSpPr>
          <p:spPr>
            <a:xfrm>
              <a:off x="605852" y="3172498"/>
              <a:ext cx="2051524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공급자 문제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소상공인 베이커리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)</a:t>
              </a: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53459C2-F05A-F0BD-95EB-3B39F2853D3E}"/>
                </a:ext>
              </a:extLst>
            </p:cNvPr>
            <p:cNvGrpSpPr/>
            <p:nvPr/>
          </p:nvGrpSpPr>
          <p:grpSpPr>
            <a:xfrm>
              <a:off x="613201" y="3621074"/>
              <a:ext cx="3719963" cy="1664709"/>
              <a:chOff x="613201" y="3604657"/>
              <a:chExt cx="3719963" cy="1681356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3AF6E2F-AF96-65B7-3FF6-9D65003020C5}"/>
                  </a:ext>
                </a:extLst>
              </p:cNvPr>
              <p:cNvSpPr txBox="1"/>
              <p:nvPr/>
            </p:nvSpPr>
            <p:spPr>
              <a:xfrm>
                <a:off x="661118" y="3604657"/>
                <a:ext cx="2587247" cy="3523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트렌드 정보력 부재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무엇이 뜨는지·얼마나 만들지 데이터 없이 감으로 판단</a:t>
                </a:r>
                <a:endPara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유행 정점 지난 뒤 진입 → 재고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설비 손실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2F78D6D-EBFD-2888-8B85-6C73F8F21BC5}"/>
                  </a:ext>
                </a:extLst>
              </p:cNvPr>
              <p:cNvSpPr txBox="1"/>
              <p:nvPr/>
            </p:nvSpPr>
            <p:spPr>
              <a:xfrm>
                <a:off x="661118" y="4269184"/>
                <a:ext cx="2993768" cy="3523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마케팅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브랜딩 역량 부족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- 1.8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프리미엄 베이커리 파편화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전문 인력 부재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 노출 구조에 밀림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E1C86E3-57AA-80DF-4B33-F8D8DB1D4130}"/>
                  </a:ext>
                </a:extLst>
              </p:cNvPr>
              <p:cNvSpPr txBox="1"/>
              <p:nvPr/>
            </p:nvSpPr>
            <p:spPr>
              <a:xfrm>
                <a:off x="661118" y="4933712"/>
                <a:ext cx="2757165" cy="3523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대규모 주문 대응 불가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 근거 없어 생산량 판단 불가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B2B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기회 상실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프랜차이즈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파리바게뜨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뚜레쥬르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78%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독점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대비 열세</a:t>
                </a:r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234EC4B-89FA-307C-891B-A139C23FA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113071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9D64A750-42F7-1FF5-63DE-DE5BAB5F8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777598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5056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0872-E88D-2DF5-28D0-D155220A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847E0D3D-73FC-E3BC-B788-1BE7E1F97FE7}"/>
              </a:ext>
            </a:extLst>
          </p:cNvPr>
          <p:cNvSpPr/>
          <p:nvPr/>
        </p:nvSpPr>
        <p:spPr>
          <a:xfrm>
            <a:off x="552027" y="4838700"/>
            <a:ext cx="8039946" cy="1536701"/>
          </a:xfrm>
          <a:prstGeom prst="round2SameRect">
            <a:avLst>
              <a:gd name="adj1" fmla="val 14038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FD5F271-1055-54F4-7557-FA5C6BE7FF84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28C401B-E389-0D88-3AF0-B89F803ACA7C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2A9769C-8CA8-BD7C-F409-9264F0B6645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F522AF7-FA46-E311-A58C-47D8D32DD91F}"/>
                </a:ext>
              </a:extLst>
            </p:cNvPr>
            <p:cNvGrpSpPr/>
            <p:nvPr/>
          </p:nvGrpSpPr>
          <p:grpSpPr>
            <a:xfrm>
              <a:off x="404618" y="922962"/>
              <a:ext cx="7927579" cy="523558"/>
              <a:chOff x="404618" y="928733"/>
              <a:chExt cx="792757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32704DB-BED5-8ACB-FA4D-AEC1A37C8D6C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19363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수명이 짧고 변동이 극심한 디저트 시장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 → 두바이초콜릿 → 크룽지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수개월 단위 부침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에서 정보는 곧 생존입니다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3A26759-88D5-85EB-E45A-08360DFA90FB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5687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문제의 본질은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정보력 격차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트렌드를 아는 자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모르는 자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소상공인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비대칭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2E49A6AA-A0DE-F5FA-A113-1C7FDD0FE6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C82091-5663-95C9-C1DA-7EC9DB7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0D799-7BBA-674F-7807-7865E07B8227}"/>
              </a:ext>
            </a:extLst>
          </p:cNvPr>
          <p:cNvSpPr txBox="1"/>
          <p:nvPr/>
        </p:nvSpPr>
        <p:spPr>
          <a:xfrm>
            <a:off x="830133" y="5009035"/>
            <a:ext cx="5625579" cy="2308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Win-Win 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- 3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자의 이해가 같은 방향으로 정렬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공익이 아니라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성장 엔진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E9D8E2A7-92EC-F3E5-554F-4147F2F94602}"/>
              </a:ext>
            </a:extLst>
          </p:cNvPr>
          <p:cNvSpPr/>
          <p:nvPr/>
        </p:nvSpPr>
        <p:spPr>
          <a:xfrm>
            <a:off x="831532" y="5362576"/>
            <a:ext cx="2383813" cy="993776"/>
          </a:xfrm>
          <a:prstGeom prst="round2SameRect">
            <a:avLst/>
          </a:prstGeom>
          <a:gradFill>
            <a:gsLst>
              <a:gs pos="0">
                <a:schemeClr val="bg1">
                  <a:alpha val="1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9498BF9C-F4A7-A0D6-4BFC-33DB226D9432}"/>
              </a:ext>
            </a:extLst>
          </p:cNvPr>
          <p:cNvSpPr/>
          <p:nvPr/>
        </p:nvSpPr>
        <p:spPr>
          <a:xfrm>
            <a:off x="3380094" y="5362576"/>
            <a:ext cx="2383813" cy="993776"/>
          </a:xfrm>
          <a:prstGeom prst="round2SameRect">
            <a:avLst/>
          </a:prstGeom>
          <a:gradFill>
            <a:gsLst>
              <a:gs pos="0">
                <a:schemeClr val="bg1">
                  <a:alpha val="1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4092F2F1-D5C4-B5F6-5F2A-41A0C94D928A}"/>
              </a:ext>
            </a:extLst>
          </p:cNvPr>
          <p:cNvSpPr/>
          <p:nvPr/>
        </p:nvSpPr>
        <p:spPr>
          <a:xfrm>
            <a:off x="5928655" y="5362576"/>
            <a:ext cx="2383813" cy="993776"/>
          </a:xfrm>
          <a:prstGeom prst="round2SameRect">
            <a:avLst/>
          </a:prstGeom>
          <a:gradFill>
            <a:gsLst>
              <a:gs pos="0">
                <a:schemeClr val="bg1">
                  <a:alpha val="1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AA2E4C6-C76E-0157-0679-D30B18674FE0}"/>
              </a:ext>
            </a:extLst>
          </p:cNvPr>
          <p:cNvGrpSpPr/>
          <p:nvPr/>
        </p:nvGrpSpPr>
        <p:grpSpPr>
          <a:xfrm>
            <a:off x="1449724" y="5547495"/>
            <a:ext cx="1147429" cy="576314"/>
            <a:chOff x="1449723" y="5597525"/>
            <a:chExt cx="1147429" cy="57631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4CC333-ADCF-30D1-D6FA-CD301E4BCE1F}"/>
                </a:ext>
              </a:extLst>
            </p:cNvPr>
            <p:cNvSpPr txBox="1"/>
            <p:nvPr/>
          </p:nvSpPr>
          <p:spPr>
            <a:xfrm>
              <a:off x="1619320" y="5597525"/>
              <a:ext cx="80823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입점 소상공인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E886F2-744A-5467-E55B-135FF5D24F3A}"/>
                </a:ext>
              </a:extLst>
            </p:cNvPr>
            <p:cNvSpPr txBox="1"/>
            <p:nvPr/>
          </p:nvSpPr>
          <p:spPr>
            <a:xfrm>
              <a:off x="1449723" y="5840414"/>
              <a:ext cx="1147429" cy="3334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수준 정보력 확보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강소업체로 성장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8A790B4-A730-514D-93FB-1FF3A7CB489F}"/>
              </a:ext>
            </a:extLst>
          </p:cNvPr>
          <p:cNvGrpSpPr/>
          <p:nvPr/>
        </p:nvGrpSpPr>
        <p:grpSpPr>
          <a:xfrm>
            <a:off x="3980973" y="5547495"/>
            <a:ext cx="1182055" cy="576314"/>
            <a:chOff x="1432410" y="5597525"/>
            <a:chExt cx="1182055" cy="57631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BC5D88-E75E-A255-5D90-02BB9CDB85E6}"/>
                </a:ext>
              </a:extLst>
            </p:cNvPr>
            <p:cNvSpPr txBox="1"/>
            <p:nvPr/>
          </p:nvSpPr>
          <p:spPr>
            <a:xfrm>
              <a:off x="1635833" y="5597525"/>
              <a:ext cx="77521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딸기로컴퍼니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73A672-9A6A-85A0-22F9-418B1B5F7105}"/>
                </a:ext>
              </a:extLst>
            </p:cNvPr>
            <p:cNvSpPr txBox="1"/>
            <p:nvPr/>
          </p:nvSpPr>
          <p:spPr>
            <a:xfrm>
              <a:off x="1432410" y="5840414"/>
              <a:ext cx="1182055" cy="3334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성장 → 거래액↑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매출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해자 환류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E189FAF-589B-7532-126C-CCD31213CC91}"/>
              </a:ext>
            </a:extLst>
          </p:cNvPr>
          <p:cNvGrpSpPr/>
          <p:nvPr/>
        </p:nvGrpSpPr>
        <p:grpSpPr>
          <a:xfrm>
            <a:off x="6489459" y="5547495"/>
            <a:ext cx="1262205" cy="576314"/>
            <a:chOff x="1392335" y="5597525"/>
            <a:chExt cx="1262205" cy="57631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178A7FD-10B3-7FD8-C011-2B418A7CB045}"/>
                </a:ext>
              </a:extLst>
            </p:cNvPr>
            <p:cNvSpPr txBox="1"/>
            <p:nvPr/>
          </p:nvSpPr>
          <p:spPr>
            <a:xfrm>
              <a:off x="1740507" y="5597525"/>
              <a:ext cx="56586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정부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820BE0-7354-B55B-3A6A-7B9E8FB1DCFF}"/>
                </a:ext>
              </a:extLst>
            </p:cNvPr>
            <p:cNvSpPr txBox="1"/>
            <p:nvPr/>
          </p:nvSpPr>
          <p:spPr>
            <a:xfrm>
              <a:off x="1392335" y="5840414"/>
              <a:ext cx="1262205" cy="3334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청년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지역 창업 육성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일자리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지역경제 활성화</a:t>
              </a:r>
            </a:p>
          </p:txBody>
        </p:sp>
      </p:grpSp>
      <p:pic>
        <p:nvPicPr>
          <p:cNvPr id="23" name="Picture 2" descr="딸기로픽">
            <a:extLst>
              <a:ext uri="{FF2B5EF4-FFF2-40B4-BE49-F238E27FC236}">
                <a16:creationId xmlns:a16="http://schemas.microsoft.com/office/drawing/2014/main" id="{82DC839E-7BAE-E8B1-50A3-FC0D5E48F8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20492" r="60396" b="20307"/>
          <a:stretch>
            <a:fillRect/>
          </a:stretch>
        </p:blipFill>
        <p:spPr bwMode="auto">
          <a:xfrm>
            <a:off x="8138236" y="4958266"/>
            <a:ext cx="310365" cy="31036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F15CFB14-F3BA-0DF9-3077-58F17617B34F}"/>
              </a:ext>
            </a:extLst>
          </p:cNvPr>
          <p:cNvGrpSpPr/>
          <p:nvPr/>
        </p:nvGrpSpPr>
        <p:grpSpPr>
          <a:xfrm>
            <a:off x="7644285" y="1920963"/>
            <a:ext cx="1160008" cy="967785"/>
            <a:chOff x="7598161" y="1918045"/>
            <a:chExt cx="1160008" cy="967785"/>
          </a:xfrm>
        </p:grpSpPr>
        <p:pic>
          <p:nvPicPr>
            <p:cNvPr id="96" name="그림 95" descr="딸기로픽 뉴스레터">
              <a:extLst>
                <a:ext uri="{FF2B5EF4-FFF2-40B4-BE49-F238E27FC236}">
                  <a16:creationId xmlns:a16="http://schemas.microsoft.com/office/drawing/2014/main" id="{28E16301-089C-5308-CF1A-1032BAE8C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</a:blip>
            <a:stretch>
              <a:fillRect/>
            </a:stretch>
          </p:blipFill>
          <p:spPr>
            <a:xfrm rot="20428875">
              <a:off x="7598161" y="1918045"/>
              <a:ext cx="607903" cy="607903"/>
            </a:xfrm>
            <a:prstGeom prst="rect">
              <a:avLst/>
            </a:prstGeom>
          </p:spPr>
        </p:pic>
        <p:pic>
          <p:nvPicPr>
            <p:cNvPr id="83" name="그림 82" descr="딸기로픽 뉴스레터">
              <a:extLst>
                <a:ext uri="{FF2B5EF4-FFF2-40B4-BE49-F238E27FC236}">
                  <a16:creationId xmlns:a16="http://schemas.microsoft.com/office/drawing/2014/main" id="{CCB82828-AEB3-5D74-2040-CDECB2574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35398">
              <a:off x="7934281" y="2061942"/>
              <a:ext cx="823888" cy="823888"/>
            </a:xfrm>
            <a:prstGeom prst="rect">
              <a:avLst/>
            </a:prstGeom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10C8CE59-74B6-6CC2-492B-A5BC2BD500E7}"/>
              </a:ext>
            </a:extLst>
          </p:cNvPr>
          <p:cNvGrpSpPr/>
          <p:nvPr/>
        </p:nvGrpSpPr>
        <p:grpSpPr>
          <a:xfrm>
            <a:off x="6142174" y="2502881"/>
            <a:ext cx="2553904" cy="2030609"/>
            <a:chOff x="6142174" y="2502881"/>
            <a:chExt cx="2553904" cy="203060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F6F5859-469C-9B37-C464-269E2973280B}"/>
                </a:ext>
              </a:extLst>
            </p:cNvPr>
            <p:cNvGrpSpPr/>
            <p:nvPr/>
          </p:nvGrpSpPr>
          <p:grpSpPr>
            <a:xfrm>
              <a:off x="6142174" y="2831619"/>
              <a:ext cx="2553904" cy="1701871"/>
              <a:chOff x="6237424" y="2183919"/>
              <a:chExt cx="2553904" cy="170187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DC1D7E-E73E-F590-7478-CFCE8E27A173}"/>
                  </a:ext>
                </a:extLst>
              </p:cNvPr>
              <p:cNvSpPr txBox="1"/>
              <p:nvPr/>
            </p:nvSpPr>
            <p:spPr>
              <a:xfrm>
                <a:off x="6237424" y="2183919"/>
                <a:ext cx="1643399" cy="7643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딸기로의</a:t>
                </a:r>
                <a:endParaRPr kumimoji="0" lang="en-US" altLang="ko-KR" sz="2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기회이자 미션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23270F-F305-4937-5463-E5C8A6837185}"/>
                  </a:ext>
                </a:extLst>
              </p:cNvPr>
              <p:cNvSpPr txBox="1"/>
              <p:nvPr/>
            </p:nvSpPr>
            <p:spPr>
              <a:xfrm>
                <a:off x="6237424" y="3039404"/>
                <a:ext cx="2553904" cy="8463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흩어진 인터넷 신호를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정기 취합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분석해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 수준의 정보력을 입점 소상공인에게 그대로 쥐여준다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격차 해소가 곧 강소업체 성장 사다리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디저트 생태계 다양성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 균형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청년 일자리로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직결되는 본 과제의 출발점입니다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2568768-EF52-5BA2-E617-154B6B24CF78}"/>
                </a:ext>
              </a:extLst>
            </p:cNvPr>
            <p:cNvSpPr txBox="1"/>
            <p:nvPr/>
          </p:nvSpPr>
          <p:spPr>
            <a:xfrm>
              <a:off x="6142174" y="2502881"/>
              <a:ext cx="326051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GOAL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srgbClr val="74AADD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4ADF91C-A486-EDBA-70ED-BF84CB1C8C71}"/>
              </a:ext>
            </a:extLst>
          </p:cNvPr>
          <p:cNvGrpSpPr/>
          <p:nvPr/>
        </p:nvGrpSpPr>
        <p:grpSpPr>
          <a:xfrm>
            <a:off x="552027" y="1913310"/>
            <a:ext cx="2572496" cy="2755156"/>
            <a:chOff x="552027" y="1913310"/>
            <a:chExt cx="2572496" cy="2755156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9ED2D5A1-74EC-FEF6-B33E-6DDA1D061BA2}"/>
                </a:ext>
              </a:extLst>
            </p:cNvPr>
            <p:cNvGrpSpPr/>
            <p:nvPr/>
          </p:nvGrpSpPr>
          <p:grpSpPr>
            <a:xfrm>
              <a:off x="552027" y="1913310"/>
              <a:ext cx="2572496" cy="2755156"/>
              <a:chOff x="577880" y="1913310"/>
              <a:chExt cx="2572496" cy="2755156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94AFB15B-AF4C-0ACF-7C40-96F64B774F2F}"/>
                  </a:ext>
                </a:extLst>
              </p:cNvPr>
              <p:cNvGrpSpPr/>
              <p:nvPr/>
            </p:nvGrpSpPr>
            <p:grpSpPr>
              <a:xfrm>
                <a:off x="577880" y="1913310"/>
                <a:ext cx="2572496" cy="2755156"/>
                <a:chOff x="604252" y="1875210"/>
                <a:chExt cx="2572496" cy="2755156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40590442-D3B1-1A25-B575-AF5CBC2695CD}"/>
                    </a:ext>
                  </a:extLst>
                </p:cNvPr>
                <p:cNvSpPr/>
                <p:nvPr/>
              </p:nvSpPr>
              <p:spPr>
                <a:xfrm>
                  <a:off x="604252" y="1875210"/>
                  <a:ext cx="2572496" cy="2755156"/>
                </a:xfrm>
                <a:prstGeom prst="roundRect">
                  <a:avLst>
                    <a:gd name="adj" fmla="val 4212"/>
                  </a:avLst>
                </a:prstGeom>
                <a:gradFill>
                  <a:gsLst>
                    <a:gs pos="0">
                      <a:schemeClr val="bg1">
                        <a:lumMod val="95000"/>
                        <a:alpha val="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 w="6350">
                  <a:solidFill>
                    <a:schemeClr val="bg1">
                      <a:lumMod val="85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0847858-3920-8E7D-13CB-22B3C0952ED7}"/>
                    </a:ext>
                  </a:extLst>
                </p:cNvPr>
                <p:cNvSpPr txBox="1"/>
                <p:nvPr/>
              </p:nvSpPr>
              <p:spPr>
                <a:xfrm>
                  <a:off x="1182934" y="2957980"/>
                  <a:ext cx="1415132" cy="579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대기업 </a:t>
                  </a:r>
                  <a:r>
                    <a:rPr kumimoji="0" lang="en-US" altLang="ko-KR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대형 프랜차이즈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A532F0-50FB-D489-B30B-AC4191367C9F}"/>
                    </a:ext>
                  </a:extLst>
                </p:cNvPr>
                <p:cNvSpPr txBox="1"/>
                <p:nvPr/>
              </p:nvSpPr>
              <p:spPr>
                <a:xfrm>
                  <a:off x="787314" y="3638327"/>
                  <a:ext cx="2206373" cy="675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전담 트렌드 분석 조직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데이터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예산 보유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신메뉴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기획 → 대량 생산 → 전국 유통까지 일사불란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유행을 만들고 선점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정보가 곧 매출로 직결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파리바게뜨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뚜레쥬르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양강이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유통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78%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독점</a:t>
                  </a:r>
                </a:p>
              </p:txBody>
            </p:sp>
          </p:grp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F363E1D4-D54A-2F7B-917A-A478A6A7CD95}"/>
                  </a:ext>
                </a:extLst>
              </p:cNvPr>
              <p:cNvSpPr/>
              <p:nvPr/>
            </p:nvSpPr>
            <p:spPr>
              <a:xfrm>
                <a:off x="1564091" y="2219325"/>
                <a:ext cx="600075" cy="6000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6200" dist="25400" dir="5400000" sx="95000" sy="95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01" name="그래픽 100">
              <a:extLst>
                <a:ext uri="{FF2B5EF4-FFF2-40B4-BE49-F238E27FC236}">
                  <a16:creationId xmlns:a16="http://schemas.microsoft.com/office/drawing/2014/main" id="{73CE5691-F719-9128-AC18-E0C121CEC1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3023" y="2404110"/>
              <a:ext cx="230505" cy="230505"/>
            </a:xfrm>
            <a:prstGeom prst="rect">
              <a:avLst/>
            </a:prstGeom>
          </p:spPr>
        </p:pic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BA5D8477-6EB7-5800-9BCE-CFD2F468095E}"/>
              </a:ext>
            </a:extLst>
          </p:cNvPr>
          <p:cNvGrpSpPr/>
          <p:nvPr/>
        </p:nvGrpSpPr>
        <p:grpSpPr>
          <a:xfrm>
            <a:off x="3295227" y="1913310"/>
            <a:ext cx="2572496" cy="2755156"/>
            <a:chOff x="3295227" y="1913310"/>
            <a:chExt cx="2572496" cy="2755156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FDE98EA1-16C4-AF09-CA23-66FE3376145F}"/>
                </a:ext>
              </a:extLst>
            </p:cNvPr>
            <p:cNvGrpSpPr/>
            <p:nvPr/>
          </p:nvGrpSpPr>
          <p:grpSpPr>
            <a:xfrm>
              <a:off x="3295227" y="1913310"/>
              <a:ext cx="2572496" cy="2755156"/>
              <a:chOff x="3378230" y="1913310"/>
              <a:chExt cx="2572496" cy="2755156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4B5EA2F3-F852-B009-339E-4F22EA1B9227}"/>
                  </a:ext>
                </a:extLst>
              </p:cNvPr>
              <p:cNvGrpSpPr/>
              <p:nvPr/>
            </p:nvGrpSpPr>
            <p:grpSpPr>
              <a:xfrm>
                <a:off x="3378230" y="1913310"/>
                <a:ext cx="2572496" cy="2755156"/>
                <a:chOff x="604252" y="1875210"/>
                <a:chExt cx="2572496" cy="2755156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E6D0FE0-D408-EE7F-CA22-E65035AEC562}"/>
                    </a:ext>
                  </a:extLst>
                </p:cNvPr>
                <p:cNvSpPr/>
                <p:nvPr/>
              </p:nvSpPr>
              <p:spPr>
                <a:xfrm>
                  <a:off x="604252" y="1875210"/>
                  <a:ext cx="2572496" cy="2755156"/>
                </a:xfrm>
                <a:prstGeom prst="roundRect">
                  <a:avLst>
                    <a:gd name="adj" fmla="val 4212"/>
                  </a:avLst>
                </a:prstGeom>
                <a:gradFill>
                  <a:gsLst>
                    <a:gs pos="0">
                      <a:schemeClr val="bg1">
                        <a:lumMod val="95000"/>
                        <a:alpha val="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 w="6350">
                  <a:solidFill>
                    <a:schemeClr val="bg1">
                      <a:lumMod val="85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D77CACD-1F66-BFBF-1E69-4087B3921784}"/>
                    </a:ext>
                  </a:extLst>
                </p:cNvPr>
                <p:cNvSpPr txBox="1"/>
                <p:nvPr/>
              </p:nvSpPr>
              <p:spPr>
                <a:xfrm>
                  <a:off x="1020390" y="2957980"/>
                  <a:ext cx="1740220" cy="579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소상공인 </a:t>
                  </a:r>
                  <a:r>
                    <a:rPr kumimoji="0" lang="en-US" altLang="ko-KR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지방</a:t>
                  </a:r>
                  <a:r>
                    <a:rPr kumimoji="0" lang="en-US" altLang="ko-KR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/</a:t>
                  </a: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청년 창업 업체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69458C5-E354-764B-B2CD-4AA2DB889E99}"/>
                    </a:ext>
                  </a:extLst>
                </p:cNvPr>
                <p:cNvSpPr txBox="1"/>
                <p:nvPr/>
              </p:nvSpPr>
              <p:spPr>
                <a:xfrm>
                  <a:off x="849992" y="3638327"/>
                  <a:ext cx="2081018" cy="827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"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무엇이 곧 뜨는지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"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알 길이 없음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수동 모니터링은 비현실적 못 보니 못 정한다 : 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얼마나 생산할지 판단 불가 → 대량주문 대응 불가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유행 정점이 지난 뒤 진입 → 재고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설비 손실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좋은 제품력을 갖추고도 강소업체로 못 큼</a:t>
                  </a:r>
                </a:p>
              </p:txBody>
            </p:sp>
          </p:grp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E169E89-9BD8-1EE6-D5E5-4AB2BFE61F53}"/>
                  </a:ext>
                </a:extLst>
              </p:cNvPr>
              <p:cNvSpPr/>
              <p:nvPr/>
            </p:nvSpPr>
            <p:spPr>
              <a:xfrm>
                <a:off x="4364441" y="2219325"/>
                <a:ext cx="600075" cy="6000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6200" dist="25400" dir="5400000" sx="95000" sy="95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04" name="그래픽 103">
              <a:extLst>
                <a:ext uri="{FF2B5EF4-FFF2-40B4-BE49-F238E27FC236}">
                  <a16:creationId xmlns:a16="http://schemas.microsoft.com/office/drawing/2014/main" id="{2D21C558-54AC-26D4-DF61-E1BD55BAFE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6223" y="2415635"/>
              <a:ext cx="230505" cy="207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105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3615-3C8F-FD00-9620-33832451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D222A29-EE7E-C173-5FD9-E617ACCD6849}"/>
              </a:ext>
            </a:extLst>
          </p:cNvPr>
          <p:cNvSpPr/>
          <p:nvPr/>
        </p:nvSpPr>
        <p:spPr>
          <a:xfrm>
            <a:off x="0" y="4820576"/>
            <a:ext cx="9144000" cy="1544654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1364AD-6D2F-105E-7D12-11A0132A692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EA47D17-001B-13AB-8FA9-EB7E1D4C3FCB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0CEC120-C32E-DED3-7500-CC511E883A31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2BA1460-DC12-5235-ABDC-35AF507A4072}"/>
                </a:ext>
              </a:extLst>
            </p:cNvPr>
            <p:cNvGrpSpPr/>
            <p:nvPr/>
          </p:nvGrpSpPr>
          <p:grpSpPr>
            <a:xfrm>
              <a:off x="404618" y="922962"/>
              <a:ext cx="6665375" cy="523558"/>
              <a:chOff x="404618" y="928733"/>
              <a:chExt cx="6665375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D67E36-254C-A2F4-D484-0BF89AF8B452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8954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MZ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세대와 프리미엄 주거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오피스 상권을 중심으로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파편화된 시장을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대량주문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고효율 모델로 혁신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09EB16-5CC4-AF1F-4691-39971438772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3065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 시장의 판도를 바꿀 타이밍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밀도 높은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‘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프리미엄 니치마켓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을 엽니다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3BC00BE-8230-E131-E9D6-4037F7C9E3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DDAE7-1F6C-18EA-DACC-0C7962EA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0AE27-9CAD-5C23-E132-59A1481BBE95}"/>
              </a:ext>
            </a:extLst>
          </p:cNvPr>
          <p:cNvSpPr txBox="1"/>
          <p:nvPr/>
        </p:nvSpPr>
        <p:spPr>
          <a:xfrm>
            <a:off x="453669" y="4963499"/>
            <a:ext cx="3095720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SOM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공략 모델 · 초기 공략 우선순위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고단가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반복 구매 순서로 공략하는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6B0A0B4-1BCB-66EF-75CE-C2FD25EFADD2}"/>
              </a:ext>
            </a:extLst>
          </p:cNvPr>
          <p:cNvSpPr/>
          <p:nvPr/>
        </p:nvSpPr>
        <p:spPr>
          <a:xfrm>
            <a:off x="457322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D617118-52DD-98D4-DEA0-9575B102E267}"/>
              </a:ext>
            </a:extLst>
          </p:cNvPr>
          <p:cNvSpPr/>
          <p:nvPr/>
        </p:nvSpPr>
        <p:spPr>
          <a:xfrm>
            <a:off x="2552474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0685DA0-E0BA-5655-57B1-31CCAAF80883}"/>
              </a:ext>
            </a:extLst>
          </p:cNvPr>
          <p:cNvSpPr/>
          <p:nvPr/>
        </p:nvSpPr>
        <p:spPr>
          <a:xfrm>
            <a:off x="4647627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A5643D5-7B0C-BF87-E222-71E4F251C267}"/>
              </a:ext>
            </a:extLst>
          </p:cNvPr>
          <p:cNvSpPr/>
          <p:nvPr/>
        </p:nvSpPr>
        <p:spPr>
          <a:xfrm>
            <a:off x="6742780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D6E2B2-68ED-A297-AECD-F9D4975486AA}"/>
              </a:ext>
            </a:extLst>
          </p:cNvPr>
          <p:cNvGrpSpPr/>
          <p:nvPr/>
        </p:nvGrpSpPr>
        <p:grpSpPr>
          <a:xfrm>
            <a:off x="523734" y="5486042"/>
            <a:ext cx="1811073" cy="383348"/>
            <a:chOff x="530580" y="5493050"/>
            <a:chExt cx="1811073" cy="3833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795451-BED9-1CEB-D986-CE021C84CBF9}"/>
                </a:ext>
              </a:extLst>
            </p:cNvPr>
            <p:cNvSpPr txBox="1"/>
            <p:nvPr/>
          </p:nvSpPr>
          <p:spPr>
            <a:xfrm>
              <a:off x="1137157" y="5493050"/>
              <a:ext cx="59792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① B2B 기업 간식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152D5F-9888-9B7F-3223-7993C3E3348C}"/>
                </a:ext>
              </a:extLst>
            </p:cNvPr>
            <p:cNvSpPr txBox="1"/>
            <p:nvPr/>
          </p:nvSpPr>
          <p:spPr>
            <a:xfrm>
              <a:off x="530580" y="5753287"/>
              <a:ext cx="1811073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사내 간식데이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복지용 정기 납품 (파일럿 50개사)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3A60D85-2741-0A6B-C262-F73DD8B7F02E}"/>
              </a:ext>
            </a:extLst>
          </p:cNvPr>
          <p:cNvGrpSpPr/>
          <p:nvPr/>
        </p:nvGrpSpPr>
        <p:grpSpPr>
          <a:xfrm>
            <a:off x="2839941" y="5486042"/>
            <a:ext cx="1368965" cy="383348"/>
            <a:chOff x="751635" y="5493050"/>
            <a:chExt cx="1368965" cy="38334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21483A-D4C8-9457-0D25-41494F6FAF74}"/>
                </a:ext>
              </a:extLst>
            </p:cNvPr>
            <p:cNvSpPr txBox="1"/>
            <p:nvPr/>
          </p:nvSpPr>
          <p:spPr>
            <a:xfrm>
              <a:off x="970926" y="5493050"/>
              <a:ext cx="930384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② 교보생명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영업현장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CF00CB-E535-9080-FBE2-3FF302B960CE}"/>
                </a:ext>
              </a:extLst>
            </p:cNvPr>
            <p:cNvSpPr txBox="1"/>
            <p:nvPr/>
          </p:nvSpPr>
          <p:spPr>
            <a:xfrm>
              <a:off x="751635" y="5753287"/>
              <a:ext cx="1368965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지점 간식</a:t>
              </a:r>
              <a:r>
                <a:rPr lang="en-US" altLang="ko-KR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설계사 활동용품·고객 선물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B2FF9CA-E803-031E-339D-55717897EA1E}"/>
              </a:ext>
            </a:extLst>
          </p:cNvPr>
          <p:cNvGrpSpPr/>
          <p:nvPr/>
        </p:nvGrpSpPr>
        <p:grpSpPr>
          <a:xfrm>
            <a:off x="4700253" y="5486042"/>
            <a:ext cx="1838645" cy="383348"/>
            <a:chOff x="516794" y="5493050"/>
            <a:chExt cx="1838645" cy="3833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33D11A-A00C-E402-D04B-7E9EFEF74A14}"/>
                </a:ext>
              </a:extLst>
            </p:cNvPr>
            <p:cNvSpPr txBox="1"/>
            <p:nvPr/>
          </p:nvSpPr>
          <p:spPr>
            <a:xfrm>
              <a:off x="1155271" y="5493050"/>
              <a:ext cx="561692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③ 아파트·커뮤니티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D92508-AD35-4396-B46C-B836650D0630}"/>
                </a:ext>
              </a:extLst>
            </p:cNvPr>
            <p:cNvSpPr txBox="1"/>
            <p:nvPr/>
          </p:nvSpPr>
          <p:spPr>
            <a:xfrm>
              <a:off x="516794" y="5753287"/>
              <a:ext cx="1838645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en-US" altLang="ko-KR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거점 단지 </a:t>
              </a: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공동주문</a:t>
              </a:r>
              <a:r>
                <a:rPr lang="en-US" altLang="ko-KR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대량 공구 (동탄 2만 세대 DB)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4649314-C46B-D6CD-C98F-C8305A00D25D}"/>
              </a:ext>
            </a:extLst>
          </p:cNvPr>
          <p:cNvGrpSpPr/>
          <p:nvPr/>
        </p:nvGrpSpPr>
        <p:grpSpPr>
          <a:xfrm>
            <a:off x="7093405" y="5486042"/>
            <a:ext cx="1242648" cy="383348"/>
            <a:chOff x="814793" y="5493050"/>
            <a:chExt cx="1242648" cy="38334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BE68A1-3377-FE46-8D3A-23A8F1E8CF14}"/>
                </a:ext>
              </a:extLst>
            </p:cNvPr>
            <p:cNvSpPr txBox="1"/>
            <p:nvPr/>
          </p:nvSpPr>
          <p:spPr>
            <a:xfrm>
              <a:off x="981025" y="5493050"/>
              <a:ext cx="91018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④ B2C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예약·구독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0621F6-DBD9-455D-FE0F-7317735F15A1}"/>
                </a:ext>
              </a:extLst>
            </p:cNvPr>
            <p:cNvSpPr txBox="1"/>
            <p:nvPr/>
          </p:nvSpPr>
          <p:spPr>
            <a:xfrm>
              <a:off x="814793" y="5753287"/>
              <a:ext cx="1242648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예약판매 드롭·프리미엄 정기구독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2CC33F9-D58C-7519-3A8D-9701F50ECA4E}"/>
              </a:ext>
            </a:extLst>
          </p:cNvPr>
          <p:cNvGrpSpPr/>
          <p:nvPr/>
        </p:nvGrpSpPr>
        <p:grpSpPr>
          <a:xfrm>
            <a:off x="421503" y="1844349"/>
            <a:ext cx="4177131" cy="2740448"/>
            <a:chOff x="421503" y="1844349"/>
            <a:chExt cx="4177131" cy="274044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B888C58-6D33-840B-D6CF-23DD8892E937}"/>
                </a:ext>
              </a:extLst>
            </p:cNvPr>
            <p:cNvSpPr txBox="1"/>
            <p:nvPr/>
          </p:nvSpPr>
          <p:spPr>
            <a:xfrm>
              <a:off x="421503" y="4446298"/>
              <a:ext cx="322363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검증된 초기 수요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시범 운영 최고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MAU 3.2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재구매율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38.9% 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자사 실측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4E9715EE-53B7-0410-0588-01175650F5B0}"/>
                </a:ext>
              </a:extLst>
            </p:cNvPr>
            <p:cNvGrpSpPr/>
            <p:nvPr/>
          </p:nvGrpSpPr>
          <p:grpSpPr>
            <a:xfrm>
              <a:off x="435610" y="1844349"/>
              <a:ext cx="4163024" cy="2486328"/>
              <a:chOff x="435610" y="1844349"/>
              <a:chExt cx="4163024" cy="2486328"/>
            </a:xfrm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735DDF9C-E5F7-FB26-552A-E5ADE67F63F2}"/>
                  </a:ext>
                </a:extLst>
              </p:cNvPr>
              <p:cNvGrpSpPr/>
              <p:nvPr/>
            </p:nvGrpSpPr>
            <p:grpSpPr>
              <a:xfrm>
                <a:off x="435610" y="1844349"/>
                <a:ext cx="4163024" cy="772937"/>
                <a:chOff x="453670" y="1966223"/>
                <a:chExt cx="4163024" cy="772937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74FF2E62-D26A-080E-7FBA-5119E1E90C2D}"/>
                    </a:ext>
                  </a:extLst>
                </p:cNvPr>
                <p:cNvSpPr/>
                <p:nvPr/>
              </p:nvSpPr>
              <p:spPr>
                <a:xfrm>
                  <a:off x="453670" y="1966223"/>
                  <a:ext cx="4163024" cy="772937"/>
                </a:xfrm>
                <a:prstGeom prst="roundRect">
                  <a:avLst>
                    <a:gd name="adj" fmla="val 0"/>
                  </a:avLst>
                </a:prstGeom>
                <a:solidFill>
                  <a:srgbClr val="74AAD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FEEB38-78DA-654D-41E7-007FD4DF5751}"/>
                    </a:ext>
                  </a:extLst>
                </p:cNvPr>
                <p:cNvSpPr txBox="1"/>
                <p:nvPr/>
              </p:nvSpPr>
              <p:spPr>
                <a:xfrm>
                  <a:off x="661118" y="2137248"/>
                  <a:ext cx="49276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TAM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14</a:t>
                  </a:r>
                  <a:r>
                    <a:rPr kumimoji="0" lang="ko-KR" altLang="en-US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조원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6D1B94A-3C24-0D11-4030-DD3FC2E68BD3}"/>
                    </a:ext>
                  </a:extLst>
                </p:cNvPr>
                <p:cNvSpPr txBox="1"/>
                <p:nvPr/>
              </p:nvSpPr>
              <p:spPr>
                <a:xfrm>
                  <a:off x="1613773" y="2178284"/>
                  <a:ext cx="1903085" cy="348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국내 디저트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베이커리 시장 전체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10%+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성장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10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년간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(9→14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조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endPara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8792C1BF-F505-D77B-9E1F-B0A25006BDA0}"/>
                  </a:ext>
                </a:extLst>
              </p:cNvPr>
              <p:cNvGrpSpPr/>
              <p:nvPr/>
            </p:nvGrpSpPr>
            <p:grpSpPr>
              <a:xfrm>
                <a:off x="435610" y="2701045"/>
                <a:ext cx="4163024" cy="772937"/>
                <a:chOff x="453670" y="1966223"/>
                <a:chExt cx="4163024" cy="772937"/>
              </a:xfrm>
            </p:grpSpPr>
            <p:sp>
              <p:nvSpPr>
                <p:cNvPr id="60" name="사각형: 둥근 모서리 59">
                  <a:extLst>
                    <a:ext uri="{FF2B5EF4-FFF2-40B4-BE49-F238E27FC236}">
                      <a16:creationId xmlns:a16="http://schemas.microsoft.com/office/drawing/2014/main" id="{50BA6B35-F8FD-A6BA-EA54-11D744F4AA7C}"/>
                    </a:ext>
                  </a:extLst>
                </p:cNvPr>
                <p:cNvSpPr/>
                <p:nvPr/>
              </p:nvSpPr>
              <p:spPr>
                <a:xfrm>
                  <a:off x="453670" y="1966223"/>
                  <a:ext cx="4163024" cy="772937"/>
                </a:xfrm>
                <a:prstGeom prst="roundRect">
                  <a:avLst>
                    <a:gd name="adj" fmla="val 0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688D6C3-7515-4105-61C2-9293449EE81B}"/>
                    </a:ext>
                  </a:extLst>
                </p:cNvPr>
                <p:cNvSpPr txBox="1"/>
                <p:nvPr/>
              </p:nvSpPr>
              <p:spPr>
                <a:xfrm>
                  <a:off x="661118" y="2137248"/>
                  <a:ext cx="56105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SAM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1-2</a:t>
                  </a:r>
                  <a:r>
                    <a:rPr kumimoji="0" lang="ko-KR" altLang="en-US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조원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AB26798-FFCE-B889-FE34-2B52D9462DA9}"/>
                    </a:ext>
                  </a:extLst>
                </p:cNvPr>
                <p:cNvSpPr txBox="1"/>
                <p:nvPr/>
              </p:nvSpPr>
              <p:spPr>
                <a:xfrm>
                  <a:off x="1613773" y="2178284"/>
                  <a:ext cx="2647841" cy="348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프리미엄 디저트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상위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10%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고급 제품군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작은 사치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 MZ 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가심비 소비층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평균보다 빠른 성장</a:t>
                  </a:r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4D39D22-61A5-B410-7918-A4293164C6FA}"/>
                  </a:ext>
                </a:extLst>
              </p:cNvPr>
              <p:cNvGrpSpPr/>
              <p:nvPr/>
            </p:nvGrpSpPr>
            <p:grpSpPr>
              <a:xfrm>
                <a:off x="435610" y="3557740"/>
                <a:ext cx="4163024" cy="772937"/>
                <a:chOff x="453670" y="1966223"/>
                <a:chExt cx="4163024" cy="772937"/>
              </a:xfrm>
            </p:grpSpPr>
            <p:sp>
              <p:nvSpPr>
                <p:cNvPr id="64" name="사각형: 둥근 모서리 63">
                  <a:extLst>
                    <a:ext uri="{FF2B5EF4-FFF2-40B4-BE49-F238E27FC236}">
                      <a16:creationId xmlns:a16="http://schemas.microsoft.com/office/drawing/2014/main" id="{D4B9145E-29E6-4CFD-F46F-9593CAE4E753}"/>
                    </a:ext>
                  </a:extLst>
                </p:cNvPr>
                <p:cNvSpPr/>
                <p:nvPr/>
              </p:nvSpPr>
              <p:spPr>
                <a:xfrm>
                  <a:off x="453670" y="1966223"/>
                  <a:ext cx="4163024" cy="772937"/>
                </a:xfrm>
                <a:prstGeom prst="roundRect">
                  <a:avLst>
                    <a:gd name="adj" fmla="val 0"/>
                  </a:avLst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6682F2-1228-78DB-5888-0BCCBEE7ACDD}"/>
                    </a:ext>
                  </a:extLst>
                </p:cNvPr>
                <p:cNvSpPr txBox="1"/>
                <p:nvPr/>
              </p:nvSpPr>
              <p:spPr>
                <a:xfrm>
                  <a:off x="661118" y="2137248"/>
                  <a:ext cx="6460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SOM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초기 목표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C49616-579A-FFF6-D7A0-F61C24483D19}"/>
                    </a:ext>
                  </a:extLst>
                </p:cNvPr>
                <p:cNvSpPr txBox="1"/>
                <p:nvPr/>
              </p:nvSpPr>
              <p:spPr>
                <a:xfrm>
                  <a:off x="1613773" y="2178284"/>
                  <a:ext cx="2463495" cy="348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B2B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기업 간식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커뮤니티 공구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정기 구독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실측 트랙션 기반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전환율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49.5% 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재방문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70.6%</a:t>
                  </a:r>
                </a:p>
              </p:txBody>
            </p:sp>
          </p:grpSp>
        </p:grp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1738753B-3852-E2A2-5EB4-694EE343AE21}"/>
              </a:ext>
            </a:extLst>
          </p:cNvPr>
          <p:cNvGrpSpPr/>
          <p:nvPr/>
        </p:nvGrpSpPr>
        <p:grpSpPr>
          <a:xfrm>
            <a:off x="4779379" y="1844349"/>
            <a:ext cx="4015221" cy="2976227"/>
            <a:chOff x="4752745" y="1844349"/>
            <a:chExt cx="4015221" cy="2976227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B764F30A-F924-C82B-7253-70B4AA128A20}"/>
                </a:ext>
              </a:extLst>
            </p:cNvPr>
            <p:cNvGrpSpPr/>
            <p:nvPr/>
          </p:nvGrpSpPr>
          <p:grpSpPr>
            <a:xfrm>
              <a:off x="4752745" y="1844349"/>
              <a:ext cx="1946724" cy="2976227"/>
              <a:chOff x="4752745" y="1844349"/>
              <a:chExt cx="1946724" cy="2976227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CC95A846-7AF8-7290-77A9-FDB0A028A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2745" y="4820576"/>
                <a:ext cx="194672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782C78F6-6821-F59E-BA6B-18EB776993F0}"/>
                  </a:ext>
                </a:extLst>
              </p:cNvPr>
              <p:cNvGrpSpPr/>
              <p:nvPr/>
            </p:nvGrpSpPr>
            <p:grpSpPr>
              <a:xfrm>
                <a:off x="4752745" y="1844349"/>
                <a:ext cx="1941415" cy="318267"/>
                <a:chOff x="4752745" y="1844351"/>
                <a:chExt cx="1941415" cy="350094"/>
              </a:xfrm>
            </p:grpSpPr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4A5475C-5A64-E476-B7A5-C6451D951752}"/>
                    </a:ext>
                  </a:extLst>
                </p:cNvPr>
                <p:cNvSpPr/>
                <p:nvPr/>
              </p:nvSpPr>
              <p:spPr>
                <a:xfrm>
                  <a:off x="4752745" y="1844351"/>
                  <a:ext cx="1941415" cy="350094"/>
                </a:xfrm>
                <a:prstGeom prst="rect">
                  <a:avLst/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E733468-99CB-A972-0A16-D28056D27918}"/>
                    </a:ext>
                  </a:extLst>
                </p:cNvPr>
                <p:cNvSpPr txBox="1"/>
                <p:nvPr/>
              </p:nvSpPr>
              <p:spPr>
                <a:xfrm>
                  <a:off x="5295932" y="1927065"/>
                  <a:ext cx="85504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B2B </a:t>
                  </a:r>
                  <a:r>
                    <a:rPr kumimoji="0" lang="ko-KR" altLang="en-US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기업 채널</a:t>
                  </a:r>
                </a:p>
              </p:txBody>
            </p: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614BB6-0E58-9E86-091E-A13ABD7386D6}"/>
                  </a:ext>
                </a:extLst>
              </p:cNvPr>
              <p:cNvSpPr txBox="1"/>
              <p:nvPr/>
            </p:nvSpPr>
            <p:spPr>
              <a:xfrm>
                <a:off x="4875944" y="2345075"/>
                <a:ext cx="1695016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TAM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전국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3,895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 기업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종사자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327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0B92CD4-B138-3EDC-57D9-7F05E3DF31D4}"/>
                  </a:ext>
                </a:extLst>
              </p:cNvPr>
              <p:cNvSpPr txBox="1"/>
              <p:nvPr/>
            </p:nvSpPr>
            <p:spPr>
              <a:xfrm>
                <a:off x="4838113" y="2999599"/>
                <a:ext cx="1770678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서울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경기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인천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1,188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 기업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(164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678E559-317C-EC7F-7C06-C4439AC4475A}"/>
                  </a:ext>
                </a:extLst>
              </p:cNvPr>
              <p:cNvSpPr txBox="1"/>
              <p:nvPr/>
            </p:nvSpPr>
            <p:spPr>
              <a:xfrm>
                <a:off x="5067984" y="3654123"/>
                <a:ext cx="1310936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SOM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서울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482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 대기업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(63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600A147A-90A2-657F-C8A5-6CBDC6109ACB}"/>
                  </a:ext>
                </a:extLst>
              </p:cNvPr>
              <p:cNvGrpSpPr/>
              <p:nvPr/>
            </p:nvGrpSpPr>
            <p:grpSpPr>
              <a:xfrm>
                <a:off x="4752745" y="2818531"/>
                <a:ext cx="1941415" cy="1309048"/>
                <a:chOff x="4838578" y="2818531"/>
                <a:chExt cx="1769749" cy="1309048"/>
              </a:xfrm>
            </p:grpSpPr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5594C151-04D0-5CF4-55D3-D3854EA3AD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2818531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8910F461-400E-70F5-F4AC-C075FB7EF8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3473055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11BF576D-0821-81FF-D71E-BC751DC583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4127579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3E0D4D-6FFA-C975-2610-96DAD6594344}"/>
                  </a:ext>
                </a:extLst>
              </p:cNvPr>
              <p:cNvSpPr txBox="1"/>
              <p:nvPr/>
            </p:nvSpPr>
            <p:spPr>
              <a:xfrm>
                <a:off x="4841480" y="4308647"/>
                <a:ext cx="1763944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IM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광화문 인근 등 대기업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POC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완료</a:t>
                </a: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867E60A-BAC1-AFA7-EE1B-C511D6772E7D}"/>
                </a:ext>
              </a:extLst>
            </p:cNvPr>
            <p:cNvGrpSpPr/>
            <p:nvPr/>
          </p:nvGrpSpPr>
          <p:grpSpPr>
            <a:xfrm>
              <a:off x="6821242" y="1844349"/>
              <a:ext cx="1946724" cy="2976227"/>
              <a:chOff x="4752745" y="1844349"/>
              <a:chExt cx="1946724" cy="2976227"/>
            </a:xfrm>
          </p:grpSpPr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C032ECAF-2E08-F96B-D8D9-175DF2BD99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2745" y="4820576"/>
                <a:ext cx="194672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E0ED172B-08E8-0E01-54D0-32DE0814A512}"/>
                  </a:ext>
                </a:extLst>
              </p:cNvPr>
              <p:cNvGrpSpPr/>
              <p:nvPr/>
            </p:nvGrpSpPr>
            <p:grpSpPr>
              <a:xfrm>
                <a:off x="4752745" y="1844349"/>
                <a:ext cx="1941415" cy="318267"/>
                <a:chOff x="4752745" y="1844351"/>
                <a:chExt cx="1941415" cy="350094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662E5A35-C83D-E5B4-0BA1-4F790B82563A}"/>
                    </a:ext>
                  </a:extLst>
                </p:cNvPr>
                <p:cNvSpPr/>
                <p:nvPr/>
              </p:nvSpPr>
              <p:spPr>
                <a:xfrm>
                  <a:off x="4752745" y="1844351"/>
                  <a:ext cx="1941415" cy="350094"/>
                </a:xfrm>
                <a:prstGeom prst="rect">
                  <a:avLst/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1D12820-62CB-F1A2-9E46-5E92B0A3FFD4}"/>
                    </a:ext>
                  </a:extLst>
                </p:cNvPr>
                <p:cNvSpPr txBox="1"/>
                <p:nvPr/>
              </p:nvSpPr>
              <p:spPr>
                <a:xfrm>
                  <a:off x="5161921" y="1917831"/>
                  <a:ext cx="1123063" cy="203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APT </a:t>
                  </a:r>
                  <a:r>
                    <a:rPr kumimoji="0" lang="ko-KR" altLang="en-US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커뮤니티 채널</a:t>
                  </a:r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FC8157-CFE9-D71A-40AD-FFF8F568A1B3}"/>
                  </a:ext>
                </a:extLst>
              </p:cNvPr>
              <p:cNvSpPr txBox="1"/>
              <p:nvPr/>
            </p:nvSpPr>
            <p:spPr>
              <a:xfrm>
                <a:off x="5058366" y="2345075"/>
                <a:ext cx="1330171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TAM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수도권 전체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APT 580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D9EADEE-B1D3-C977-5B7D-2893D9D822B4}"/>
                  </a:ext>
                </a:extLst>
              </p:cNvPr>
              <p:cNvSpPr txBox="1"/>
              <p:nvPr/>
            </p:nvSpPr>
            <p:spPr>
              <a:xfrm>
                <a:off x="5124249" y="2926502"/>
                <a:ext cx="1198405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 거점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60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강남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판교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과천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용인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5EE8B0D-9269-FE6A-9C13-C2616473D174}"/>
                  </a:ext>
                </a:extLst>
              </p:cNvPr>
              <p:cNvSpPr txBox="1"/>
              <p:nvPr/>
            </p:nvSpPr>
            <p:spPr>
              <a:xfrm>
                <a:off x="5021336" y="3654123"/>
                <a:ext cx="1404232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SOM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신도시 일대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14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</a:t>
                </a:r>
              </a:p>
            </p:txBody>
          </p: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D33D6B9E-81F6-BAF4-4237-17437021F6CE}"/>
                  </a:ext>
                </a:extLst>
              </p:cNvPr>
              <p:cNvGrpSpPr/>
              <p:nvPr/>
            </p:nvGrpSpPr>
            <p:grpSpPr>
              <a:xfrm>
                <a:off x="4752745" y="2818531"/>
                <a:ext cx="1941415" cy="1309048"/>
                <a:chOff x="4838578" y="2818531"/>
                <a:chExt cx="1769749" cy="1309048"/>
              </a:xfrm>
            </p:grpSpPr>
            <p:cxnSp>
              <p:nvCxnSpPr>
                <p:cNvPr id="109" name="직선 연결선 108">
                  <a:extLst>
                    <a:ext uri="{FF2B5EF4-FFF2-40B4-BE49-F238E27FC236}">
                      <a16:creationId xmlns:a16="http://schemas.microsoft.com/office/drawing/2014/main" id="{BD541A5A-E862-D990-6156-736869635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2818531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>
                  <a:extLst>
                    <a:ext uri="{FF2B5EF4-FFF2-40B4-BE49-F238E27FC236}">
                      <a16:creationId xmlns:a16="http://schemas.microsoft.com/office/drawing/2014/main" id="{FCD37C21-9564-912F-507D-9D086A999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3473055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>
                  <a:extLst>
                    <a:ext uri="{FF2B5EF4-FFF2-40B4-BE49-F238E27FC236}">
                      <a16:creationId xmlns:a16="http://schemas.microsoft.com/office/drawing/2014/main" id="{BEB5E5EA-70EA-3B58-504B-C7790CFB7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4127579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E2A058F-7EDC-8ED3-04BD-F0C137DDB4A5}"/>
                  </a:ext>
                </a:extLst>
              </p:cNvPr>
              <p:cNvSpPr txBox="1"/>
              <p:nvPr/>
            </p:nvSpPr>
            <p:spPr>
              <a:xfrm>
                <a:off x="4824168" y="4308647"/>
                <a:ext cx="1798569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IM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일대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PoC·DB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확보 완료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76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77A4-0EC2-2E60-4E0B-3160F82E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669AD2A-ACD5-4F43-29ED-3C10F0E30BED}"/>
              </a:ext>
            </a:extLst>
          </p:cNvPr>
          <p:cNvSpPr/>
          <p:nvPr/>
        </p:nvSpPr>
        <p:spPr>
          <a:xfrm>
            <a:off x="0" y="4823819"/>
            <a:ext cx="9144000" cy="1544654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5976F45-09E2-C881-9B6B-BE35A943175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021B344-F7FD-2ACF-718E-0F21C19879CC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05D6757-36A0-155B-C657-C7E12AFBBD27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0417D5E-4FDD-B974-667D-4112DC17BCC5}"/>
                </a:ext>
              </a:extLst>
            </p:cNvPr>
            <p:cNvGrpSpPr/>
            <p:nvPr/>
          </p:nvGrpSpPr>
          <p:grpSpPr>
            <a:xfrm>
              <a:off x="404618" y="922962"/>
              <a:ext cx="7723909" cy="523558"/>
              <a:chOff x="404618" y="928733"/>
              <a:chExt cx="772390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E8A7B5-DB3F-F110-8312-2FC010EA0F5A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72390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B2C) 2025.08.04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론칭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~ 2026.05.11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누적 실측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아이디어가 아니라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이미 매출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충성 트래픽을 만드는 검증된 플랫폼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AB3BB97-ECE8-2F3C-C228-3CCF4F72150B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471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8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개월 실거래로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PMF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실증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프로모션 없이 업계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3~4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배 전환율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9B085B0-F573-A6B0-688C-D8EACE9C65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551A8E-6EE4-0C27-9A06-3447F65A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11FCD-459C-A768-AB21-D8EAB69FF50F}"/>
              </a:ext>
            </a:extLst>
          </p:cNvPr>
          <p:cNvSpPr txBox="1"/>
          <p:nvPr/>
        </p:nvSpPr>
        <p:spPr>
          <a:xfrm>
            <a:off x="1665275" y="5854375"/>
            <a:ext cx="5813450" cy="32316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결론 : B2C PMF는 검증 완료 — 단, AOV 22,808원의 구조적 한계로 B2B/B2B2C 대량주문 전환이 필수 (본 R&amp;D의 직접 표적)  |  채널 인사이트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인스타그램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4.5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유입이 마중물 </a:t>
            </a:r>
            <a:endParaRPr kumimoji="0" lang="en-US" altLang="ko-KR" sz="7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결제 기여의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90%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직접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오가닉 유입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인지 → 브랜드 직접 방문</a:t>
            </a:r>
            <a:endParaRPr kumimoji="0" lang="en-US" altLang="ko-KR" sz="7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충성 재방문의 선순환 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|  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벤치마크 출처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Adjust·AppsFlyer 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리포트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사 실적발표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증권사 이커머스 리포트 </a:t>
            </a:r>
            <a:r>
              <a:rPr kumimoji="0" lang="en-US" altLang="ko-KR" sz="7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(2023~24)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C8F7F98C-29AB-7D03-EB1D-32706AE4F69E}"/>
              </a:ext>
            </a:extLst>
          </p:cNvPr>
          <p:cNvGrpSpPr/>
          <p:nvPr/>
        </p:nvGrpSpPr>
        <p:grpSpPr>
          <a:xfrm>
            <a:off x="465649" y="1841327"/>
            <a:ext cx="8212702" cy="1123815"/>
            <a:chOff x="457322" y="1841327"/>
            <a:chExt cx="8131388" cy="1123815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E338CA22-A32F-433F-7F7A-16DB6A7332D2}"/>
                </a:ext>
              </a:extLst>
            </p:cNvPr>
            <p:cNvGrpSpPr/>
            <p:nvPr/>
          </p:nvGrpSpPr>
          <p:grpSpPr>
            <a:xfrm>
              <a:off x="457322" y="1841327"/>
              <a:ext cx="1943898" cy="1123815"/>
              <a:chOff x="457322" y="1841327"/>
              <a:chExt cx="1943898" cy="1123815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81A883E3-64E4-1927-BAEF-6017D6AA843C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7C16FDC6-9E5F-78D5-BBC6-4AA59414021B}"/>
                  </a:ext>
                </a:extLst>
              </p:cNvPr>
              <p:cNvGrpSpPr/>
              <p:nvPr/>
            </p:nvGrpSpPr>
            <p:grpSpPr>
              <a:xfrm>
                <a:off x="892425" y="2008079"/>
                <a:ext cx="1073692" cy="790310"/>
                <a:chOff x="892425" y="2024440"/>
                <a:chExt cx="1073692" cy="790310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4E5884E8-0542-1FF2-25E1-7FB3851D1B65}"/>
                    </a:ext>
                  </a:extLst>
                </p:cNvPr>
                <p:cNvGrpSpPr/>
                <p:nvPr/>
              </p:nvGrpSpPr>
              <p:grpSpPr>
                <a:xfrm>
                  <a:off x="892425" y="2024440"/>
                  <a:ext cx="1073692" cy="454964"/>
                  <a:chOff x="899271" y="5454579"/>
                  <a:chExt cx="1073692" cy="454964"/>
                </a:xfrm>
              </p:grpSpPr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D594B3AE-41F3-B064-05F8-DD3573537641}"/>
                      </a:ext>
                    </a:extLst>
                  </p:cNvPr>
                  <p:cNvSpPr txBox="1"/>
                  <p:nvPr/>
                </p:nvSpPr>
                <p:spPr>
                  <a:xfrm>
                    <a:off x="1101892" y="5454579"/>
                    <a:ext cx="66845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49.5%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1683551-4785-3BD7-2806-ED79A14398D5}"/>
                      </a:ext>
                    </a:extLst>
                  </p:cNvPr>
                  <p:cNvSpPr txBox="1"/>
                  <p:nvPr/>
                </p:nvSpPr>
                <p:spPr>
                  <a:xfrm>
                    <a:off x="899271" y="5755655"/>
                    <a:ext cx="1073692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가입 → 첫 구매 전환율</a:t>
                    </a:r>
                  </a:p>
                </p:txBody>
              </p:sp>
            </p:grp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2738DFD-F1A6-DCB9-D1D4-3BC6D03700AA}"/>
                    </a:ext>
                  </a:extLst>
                </p:cNvPr>
                <p:cNvSpPr txBox="1"/>
                <p:nvPr/>
              </p:nvSpPr>
              <p:spPr>
                <a:xfrm>
                  <a:off x="925608" y="2537751"/>
                  <a:ext cx="10073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탑티어 버티컬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15~20%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할인 無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AAD6C45-C0FD-E0DB-1283-C8B37034DE9F}"/>
                </a:ext>
              </a:extLst>
            </p:cNvPr>
            <p:cNvGrpSpPr/>
            <p:nvPr/>
          </p:nvGrpSpPr>
          <p:grpSpPr>
            <a:xfrm>
              <a:off x="2519819" y="1841327"/>
              <a:ext cx="1943898" cy="1123815"/>
              <a:chOff x="457322" y="1841327"/>
              <a:chExt cx="1943898" cy="1123815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688510A2-76CB-64C6-6E1E-F17A476A1913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55DB3444-5925-5FFB-BDD6-1E132C791A84}"/>
                  </a:ext>
                </a:extLst>
              </p:cNvPr>
              <p:cNvGrpSpPr/>
              <p:nvPr/>
            </p:nvGrpSpPr>
            <p:grpSpPr>
              <a:xfrm>
                <a:off x="824734" y="2008079"/>
                <a:ext cx="1209076" cy="790310"/>
                <a:chOff x="824734" y="2024440"/>
                <a:chExt cx="1209076" cy="790310"/>
              </a:xfrm>
            </p:grpSpPr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E90E6D33-C6CD-E5AD-CC00-CBA2F7524F9E}"/>
                    </a:ext>
                  </a:extLst>
                </p:cNvPr>
                <p:cNvGrpSpPr/>
                <p:nvPr/>
              </p:nvGrpSpPr>
              <p:grpSpPr>
                <a:xfrm>
                  <a:off x="1144064" y="2024440"/>
                  <a:ext cx="570415" cy="454964"/>
                  <a:chOff x="1150910" y="5454579"/>
                  <a:chExt cx="570415" cy="454964"/>
                </a:xfrm>
              </p:grpSpPr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374D102A-8122-3538-D957-95FF142B55CC}"/>
                      </a:ext>
                    </a:extLst>
                  </p:cNvPr>
                  <p:cNvSpPr txBox="1"/>
                  <p:nvPr/>
                </p:nvSpPr>
                <p:spPr>
                  <a:xfrm>
                    <a:off x="1177099" y="5454579"/>
                    <a:ext cx="51804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6.7</a:t>
                    </a:r>
                    <a:r>
                      <a:rPr kumimoji="0" lang="ko-KR" altLang="en-US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배</a:t>
                    </a: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74CBB68D-F02F-4EE8-F492-780907B13F55}"/>
                      </a:ext>
                    </a:extLst>
                  </p:cNvPr>
                  <p:cNvSpPr txBox="1"/>
                  <p:nvPr/>
                </p:nvSpPr>
                <p:spPr>
                  <a:xfrm>
                    <a:off x="1150910" y="5755655"/>
                    <a:ext cx="570415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LTV / CAC</a:t>
                    </a:r>
                  </a:p>
                </p:txBody>
              </p:sp>
            </p:grp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3DB1E3-FDFE-859B-E079-C196352C1F65}"/>
                    </a:ext>
                  </a:extLst>
                </p:cNvPr>
                <p:cNvSpPr txBox="1"/>
                <p:nvPr/>
              </p:nvSpPr>
              <p:spPr>
                <a:xfrm>
                  <a:off x="824734" y="2537751"/>
                  <a:ext cx="12090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VC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합격선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3.0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배의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 이상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스케일업 적기</a:t>
                  </a:r>
                </a:p>
              </p:txBody>
            </p:sp>
          </p:grp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84A3D199-4FB3-EA98-98EF-D34ABB0367FF}"/>
                </a:ext>
              </a:extLst>
            </p:cNvPr>
            <p:cNvGrpSpPr/>
            <p:nvPr/>
          </p:nvGrpSpPr>
          <p:grpSpPr>
            <a:xfrm>
              <a:off x="4582316" y="1841327"/>
              <a:ext cx="1943898" cy="1123815"/>
              <a:chOff x="457322" y="1841327"/>
              <a:chExt cx="1943898" cy="1123815"/>
            </a:xfrm>
          </p:grpSpPr>
          <p:sp>
            <p:nvSpPr>
              <p:cNvPr id="83" name="사각형: 둥근 모서리 82">
                <a:extLst>
                  <a:ext uri="{FF2B5EF4-FFF2-40B4-BE49-F238E27FC236}">
                    <a16:creationId xmlns:a16="http://schemas.microsoft.com/office/drawing/2014/main" id="{48884CBB-DAA0-F6A8-71F7-D51C4CF3FE51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760FC2CC-BE15-1DED-10DE-19D6F9655A6E}"/>
                  </a:ext>
                </a:extLst>
              </p:cNvPr>
              <p:cNvGrpSpPr/>
              <p:nvPr/>
            </p:nvGrpSpPr>
            <p:grpSpPr>
              <a:xfrm>
                <a:off x="810290" y="2008079"/>
                <a:ext cx="1237962" cy="790310"/>
                <a:chOff x="810290" y="2024440"/>
                <a:chExt cx="1237962" cy="790310"/>
              </a:xfrm>
            </p:grpSpPr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86F63F34-ABA1-DB93-1439-B6A31E46133E}"/>
                    </a:ext>
                  </a:extLst>
                </p:cNvPr>
                <p:cNvGrpSpPr/>
                <p:nvPr/>
              </p:nvGrpSpPr>
              <p:grpSpPr>
                <a:xfrm>
                  <a:off x="810290" y="2024440"/>
                  <a:ext cx="1237962" cy="454964"/>
                  <a:chOff x="817136" y="5454579"/>
                  <a:chExt cx="1237962" cy="454964"/>
                </a:xfrm>
              </p:grpSpPr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FAC2478E-D37A-DBE6-B284-D66A23C8CE05}"/>
                      </a:ext>
                    </a:extLst>
                  </p:cNvPr>
                  <p:cNvSpPr txBox="1"/>
                  <p:nvPr/>
                </p:nvSpPr>
                <p:spPr>
                  <a:xfrm>
                    <a:off x="1028543" y="5454579"/>
                    <a:ext cx="8151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6,996</a:t>
                    </a:r>
                    <a:r>
                      <a:rPr kumimoji="0" lang="ko-KR" altLang="en-US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원</a:t>
                    </a:r>
                  </a:p>
                </p:txBody>
              </p: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24925C44-ED45-C210-4FD2-0F093600EBE9}"/>
                      </a:ext>
                    </a:extLst>
                  </p:cNvPr>
                  <p:cNvSpPr txBox="1"/>
                  <p:nvPr/>
                </p:nvSpPr>
                <p:spPr>
                  <a:xfrm>
                    <a:off x="817136" y="5755655"/>
                    <a:ext cx="1237962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신규 고객 획득비용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(CAC)</a:t>
                    </a:r>
                  </a:p>
                </p:txBody>
              </p:sp>
            </p:grp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47E27EF-A242-CFEC-E3FB-D6BC07BBC255}"/>
                    </a:ext>
                  </a:extLst>
                </p:cNvPr>
                <p:cNvSpPr txBox="1"/>
                <p:nvPr/>
              </p:nvSpPr>
              <p:spPr>
                <a:xfrm>
                  <a:off x="865205" y="2537751"/>
                  <a:ext cx="11281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경쟁사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15,000~50,000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원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3~4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 저렴</a:t>
                  </a:r>
                </a:p>
              </p:txBody>
            </p:sp>
          </p:grp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3FA19E15-9EFA-31B0-0792-C7B922B5B994}"/>
                </a:ext>
              </a:extLst>
            </p:cNvPr>
            <p:cNvGrpSpPr/>
            <p:nvPr/>
          </p:nvGrpSpPr>
          <p:grpSpPr>
            <a:xfrm>
              <a:off x="6644812" y="1841327"/>
              <a:ext cx="1943898" cy="1123815"/>
              <a:chOff x="457322" y="1841327"/>
              <a:chExt cx="1943898" cy="1123815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FBCA236B-36AC-0F2D-554A-C713F1D79EAB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ED67BA51-96C4-508A-74A1-B4FE972592B7}"/>
                  </a:ext>
                </a:extLst>
              </p:cNvPr>
              <p:cNvGrpSpPr/>
              <p:nvPr/>
            </p:nvGrpSpPr>
            <p:grpSpPr>
              <a:xfrm>
                <a:off x="778706" y="2008079"/>
                <a:ext cx="1301131" cy="790310"/>
                <a:chOff x="778706" y="2024440"/>
                <a:chExt cx="1301131" cy="79031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FF033141-2F6B-36E6-6FD2-C64814D3739E}"/>
                    </a:ext>
                  </a:extLst>
                </p:cNvPr>
                <p:cNvGrpSpPr/>
                <p:nvPr/>
              </p:nvGrpSpPr>
              <p:grpSpPr>
                <a:xfrm>
                  <a:off x="778706" y="2024440"/>
                  <a:ext cx="1301131" cy="454964"/>
                  <a:chOff x="785552" y="5454579"/>
                  <a:chExt cx="1301131" cy="454964"/>
                </a:xfrm>
              </p:grpSpPr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EAA2155A-1B7A-7FF6-6C8C-1A332FE60234}"/>
                      </a:ext>
                    </a:extLst>
                  </p:cNvPr>
                  <p:cNvSpPr txBox="1"/>
                  <p:nvPr/>
                </p:nvSpPr>
                <p:spPr>
                  <a:xfrm>
                    <a:off x="1101892" y="5454579"/>
                    <a:ext cx="66845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1.1</a:t>
                    </a:r>
                    <a:r>
                      <a:rPr kumimoji="0" lang="ko-KR" altLang="en-US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억원</a:t>
                    </a:r>
                  </a:p>
                </p:txBody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22D9445-24DE-565F-55DF-50CA5D5B69BD}"/>
                      </a:ext>
                    </a:extLst>
                  </p:cNvPr>
                  <p:cNvSpPr txBox="1"/>
                  <p:nvPr/>
                </p:nvSpPr>
                <p:spPr>
                  <a:xfrm>
                    <a:off x="785552" y="5755655"/>
                    <a:ext cx="1301131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누적 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GMV (</a:t>
                    </a: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결제 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4,905</a:t>
                    </a: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건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)</a:t>
                    </a:r>
                  </a:p>
                </p:txBody>
              </p:sp>
            </p:grp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2FEDBD70-328A-98EF-8E58-D2774C88675C}"/>
                    </a:ext>
                  </a:extLst>
                </p:cNvPr>
                <p:cNvSpPr txBox="1"/>
                <p:nvPr/>
              </p:nvSpPr>
              <p:spPr>
                <a:xfrm>
                  <a:off x="1005190" y="2537751"/>
                  <a:ext cx="8481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디저트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17,116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판매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가입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4,800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명</a:t>
                  </a:r>
                </a:p>
              </p:txBody>
            </p:sp>
          </p:grpSp>
        </p:grpSp>
      </p:grpSp>
      <p:graphicFrame>
        <p:nvGraphicFramePr>
          <p:cNvPr id="120" name="Table 0">
            <a:extLst>
              <a:ext uri="{FF2B5EF4-FFF2-40B4-BE49-F238E27FC236}">
                <a16:creationId xmlns:a16="http://schemas.microsoft.com/office/drawing/2014/main" id="{B8B4491A-0736-D075-9506-4B72B6FD5499}"/>
              </a:ext>
            </a:extLst>
          </p:cNvPr>
          <p:cNvGraphicFramePr>
            <a:graphicFrameLocks noGrp="1"/>
          </p:cNvGraphicFramePr>
          <p:nvPr/>
        </p:nvGraphicFramePr>
        <p:xfrm>
          <a:off x="465649" y="3102678"/>
          <a:ext cx="8229148" cy="1966470"/>
        </p:xfrm>
        <a:graphic>
          <a:graphicData uri="http://schemas.openxmlformats.org/drawingml/2006/table">
            <a:tbl>
              <a:tblPr/>
              <a:tblGrid>
                <a:gridCol w="1682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3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 지표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딸기로픽 (실측)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버티컬 커머스 (에이블리 등)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메가 플랫폼 (쿠팡·컬리 등)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진단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가입 대비 첫 구매 전환율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49.5%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15~20%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30~40%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업계 최상위권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프로모션 없이 PMF 검증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신규 고객 획득비용 (CAC)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6,996원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15,000~25,000원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30,000~50,000원+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오가닉·직접 유입 90%가 획득단가를 극단적으로 낮춤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LTV / CAC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6.7배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3.0배 (합격선)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en-US" sz="85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자본 효율 최상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외부 자금 스케일업의 재무 근거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재방문율 / 재구매율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70.6% / 38.9%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 45~50%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 70~80%+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트래픽 락인 강력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결제 재구매율 상향이 과제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1회 평균 객단가 (AOV)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22,808원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30,000~40,000원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25,000~60,000원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시급 과제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B2B·대량주문 전환 필요 (본 R&amp;D의 표적)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01968DB0-3CB8-0380-7C75-9C0641A74C97}"/>
              </a:ext>
            </a:extLst>
          </p:cNvPr>
          <p:cNvGrpSpPr/>
          <p:nvPr/>
        </p:nvGrpSpPr>
        <p:grpSpPr>
          <a:xfrm>
            <a:off x="369998" y="5248953"/>
            <a:ext cx="8404005" cy="432181"/>
            <a:chOff x="228200" y="5195685"/>
            <a:chExt cx="8658654" cy="432181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DE0523D2-FB1B-FBAA-1B24-778502A6DD20}"/>
                </a:ext>
              </a:extLst>
            </p:cNvPr>
            <p:cNvGrpSpPr/>
            <p:nvPr/>
          </p:nvGrpSpPr>
          <p:grpSpPr>
            <a:xfrm>
              <a:off x="228200" y="5206744"/>
              <a:ext cx="1067600" cy="421122"/>
              <a:chOff x="913516" y="4867263"/>
              <a:chExt cx="1067600" cy="421122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E12A5A2-2221-819C-3208-C4CD737A7297}"/>
                  </a:ext>
                </a:extLst>
              </p:cNvPr>
              <p:cNvSpPr txBox="1"/>
              <p:nvPr/>
            </p:nvSpPr>
            <p:spPr>
              <a:xfrm>
                <a:off x="1012261" y="4867263"/>
                <a:ext cx="870110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147,942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건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BF07002-39CB-5523-439D-9119D39BB68A}"/>
                  </a:ext>
                </a:extLst>
              </p:cNvPr>
              <p:cNvSpPr txBox="1"/>
              <p:nvPr/>
            </p:nvSpPr>
            <p:spPr>
              <a:xfrm>
                <a:off x="913516" y="5142191"/>
                <a:ext cx="1067600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총 방문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일평균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608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2D9A5446-17C2-47B1-9378-E6D29EF238AC}"/>
                </a:ext>
              </a:extLst>
            </p:cNvPr>
            <p:cNvGrpSpPr/>
            <p:nvPr/>
          </p:nvGrpSpPr>
          <p:grpSpPr>
            <a:xfrm>
              <a:off x="1753642" y="5206744"/>
              <a:ext cx="1064715" cy="421122"/>
              <a:chOff x="914959" y="4867263"/>
              <a:chExt cx="1064715" cy="421122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26B3CE0-FAAC-0173-2D02-A98108987B99}"/>
                  </a:ext>
                </a:extLst>
              </p:cNvPr>
              <p:cNvSpPr txBox="1"/>
              <p:nvPr/>
            </p:nvSpPr>
            <p:spPr>
              <a:xfrm>
                <a:off x="1226582" y="4867263"/>
                <a:ext cx="441468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3.2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만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E0113B3-C681-8154-74E5-7FF2B0BB67A8}"/>
                  </a:ext>
                </a:extLst>
              </p:cNvPr>
              <p:cNvSpPr txBox="1"/>
              <p:nvPr/>
            </p:nvSpPr>
            <p:spPr>
              <a:xfrm>
                <a:off x="914959" y="5142191"/>
                <a:ext cx="1064715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최고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MAU ('26.3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피크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581AF033-5C3A-F8C0-725D-54967EF6E43F}"/>
                </a:ext>
              </a:extLst>
            </p:cNvPr>
            <p:cNvGrpSpPr/>
            <p:nvPr/>
          </p:nvGrpSpPr>
          <p:grpSpPr>
            <a:xfrm>
              <a:off x="3353465" y="5206744"/>
              <a:ext cx="913070" cy="421122"/>
              <a:chOff x="990781" y="4867263"/>
              <a:chExt cx="913070" cy="421122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250F473-E532-0ABF-709C-5D4E7C44C7A3}"/>
                  </a:ext>
                </a:extLst>
              </p:cNvPr>
              <p:cNvSpPr txBox="1"/>
              <p:nvPr/>
            </p:nvSpPr>
            <p:spPr>
              <a:xfrm>
                <a:off x="1111006" y="4867263"/>
                <a:ext cx="672620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2,055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명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169B982-5F84-8CCE-29FF-EFA8073D18BD}"/>
                  </a:ext>
                </a:extLst>
              </p:cNvPr>
              <p:cNvSpPr txBox="1"/>
              <p:nvPr/>
            </p:nvSpPr>
            <p:spPr>
              <a:xfrm>
                <a:off x="990781" y="5142191"/>
                <a:ext cx="913070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최고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DAU ('26.3.9)</a:t>
                </a: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1B387619-9F22-2B1B-926D-EE551610342D}"/>
                </a:ext>
              </a:extLst>
            </p:cNvPr>
            <p:cNvGrpSpPr/>
            <p:nvPr/>
          </p:nvGrpSpPr>
          <p:grpSpPr>
            <a:xfrm>
              <a:off x="4850214" y="5206744"/>
              <a:ext cx="967573" cy="421122"/>
              <a:chOff x="963529" y="4867263"/>
              <a:chExt cx="967573" cy="421122"/>
            </a:xfrm>
          </p:grpSpPr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6AAA862C-4EBA-F1D4-85AE-91BE6CEE41C1}"/>
                  </a:ext>
                </a:extLst>
              </p:cNvPr>
              <p:cNvSpPr txBox="1"/>
              <p:nvPr/>
            </p:nvSpPr>
            <p:spPr>
              <a:xfrm>
                <a:off x="1166790" y="4867263"/>
                <a:ext cx="56105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2.94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1BC948D-615D-E46A-FB9A-FAF2E02A6EE7}"/>
                  </a:ext>
                </a:extLst>
              </p:cNvPr>
              <p:cNvSpPr txBox="1"/>
              <p:nvPr/>
            </p:nvSpPr>
            <p:spPr>
              <a:xfrm>
                <a:off x="963529" y="5142191"/>
                <a:ext cx="967573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장바구니당 평균 품목</a:t>
                </a: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8E1A1E16-BCBD-55C8-D16D-652B87D18943}"/>
                </a:ext>
              </a:extLst>
            </p:cNvPr>
            <p:cNvGrpSpPr/>
            <p:nvPr/>
          </p:nvGrpSpPr>
          <p:grpSpPr>
            <a:xfrm>
              <a:off x="6451680" y="5206744"/>
              <a:ext cx="661720" cy="421122"/>
              <a:chOff x="1116456" y="4867263"/>
              <a:chExt cx="661720" cy="421122"/>
            </a:xfrm>
          </p:grpSpPr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A76ADFF-EA4A-F2C4-94DA-DB042D14805F}"/>
                  </a:ext>
                </a:extLst>
              </p:cNvPr>
              <p:cNvSpPr txBox="1"/>
              <p:nvPr/>
            </p:nvSpPr>
            <p:spPr>
              <a:xfrm>
                <a:off x="1166790" y="4867263"/>
                <a:ext cx="56105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2.06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회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3E446B6-5C00-C504-0212-915BA7D142CB}"/>
                  </a:ext>
                </a:extLst>
              </p:cNvPr>
              <p:cNvSpPr txBox="1"/>
              <p:nvPr/>
            </p:nvSpPr>
            <p:spPr>
              <a:xfrm>
                <a:off x="1116456" y="5142191"/>
                <a:ext cx="661720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평균 구매 빈도</a:t>
                </a: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4613F0CF-A194-5A1B-658B-AD8577B5CB18}"/>
                </a:ext>
              </a:extLst>
            </p:cNvPr>
            <p:cNvGrpSpPr/>
            <p:nvPr/>
          </p:nvGrpSpPr>
          <p:grpSpPr>
            <a:xfrm>
              <a:off x="7664082" y="5206744"/>
              <a:ext cx="1222772" cy="421122"/>
              <a:chOff x="835930" y="4867263"/>
              <a:chExt cx="1222772" cy="421122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4543048-4987-876C-AFB6-0A316F411C0B}"/>
                  </a:ext>
                </a:extLst>
              </p:cNvPr>
              <p:cNvSpPr txBox="1"/>
              <p:nvPr/>
            </p:nvSpPr>
            <p:spPr>
              <a:xfrm>
                <a:off x="1050412" y="4867263"/>
                <a:ext cx="79380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47,084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원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BCEECAA-505B-55B4-59AD-201A9224E853}"/>
                  </a:ext>
                </a:extLst>
              </p:cNvPr>
              <p:cNvSpPr txBox="1"/>
              <p:nvPr/>
            </p:nvSpPr>
            <p:spPr>
              <a:xfrm>
                <a:off x="835930" y="5142191"/>
                <a:ext cx="1222772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실현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LTV 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결제자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ARPPU)</a:t>
                </a:r>
              </a:p>
            </p:txBody>
          </p: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58597E1B-5623-2DF0-D556-1BB1971803A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7070BDBB-71A6-358B-42C7-19D27B6505B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7289D0F9-4D77-4A61-3450-FF53A6EA7497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8A7CF414-22C7-8D65-92E4-D0056224E98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9B3E9920-A31F-CC6E-4BDE-BBCA6A7AED67}"/>
                </a:ext>
              </a:extLst>
            </p:cNvPr>
            <p:cNvCxnSpPr>
              <a:cxnSpLocks/>
            </p:cNvCxnSpPr>
            <p:nvPr/>
          </p:nvCxnSpPr>
          <p:spPr>
            <a:xfrm>
              <a:off x="746908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43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B72B8-B9FE-577D-35EC-54970D0A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1680037C-43E0-9D67-1085-AF0AF881A3D5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6893F3-2A66-ABE3-5D13-B138B39B195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03426B5-750D-F501-EDA5-D142751A9D0D}"/>
                </a:ext>
              </a:extLst>
            </p:cNvPr>
            <p:cNvGrpSpPr/>
            <p:nvPr/>
          </p:nvGrpSpPr>
          <p:grpSpPr>
            <a:xfrm>
              <a:off x="404618" y="922962"/>
              <a:ext cx="7717906" cy="523558"/>
              <a:chOff x="404618" y="928733"/>
              <a:chExt cx="7717906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EC2C77E-BF69-34D2-751E-11979424B69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9306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사내벤처 검증 → 법인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론칭 → 신보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3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→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TIPS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이어지는 일관된 성장 서사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De-Risked Investment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04C324-9F2D-0DEA-83EE-F8A4119C0E00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3590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(Phase 0·1)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은 끝났다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신보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위에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TIPS 8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억을 얹어 스케일업하는 최적 시점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F9DCD997-2264-073C-A4B1-AC48E4807E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969179-E438-921A-CA1C-BA008BAB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ECA98-779A-A475-8C96-07EAE153D01D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성장 히스토리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A82879-5D2F-C33F-EC1D-01204C4D19F8}"/>
              </a:ext>
            </a:extLst>
          </p:cNvPr>
          <p:cNvSpPr/>
          <p:nvPr/>
        </p:nvSpPr>
        <p:spPr>
          <a:xfrm>
            <a:off x="0" y="2187019"/>
            <a:ext cx="9144000" cy="18801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alpha val="27000"/>
                </a:schemeClr>
              </a:gs>
              <a:gs pos="100000">
                <a:schemeClr val="bg1">
                  <a:lumMod val="85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다리꼴 9">
            <a:extLst>
              <a:ext uri="{FF2B5EF4-FFF2-40B4-BE49-F238E27FC236}">
                <a16:creationId xmlns:a16="http://schemas.microsoft.com/office/drawing/2014/main" id="{2C8A7079-D981-BCB2-AC6D-07A6AC52FBDF}"/>
              </a:ext>
            </a:extLst>
          </p:cNvPr>
          <p:cNvSpPr/>
          <p:nvPr/>
        </p:nvSpPr>
        <p:spPr>
          <a:xfrm rot="16200000">
            <a:off x="3554558" y="4887623"/>
            <a:ext cx="2034886" cy="273626"/>
          </a:xfrm>
          <a:prstGeom prst="trapezoid">
            <a:avLst>
              <a:gd name="adj" fmla="val 44317"/>
            </a:avLst>
          </a:prstGeom>
          <a:gradFill>
            <a:gsLst>
              <a:gs pos="0">
                <a:srgbClr val="EC6570">
                  <a:alpha val="17000"/>
                </a:srgbClr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6AC7F3D-33CC-D2DC-9A1A-75FC74FC78FD}"/>
              </a:ext>
            </a:extLst>
          </p:cNvPr>
          <p:cNvSpPr/>
          <p:nvPr/>
        </p:nvSpPr>
        <p:spPr>
          <a:xfrm>
            <a:off x="342000" y="3905250"/>
            <a:ext cx="4093187" cy="2238375"/>
          </a:xfrm>
          <a:prstGeom prst="roundRect">
            <a:avLst>
              <a:gd name="adj" fmla="val 645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8FF48DB-FF9E-DED2-568C-8F217D6098B5}"/>
              </a:ext>
            </a:extLst>
          </p:cNvPr>
          <p:cNvSpPr/>
          <p:nvPr/>
        </p:nvSpPr>
        <p:spPr>
          <a:xfrm>
            <a:off x="4708813" y="3905250"/>
            <a:ext cx="4093187" cy="2238375"/>
          </a:xfrm>
          <a:prstGeom prst="roundRect">
            <a:avLst>
              <a:gd name="adj" fmla="val 6454"/>
            </a:avLst>
          </a:prstGeom>
          <a:solidFill>
            <a:schemeClr val="bg1"/>
          </a:solidFill>
          <a:ln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BA8D18-9647-EE6D-EC95-BE53EF3A0EF7}"/>
              </a:ext>
            </a:extLst>
          </p:cNvPr>
          <p:cNvGrpSpPr/>
          <p:nvPr/>
        </p:nvGrpSpPr>
        <p:grpSpPr>
          <a:xfrm>
            <a:off x="342000" y="2253694"/>
            <a:ext cx="8592053" cy="1487204"/>
            <a:chOff x="342000" y="2253694"/>
            <a:chExt cx="8592053" cy="1487204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E80463A-4508-D369-BB2C-8A402E065BA7}"/>
                </a:ext>
              </a:extLst>
            </p:cNvPr>
            <p:cNvSpPr/>
            <p:nvPr/>
          </p:nvSpPr>
          <p:spPr>
            <a:xfrm>
              <a:off x="342000" y="2253694"/>
              <a:ext cx="2650703" cy="289481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DB8F12-FABD-41B2-1413-40F7A5EC9ACB}"/>
                </a:ext>
              </a:extLst>
            </p:cNvPr>
            <p:cNvSpPr txBox="1"/>
            <p:nvPr/>
          </p:nvSpPr>
          <p:spPr>
            <a:xfrm>
              <a:off x="479160" y="2313795"/>
              <a:ext cx="1321516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Phase 0 : 2023~2024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069596A-1E7B-868E-ED3B-18B14F69C38D}"/>
                </a:ext>
              </a:extLst>
            </p:cNvPr>
            <p:cNvGrpSpPr/>
            <p:nvPr/>
          </p:nvGrpSpPr>
          <p:grpSpPr>
            <a:xfrm>
              <a:off x="479160" y="2657966"/>
              <a:ext cx="1857240" cy="726938"/>
              <a:chOff x="903774" y="2696066"/>
              <a:chExt cx="1857240" cy="72693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0DC916-23B7-ED35-6A2A-E88980B44FDD}"/>
                  </a:ext>
                </a:extLst>
              </p:cNvPr>
              <p:cNvSpPr txBox="1"/>
              <p:nvPr/>
            </p:nvSpPr>
            <p:spPr>
              <a:xfrm>
                <a:off x="903774" y="2696066"/>
                <a:ext cx="597921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가설 검증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87B061-D1D8-BD8D-DFAA-A06081838D7E}"/>
                  </a:ext>
                </a:extLst>
              </p:cNvPr>
              <p:cNvSpPr txBox="1"/>
              <p:nvPr/>
            </p:nvSpPr>
            <p:spPr>
              <a:xfrm>
                <a:off x="903774" y="2951336"/>
                <a:ext cx="1857240" cy="471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90000" marR="0" lvl="0" indent="-90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 사내벤처로 출발</a:t>
                </a:r>
              </a:p>
              <a:p>
                <a:pPr marL="90000" marR="0" lvl="0" indent="-90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임직원 테스트베드에서 디저트 큐레이션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중개 모델 가능성 확인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2D94810-E52B-8187-F4A4-717B3FA7C48B}"/>
                </a:ext>
              </a:extLst>
            </p:cNvPr>
            <p:cNvGrpSpPr/>
            <p:nvPr/>
          </p:nvGrpSpPr>
          <p:grpSpPr>
            <a:xfrm>
              <a:off x="3246648" y="2253694"/>
              <a:ext cx="2650703" cy="1309207"/>
              <a:chOff x="3246648" y="2253694"/>
              <a:chExt cx="2650703" cy="1309207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256B9ACB-AD32-5DE8-4A3D-9A6981D9E524}"/>
                  </a:ext>
                </a:extLst>
              </p:cNvPr>
              <p:cNvSpPr/>
              <p:nvPr/>
            </p:nvSpPr>
            <p:spPr>
              <a:xfrm>
                <a:off x="3246648" y="2253694"/>
                <a:ext cx="2650703" cy="289481"/>
              </a:xfrm>
              <a:prstGeom prst="roundRect">
                <a:avLst/>
              </a:prstGeom>
              <a:solidFill>
                <a:srgbClr val="438DD1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68EE7B-FB35-6B84-3466-ABEEE1A04E40}"/>
                  </a:ext>
                </a:extLst>
              </p:cNvPr>
              <p:cNvSpPr txBox="1"/>
              <p:nvPr/>
            </p:nvSpPr>
            <p:spPr>
              <a:xfrm>
                <a:off x="3383808" y="2313796"/>
                <a:ext cx="88069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1 : 2025</a:t>
                </a:r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A6100022-FE5C-ACB3-3246-5801D1CA7F65}"/>
                  </a:ext>
                </a:extLst>
              </p:cNvPr>
              <p:cNvGrpSpPr/>
              <p:nvPr/>
            </p:nvGrpSpPr>
            <p:grpSpPr>
              <a:xfrm>
                <a:off x="3383808" y="2657966"/>
                <a:ext cx="1842492" cy="904935"/>
                <a:chOff x="903774" y="2696066"/>
                <a:chExt cx="1842492" cy="904935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70964BE-7F73-6C9A-D701-54E0E8BDAE01}"/>
                    </a:ext>
                  </a:extLst>
                </p:cNvPr>
                <p:cNvSpPr txBox="1"/>
                <p:nvPr/>
              </p:nvSpPr>
              <p:spPr>
                <a:xfrm>
                  <a:off x="903774" y="2696066"/>
                  <a:ext cx="1309333" cy="200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시장 진입 </a:t>
                  </a:r>
                  <a:r>
                    <a:rPr kumimoji="0" lang="en-US" altLang="ko-KR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기반 구축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6E31B40-7C9B-E65D-0B65-2A8B0CC41DE7}"/>
                    </a:ext>
                  </a:extLst>
                </p:cNvPr>
                <p:cNvSpPr txBox="1"/>
                <p:nvPr/>
              </p:nvSpPr>
              <p:spPr>
                <a:xfrm>
                  <a:off x="903774" y="2951336"/>
                  <a:ext cx="1842492" cy="6496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법인 설립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딸기로픽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B2C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론칭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(8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월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수동 운영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(Manual Ops)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으로 시장성 검증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전환율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49.5% 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재방문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70.6%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신용보증기금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R&amp;D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자금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유치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(12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월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7292A1A-87C9-2DE9-B625-9CA130E3669F}"/>
                </a:ext>
              </a:extLst>
            </p:cNvPr>
            <p:cNvGrpSpPr/>
            <p:nvPr/>
          </p:nvGrpSpPr>
          <p:grpSpPr>
            <a:xfrm>
              <a:off x="6151297" y="2253694"/>
              <a:ext cx="2782756" cy="1487204"/>
              <a:chOff x="6151297" y="2253694"/>
              <a:chExt cx="2782756" cy="1487204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30B25C02-163B-842E-F940-44DD27C97067}"/>
                  </a:ext>
                </a:extLst>
              </p:cNvPr>
              <p:cNvSpPr/>
              <p:nvPr/>
            </p:nvSpPr>
            <p:spPr>
              <a:xfrm>
                <a:off x="6151297" y="2253694"/>
                <a:ext cx="2650703" cy="289481"/>
              </a:xfrm>
              <a:prstGeom prst="roundRect">
                <a:avLst/>
              </a:prstGeom>
              <a:solidFill>
                <a:srgbClr val="EC6570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982CA5-3B88-A3D1-A864-14A872050A42}"/>
                  </a:ext>
                </a:extLst>
              </p:cNvPr>
              <p:cNvSpPr txBox="1"/>
              <p:nvPr/>
            </p:nvSpPr>
            <p:spPr>
              <a:xfrm>
                <a:off x="6288457" y="2313796"/>
                <a:ext cx="138018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2 : 2026 (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본과제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4DDABAAC-61BC-802C-7061-7D03233158EF}"/>
                  </a:ext>
                </a:extLst>
              </p:cNvPr>
              <p:cNvGrpSpPr/>
              <p:nvPr/>
            </p:nvGrpSpPr>
            <p:grpSpPr>
              <a:xfrm>
                <a:off x="6288457" y="2657966"/>
                <a:ext cx="2645596" cy="1082932"/>
                <a:chOff x="903774" y="2696066"/>
                <a:chExt cx="2645596" cy="1082932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AB1CE1F-1AC1-BDF8-2676-3A977A60FE38}"/>
                    </a:ext>
                  </a:extLst>
                </p:cNvPr>
                <p:cNvSpPr txBox="1"/>
                <p:nvPr/>
              </p:nvSpPr>
              <p:spPr>
                <a:xfrm>
                  <a:off x="903774" y="2696066"/>
                  <a:ext cx="878767" cy="200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스케일업 원년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A01C3C6-45CC-5938-F215-020538B0C88F}"/>
                    </a:ext>
                  </a:extLst>
                </p:cNvPr>
                <p:cNvSpPr txBox="1"/>
                <p:nvPr/>
              </p:nvSpPr>
              <p:spPr>
                <a:xfrm>
                  <a:off x="903774" y="2951336"/>
                  <a:ext cx="2645596" cy="827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신보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+ TIPS 8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=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성장 엔진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B2B/B2B2C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확장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AI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자동매칭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1·2)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으로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기하급수적 성장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B2B 단체주문 오픈베타 운영 → 수작업 병목 확인 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AI 자동매칭 개발 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사람이 처리 불가능한 규모의 주문 매칭</a:t>
                  </a:r>
                </a:p>
              </p:txBody>
            </p:sp>
          </p:grpSp>
        </p:grpSp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4DFA6186-036E-D8ED-7FE1-E57E91CA2B3A}"/>
                </a:ext>
              </a:extLst>
            </p:cNvPr>
            <p:cNvSpPr/>
            <p:nvPr/>
          </p:nvSpPr>
          <p:spPr>
            <a:xfrm>
              <a:off x="2992703" y="2315767"/>
              <a:ext cx="221986" cy="165335"/>
            </a:xfrm>
            <a:prstGeom prst="rightArrow">
              <a:avLst>
                <a:gd name="adj1" fmla="val 61902"/>
                <a:gd name="adj2" fmla="val 57142"/>
              </a:avLst>
            </a:prstGeom>
            <a:gradFill flip="none" rotWithShape="1">
              <a:gsLst>
                <a:gs pos="11000">
                  <a:srgbClr val="438DD1"/>
                </a:gs>
                <a:gs pos="100000">
                  <a:srgbClr val="438DD1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95D40707-181D-D002-0983-ECA49C27A110}"/>
                </a:ext>
              </a:extLst>
            </p:cNvPr>
            <p:cNvSpPr/>
            <p:nvPr/>
          </p:nvSpPr>
          <p:spPr>
            <a:xfrm>
              <a:off x="5897351" y="2315767"/>
              <a:ext cx="221986" cy="165335"/>
            </a:xfrm>
            <a:prstGeom prst="rightArrow">
              <a:avLst>
                <a:gd name="adj1" fmla="val 61902"/>
                <a:gd name="adj2" fmla="val 57142"/>
              </a:avLst>
            </a:prstGeom>
            <a:gradFill flip="none" rotWithShape="1">
              <a:gsLst>
                <a:gs pos="11000">
                  <a:srgbClr val="EC6570"/>
                </a:gs>
                <a:gs pos="100000">
                  <a:srgbClr val="EC657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C235159-E8F8-07F1-9A9A-6F0B8BF1BAC6}"/>
              </a:ext>
            </a:extLst>
          </p:cNvPr>
          <p:cNvSpPr txBox="1"/>
          <p:nvPr/>
        </p:nvSpPr>
        <p:spPr>
          <a:xfrm>
            <a:off x="938516" y="4065270"/>
            <a:ext cx="2900154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냉정한 진단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수작업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·B2C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구조의 물리적 한계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A8080C0-EC99-0147-02C2-4AF616AD11DF}"/>
              </a:ext>
            </a:extLst>
          </p:cNvPr>
          <p:cNvGrpSpPr/>
          <p:nvPr/>
        </p:nvGrpSpPr>
        <p:grpSpPr>
          <a:xfrm>
            <a:off x="438575" y="4374086"/>
            <a:ext cx="3900037" cy="1672159"/>
            <a:chOff x="438575" y="4278836"/>
            <a:chExt cx="3900037" cy="1672159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7FBE1123-E5EC-31D0-03E2-54CC5C26E5BC}"/>
                </a:ext>
              </a:extLst>
            </p:cNvPr>
            <p:cNvSpPr/>
            <p:nvPr/>
          </p:nvSpPr>
          <p:spPr>
            <a:xfrm>
              <a:off x="438575" y="4278836"/>
              <a:ext cx="3900037" cy="1672159"/>
            </a:xfrm>
            <a:prstGeom prst="roundRect">
              <a:avLst>
                <a:gd name="adj" fmla="val 4929"/>
              </a:avLst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A2598093-899D-C8D8-21A7-A0B4FABDC4C5}"/>
                </a:ext>
              </a:extLst>
            </p:cNvPr>
            <p:cNvGrpSpPr/>
            <p:nvPr/>
          </p:nvGrpSpPr>
          <p:grpSpPr>
            <a:xfrm>
              <a:off x="603239" y="4436271"/>
              <a:ext cx="3570708" cy="1357288"/>
              <a:chOff x="603239" y="4424505"/>
              <a:chExt cx="3570708" cy="1357288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6C30A4E-2EAA-29CE-1176-5049154EC222}"/>
                  </a:ext>
                </a:extLst>
              </p:cNvPr>
              <p:cNvSpPr txBox="1"/>
              <p:nvPr/>
            </p:nvSpPr>
            <p:spPr>
              <a:xfrm>
                <a:off x="631560" y="4424505"/>
                <a:ext cx="3075842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낮은 객단가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AOV 22,808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원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버티컬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3~4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만원 대비 열위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b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변동비 제하면 첫 구매 공헌이익이 매우 타이트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3AC8EE-0160-BFF8-11F9-996617F625A1}"/>
                  </a:ext>
                </a:extLst>
              </p:cNvPr>
              <p:cNvSpPr txBox="1"/>
              <p:nvPr/>
            </p:nvSpPr>
            <p:spPr>
              <a:xfrm>
                <a:off x="631560" y="4943617"/>
                <a:ext cx="2012730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구경은 오지만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매번 결제하진 않는다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“</a:t>
                </a:r>
                <a:b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재방문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70.6% vs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재구매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38.9%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간극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8A1740-9ABA-8C2E-567F-2BA9BBC1547C}"/>
                  </a:ext>
                </a:extLst>
              </p:cNvPr>
              <p:cNvSpPr txBox="1"/>
              <p:nvPr/>
            </p:nvSpPr>
            <p:spPr>
              <a:xfrm>
                <a:off x="631560" y="5462731"/>
                <a:ext cx="1678023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100%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인력 의존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수동 큐레이션</a:t>
                </a:r>
                <a:b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폭발적 매출 확대에 물리적 한계</a:t>
                </a:r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F19AA092-D36B-42C7-AFD3-6D65FCFFB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239" y="4843592"/>
                <a:ext cx="357070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37B3A392-056B-F060-C43E-FF50CD505B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239" y="5362704"/>
                <a:ext cx="357070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E2B9478-E74B-F15B-DE3F-13F6F7467BC4}"/>
              </a:ext>
            </a:extLst>
          </p:cNvPr>
          <p:cNvSpPr txBox="1"/>
          <p:nvPr/>
        </p:nvSpPr>
        <p:spPr>
          <a:xfrm>
            <a:off x="5249064" y="4065270"/>
            <a:ext cx="3012684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[R&amp;D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당위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한계를 기술로 돌파하는 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과제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19399E24-7001-1CC7-1A7C-2FF5FDAB3068}"/>
              </a:ext>
            </a:extLst>
          </p:cNvPr>
          <p:cNvSpPr/>
          <p:nvPr/>
        </p:nvSpPr>
        <p:spPr>
          <a:xfrm>
            <a:off x="4805388" y="4374086"/>
            <a:ext cx="3900037" cy="1672159"/>
          </a:xfrm>
          <a:prstGeom prst="roundRect">
            <a:avLst>
              <a:gd name="adj" fmla="val 4929"/>
            </a:avLst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7075027-2147-1F36-7C92-0C1D2DF00351}"/>
              </a:ext>
            </a:extLst>
          </p:cNvPr>
          <p:cNvGrpSpPr/>
          <p:nvPr/>
        </p:nvGrpSpPr>
        <p:grpSpPr>
          <a:xfrm>
            <a:off x="4970052" y="4519755"/>
            <a:ext cx="3570708" cy="1380820"/>
            <a:chOff x="4970052" y="4436271"/>
            <a:chExt cx="3570708" cy="1380820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9A70E5-87A6-F19F-EC02-A59D94B42459}"/>
                </a:ext>
              </a:extLst>
            </p:cNvPr>
            <p:cNvSpPr txBox="1"/>
            <p:nvPr/>
          </p:nvSpPr>
          <p:spPr>
            <a:xfrm>
              <a:off x="4998373" y="4436271"/>
              <a:ext cx="3323026" cy="342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수요예측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 큐레이션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1)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</a:t>
              </a:r>
              <a:b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고단가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대량의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B2B/B2B2C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시장 개방 →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AOV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병목 직접 해소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929ABAA-4A02-2AE8-8C90-9A77A5CBEBDD}"/>
                </a:ext>
              </a:extLst>
            </p:cNvPr>
            <p:cNvSpPr txBox="1"/>
            <p:nvPr/>
          </p:nvSpPr>
          <p:spPr>
            <a:xfrm>
              <a:off x="4998373" y="4955385"/>
              <a:ext cx="3138680" cy="342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자연어 추천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랭킹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2)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</a:t>
              </a:r>
              <a:b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재방문 트래픽을 결제 재구매로 전환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코어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45~50%+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목표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C9436F4-3955-EC59-0F00-71D52CE77306}"/>
                </a:ext>
              </a:extLst>
            </p:cNvPr>
            <p:cNvSpPr txBox="1"/>
            <p:nvPr/>
          </p:nvSpPr>
          <p:spPr>
            <a:xfrm>
              <a:off x="4998373" y="5474497"/>
              <a:ext cx="2380460" cy="342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수동 매칭 →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자동화로 변동비 통제</a:t>
              </a:r>
              <a:b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매출이 늘수록 이익률이 급증하는 구조 완성</a:t>
              </a: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55ABBDE5-2761-BD00-EE73-3EB423F6F2D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052" y="4867125"/>
              <a:ext cx="3570708" cy="0"/>
            </a:xfrm>
            <a:prstGeom prst="line">
              <a:avLst/>
            </a:prstGeom>
            <a:ln>
              <a:solidFill>
                <a:srgbClr val="EC657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40CFC3B2-ECBF-663F-1281-726C7A4522B0}"/>
                </a:ext>
              </a:extLst>
            </p:cNvPr>
            <p:cNvCxnSpPr>
              <a:cxnSpLocks/>
            </p:cNvCxnSpPr>
            <p:nvPr/>
          </p:nvCxnSpPr>
          <p:spPr>
            <a:xfrm>
              <a:off x="4970052" y="5386239"/>
              <a:ext cx="3570708" cy="0"/>
            </a:xfrm>
            <a:prstGeom prst="line">
              <a:avLst/>
            </a:prstGeom>
            <a:ln>
              <a:solidFill>
                <a:srgbClr val="EC657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E3E53041-EF36-97C4-38F7-FCDFAB329B4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</p:spTree>
    <p:extLst>
      <p:ext uri="{BB962C8B-B14F-4D97-AF65-F5344CB8AC3E}">
        <p14:creationId xmlns:p14="http://schemas.microsoft.com/office/powerpoint/2010/main" val="28404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9F61-0B7B-9A1D-A376-E02811A4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60D7FA-2E5C-BC6B-95E1-955FDC4A8880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5647482-06C1-C5D7-5FA9-11E17655761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683358A-45EF-02E3-8BBA-391813D63DEA}"/>
                </a:ext>
              </a:extLst>
            </p:cNvPr>
            <p:cNvGrpSpPr/>
            <p:nvPr/>
          </p:nvGrpSpPr>
          <p:grpSpPr>
            <a:xfrm>
              <a:off x="404618" y="922962"/>
              <a:ext cx="8529579" cy="523558"/>
              <a:chOff x="404618" y="928733"/>
              <a:chExt cx="852957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A7E67E-8C0A-B6C3-51DD-5B50C2F850C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5295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이제 B2B/B2B2C 단체주문 확장 과정의 수작업 상담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일정조율 병목을 AI 트렌드 분석·수요예측·단체주문 매칭 기술로 해결하는 R&amp;D입니다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262B8B9-BC8E-3A58-9872-13DE4502AAA9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312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 오픈베타로 수요·공급을 검증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하고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상담·견적·전환 데이터를 R&amp;D 학습 자산으로 축적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E911468-FEEC-8A01-C662-AEEA51176F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9C423-32F7-1386-1FC3-383EBED7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AAB29-9835-BB92-25FF-FCBF8338FA31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B2B/B2B2C 단체주문 오픈베타 운영 구조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Open Beta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B7F53B-E72C-F9F0-2F10-958E4C50CB12}"/>
              </a:ext>
            </a:extLst>
          </p:cNvPr>
          <p:cNvGrpSpPr/>
          <p:nvPr/>
        </p:nvGrpSpPr>
        <p:grpSpPr>
          <a:xfrm>
            <a:off x="342000" y="5428925"/>
            <a:ext cx="8460000" cy="799572"/>
            <a:chOff x="342000" y="5372364"/>
            <a:chExt cx="8460000" cy="79957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93AC8D-5107-7D4B-1BDD-13FBE78009FE}"/>
                </a:ext>
              </a:extLst>
            </p:cNvPr>
            <p:cNvSpPr/>
            <p:nvPr/>
          </p:nvSpPr>
          <p:spPr>
            <a:xfrm>
              <a:off x="342000" y="5372364"/>
              <a:ext cx="8460000" cy="799572"/>
            </a:xfrm>
            <a:prstGeom prst="roundRect">
              <a:avLst>
                <a:gd name="adj" fmla="val 9736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FB1EA8-0B91-0D09-BF47-46147FDA9696}"/>
                </a:ext>
              </a:extLst>
            </p:cNvPr>
            <p:cNvSpPr txBox="1"/>
            <p:nvPr/>
          </p:nvSpPr>
          <p:spPr>
            <a:xfrm>
              <a:off x="596265" y="5551577"/>
              <a:ext cx="913070" cy="4411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검증 원칙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수작업 → AI 전환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1FA7342-55B9-14C0-225C-61487B3BC013}"/>
                </a:ext>
              </a:extLst>
            </p:cNvPr>
            <p:cNvGrpSpPr/>
            <p:nvPr/>
          </p:nvGrpSpPr>
          <p:grpSpPr>
            <a:xfrm>
              <a:off x="2082165" y="5573137"/>
              <a:ext cx="5323893" cy="398026"/>
              <a:chOff x="2082165" y="5474002"/>
              <a:chExt cx="5323893" cy="39802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DB64E3-3781-F1B1-7954-F1098D6184F2}"/>
                  </a:ext>
                </a:extLst>
              </p:cNvPr>
              <p:cNvSpPr txBox="1"/>
              <p:nvPr/>
            </p:nvSpPr>
            <p:spPr>
              <a:xfrm>
                <a:off x="2082165" y="5702751"/>
                <a:ext cx="395717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초기에는 수작업으로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 수요와 공급 가능성을 검증합니다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2DC70-ECB5-E6AD-A659-B656BBD6B386}"/>
                  </a:ext>
                </a:extLst>
              </p:cNvPr>
              <p:cNvSpPr txBox="1"/>
              <p:nvPr/>
            </p:nvSpPr>
            <p:spPr>
              <a:xfrm>
                <a:off x="2082165" y="5474002"/>
                <a:ext cx="53238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⑥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상담·견적·수락/거절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전환 데이터를 ① R&amp;D 학습데이터로 축적 → AI 수요예측·단체주문 매칭 모델 학습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E3E4CB4-E902-B778-BBFD-6EAF65E4186D}"/>
              </a:ext>
            </a:extLst>
          </p:cNvPr>
          <p:cNvGrpSpPr/>
          <p:nvPr/>
        </p:nvGrpSpPr>
        <p:grpSpPr>
          <a:xfrm>
            <a:off x="342000" y="2233058"/>
            <a:ext cx="2643861" cy="1377408"/>
            <a:chOff x="342000" y="2233058"/>
            <a:chExt cx="2643861" cy="137740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91CFF2D-3EA5-93CA-3B21-4D601ADC667E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906CBF2-C864-7332-0E6E-D4E76901A88C}"/>
                </a:ext>
              </a:extLst>
            </p:cNvPr>
            <p:cNvGrpSpPr/>
            <p:nvPr/>
          </p:nvGrpSpPr>
          <p:grpSpPr>
            <a:xfrm>
              <a:off x="521764" y="2712753"/>
              <a:ext cx="2184893" cy="723383"/>
              <a:chOff x="659877" y="2435576"/>
              <a:chExt cx="2184893" cy="72338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1ABD20-BAED-A6AA-2FF6-C8C1AEB77BEA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단체주문 리드 유입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5729A5-EAE6-9931-A303-82B071E84C2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8489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 B2C 회원 4,800명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 앱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 영업현장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지점 간식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설계사 활동용품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기업·아파트·학교·학원·커뮤니티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 상담 신청</a:t>
                </a:r>
              </a:p>
            </p:txBody>
          </p:sp>
        </p:grp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3A7FC93-74AF-1314-913C-BA28D7B616FC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BEEB47-AE6B-6644-80B7-21D0612089C7}"/>
                </a:ext>
              </a:extLst>
            </p:cNvPr>
            <p:cNvSpPr txBox="1"/>
            <p:nvPr/>
          </p:nvSpPr>
          <p:spPr>
            <a:xfrm>
              <a:off x="2364826" y="2389789"/>
              <a:ext cx="40908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01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0B66577-5D62-A7D3-EDD9-774D0C94B353}"/>
              </a:ext>
            </a:extLst>
          </p:cNvPr>
          <p:cNvGrpSpPr/>
          <p:nvPr/>
        </p:nvGrpSpPr>
        <p:grpSpPr>
          <a:xfrm>
            <a:off x="6158139" y="3892175"/>
            <a:ext cx="2643861" cy="1377408"/>
            <a:chOff x="6158139" y="3892175"/>
            <a:chExt cx="2643861" cy="1377408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E6E5716-E05B-E066-66A0-705C9AC7121B}"/>
                </a:ext>
              </a:extLst>
            </p:cNvPr>
            <p:cNvSpPr/>
            <p:nvPr/>
          </p:nvSpPr>
          <p:spPr>
            <a:xfrm>
              <a:off x="6158139" y="3892175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rgbClr val="EC6570">
                <a:alpha val="10000"/>
              </a:srgbClr>
            </a:solidFill>
            <a:ln w="1270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98A472E-CC3E-610F-C983-BE0246C603C9}"/>
                </a:ext>
              </a:extLst>
            </p:cNvPr>
            <p:cNvGrpSpPr/>
            <p:nvPr/>
          </p:nvGrpSpPr>
          <p:grpSpPr>
            <a:xfrm>
              <a:off x="6337903" y="4371870"/>
              <a:ext cx="2161810" cy="723383"/>
              <a:chOff x="659877" y="2435576"/>
              <a:chExt cx="2161810" cy="723383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F1BA8F-CBA9-241F-C62B-8C36040BE6D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1490793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상품 추천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제안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수작업)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C37EB34-96FF-758B-DA5D-DBD87BE6027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6181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후보 상품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큐레이션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옵션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견적 비교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제안자료·견적 문구 매번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수작업 작성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(담당자 경험 의존)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 채택/미채택 사유 기록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로그)</a:t>
                </a:r>
              </a:p>
            </p:txBody>
          </p:sp>
        </p:grp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44E6B5A-9A90-1610-C1B1-71CE8E45A16E}"/>
                </a:ext>
              </a:extLst>
            </p:cNvPr>
            <p:cNvSpPr/>
            <p:nvPr/>
          </p:nvSpPr>
          <p:spPr>
            <a:xfrm>
              <a:off x="8078327" y="4005442"/>
              <a:ext cx="614362" cy="225426"/>
            </a:xfrm>
            <a:prstGeom prst="roundRect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493EC3-7D81-B0AF-5F7C-6EBA9EDCA89F}"/>
                </a:ext>
              </a:extLst>
            </p:cNvPr>
            <p:cNvSpPr txBox="1"/>
            <p:nvPr/>
          </p:nvSpPr>
          <p:spPr>
            <a:xfrm>
              <a:off x="8170545" y="4048906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04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28EAAE6-5DD2-D72E-A916-276AF264F7CA}"/>
              </a:ext>
            </a:extLst>
          </p:cNvPr>
          <p:cNvGrpSpPr/>
          <p:nvPr/>
        </p:nvGrpSpPr>
        <p:grpSpPr>
          <a:xfrm>
            <a:off x="6158139" y="2233058"/>
            <a:ext cx="2643861" cy="1377408"/>
            <a:chOff x="342000" y="2233058"/>
            <a:chExt cx="2643861" cy="1377408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D8722E89-2C0B-36F8-CED2-3116A5A5A64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9A776E6-EBDF-E6FC-7151-ECC7956CD2CA}"/>
                </a:ext>
              </a:extLst>
            </p:cNvPr>
            <p:cNvGrpSpPr/>
            <p:nvPr/>
          </p:nvGrpSpPr>
          <p:grpSpPr>
            <a:xfrm>
              <a:off x="521764" y="2712753"/>
              <a:ext cx="2272738" cy="723383"/>
              <a:chOff x="659877" y="2435576"/>
              <a:chExt cx="2272738" cy="723383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AEDE4E8-9F08-960A-C41C-CE4A183448C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입점사 공급 확인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0DF2B6F-4B25-017A-2C37-F7D6D46B29BA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272738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생산 가능량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MOQ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리드타임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포장 조건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개별 확인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전화·메신저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수작업 문의)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조건 파편화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수락/거절 사유 기록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제약 DB의 원천 데이터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32D142E3-DA2D-4411-2F01-801D24018EB6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99E8B93-8152-EF5C-232B-0332858551F8}"/>
                </a:ext>
              </a:extLst>
            </p:cNvPr>
            <p:cNvSpPr txBox="1"/>
            <p:nvPr/>
          </p:nvSpPr>
          <p:spPr>
            <a:xfrm>
              <a:off x="2355208" y="2389789"/>
              <a:ext cx="42832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03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E93F8A-07A2-9118-0835-43332D71D4E2}"/>
              </a:ext>
            </a:extLst>
          </p:cNvPr>
          <p:cNvGrpSpPr/>
          <p:nvPr/>
        </p:nvGrpSpPr>
        <p:grpSpPr>
          <a:xfrm>
            <a:off x="342000" y="3892175"/>
            <a:ext cx="2643861" cy="1377408"/>
            <a:chOff x="342000" y="2233058"/>
            <a:chExt cx="2643861" cy="1377408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E0128A60-D6ED-B6ED-36F8-B6703CA5261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3C7896B-ECB3-2CC3-40E3-51C27ACD1C5C}"/>
                </a:ext>
              </a:extLst>
            </p:cNvPr>
            <p:cNvGrpSpPr/>
            <p:nvPr/>
          </p:nvGrpSpPr>
          <p:grpSpPr>
            <a:xfrm>
              <a:off x="521764" y="2712753"/>
              <a:ext cx="1730923" cy="723383"/>
              <a:chOff x="659877" y="2435576"/>
              <a:chExt cx="1730923" cy="723383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B7403B3-05E5-393E-EADA-B6502EF9F9E0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488595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축적 → AI 학습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B31DC54-22C8-0129-3562-394BA0321F7B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73092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 · 견적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수락/거절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주문 전환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로그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수요예측 · 단체주문 매칭 모델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학습데이터로 환류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1·2 R&amp;D로 직결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(다음 장 : 병목 분석)</a:t>
                </a:r>
              </a:p>
            </p:txBody>
          </p:sp>
        </p:grp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8DDEDD17-A41A-B2B3-6A65-C788051C43CE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4A4DCFF-E2B0-CB04-04AA-90FDBCEEA956}"/>
                </a:ext>
              </a:extLst>
            </p:cNvPr>
            <p:cNvSpPr txBox="1"/>
            <p:nvPr/>
          </p:nvSpPr>
          <p:spPr>
            <a:xfrm>
              <a:off x="2354406" y="2389789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06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0870BD0-611E-8F1D-D9B1-94FA47691941}"/>
              </a:ext>
            </a:extLst>
          </p:cNvPr>
          <p:cNvGrpSpPr/>
          <p:nvPr/>
        </p:nvGrpSpPr>
        <p:grpSpPr>
          <a:xfrm>
            <a:off x="3250070" y="3892175"/>
            <a:ext cx="2643861" cy="1377408"/>
            <a:chOff x="342000" y="2233058"/>
            <a:chExt cx="2643861" cy="1377408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1A24B082-734F-7CF5-1F1F-30A2C4394AA5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B7369F12-74C7-F166-F6B1-EC9FFA626CEE}"/>
                </a:ext>
              </a:extLst>
            </p:cNvPr>
            <p:cNvGrpSpPr/>
            <p:nvPr/>
          </p:nvGrpSpPr>
          <p:grpSpPr>
            <a:xfrm>
              <a:off x="521764" y="2712753"/>
              <a:ext cx="2215350" cy="723383"/>
              <a:chOff x="659877" y="2435576"/>
              <a:chExt cx="2215350" cy="723383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3400619-1211-3A2A-B29E-A7A72716667C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69249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주문 확정 · 배송 · CS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6F514D-3B95-B87F-7BCE-17F4EA57DFC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21535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희망일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×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생산 가능일 수작업 조율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결제 · 배송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사후관리(CS)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재주문 의향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CS 이력까지 데이터화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8B0C2C5E-6AF7-E6DF-A7E0-C09DD6BECCA3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31F4513-5167-9F1F-A14E-894004148E4B}"/>
                </a:ext>
              </a:extLst>
            </p:cNvPr>
            <p:cNvSpPr txBox="1"/>
            <p:nvPr/>
          </p:nvSpPr>
          <p:spPr>
            <a:xfrm>
              <a:off x="2356009" y="2389789"/>
              <a:ext cx="42672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05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46043248-9050-A2E2-B8D8-5C8849203114}"/>
              </a:ext>
            </a:extLst>
          </p:cNvPr>
          <p:cNvGrpSpPr/>
          <p:nvPr/>
        </p:nvGrpSpPr>
        <p:grpSpPr>
          <a:xfrm>
            <a:off x="3250070" y="2233058"/>
            <a:ext cx="2643861" cy="1377408"/>
            <a:chOff x="342000" y="2233058"/>
            <a:chExt cx="2643861" cy="1377408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DF0C8C71-3988-273D-9B33-4ABDA134DE81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EA5109E-5773-6D3B-FCFA-00306635B254}"/>
                </a:ext>
              </a:extLst>
            </p:cNvPr>
            <p:cNvGrpSpPr/>
            <p:nvPr/>
          </p:nvGrpSpPr>
          <p:grpSpPr>
            <a:xfrm>
              <a:off x="521764" y="2712753"/>
              <a:ext cx="1948290" cy="723383"/>
              <a:chOff x="659877" y="2435576"/>
              <a:chExt cx="1948290" cy="723383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188E2FC-29C8-B2A5-AE6C-4A77D6241E53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94545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요청조건 확인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상담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D859A00-6FFE-45A1-9767-AEE20AC197A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94829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목적 · 예산 · 인원 · 수령일 · 배송지 확인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비정형 요청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상담으로 조건 구조화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 로그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전건 기록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B2B 학습데이터의 원천</a:t>
                </a:r>
              </a:p>
            </p:txBody>
          </p:sp>
        </p:grp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720E4886-6739-91F1-3B95-66DFFC459645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E3796A-403C-CE8A-FB7F-CD7E3212690D}"/>
                </a:ext>
              </a:extLst>
            </p:cNvPr>
            <p:cNvSpPr txBox="1"/>
            <p:nvPr/>
          </p:nvSpPr>
          <p:spPr>
            <a:xfrm>
              <a:off x="2356811" y="2389789"/>
              <a:ext cx="42511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02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20" name="화살표: 아래쪽 119">
            <a:extLst>
              <a:ext uri="{FF2B5EF4-FFF2-40B4-BE49-F238E27FC236}">
                <a16:creationId xmlns:a16="http://schemas.microsoft.com/office/drawing/2014/main" id="{D1327AE4-6E21-5B92-3E9B-E92DCF6A57F2}"/>
              </a:ext>
            </a:extLst>
          </p:cNvPr>
          <p:cNvSpPr/>
          <p:nvPr/>
        </p:nvSpPr>
        <p:spPr>
          <a:xfrm rot="16200000">
            <a:off x="3009073" y="2779964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화살표: 아래쪽 120">
            <a:extLst>
              <a:ext uri="{FF2B5EF4-FFF2-40B4-BE49-F238E27FC236}">
                <a16:creationId xmlns:a16="http://schemas.microsoft.com/office/drawing/2014/main" id="{E60240D4-866F-7EBA-DC10-A44E396109B3}"/>
              </a:ext>
            </a:extLst>
          </p:cNvPr>
          <p:cNvSpPr/>
          <p:nvPr/>
        </p:nvSpPr>
        <p:spPr>
          <a:xfrm rot="16200000">
            <a:off x="5917144" y="2779965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581E5837-E44D-62D9-7DA1-8A0EF3E13D39}"/>
              </a:ext>
            </a:extLst>
          </p:cNvPr>
          <p:cNvSpPr/>
          <p:nvPr/>
        </p:nvSpPr>
        <p:spPr>
          <a:xfrm rot="5400000" flipH="1">
            <a:off x="2989683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화살표: 아래쪽 122">
            <a:extLst>
              <a:ext uri="{FF2B5EF4-FFF2-40B4-BE49-F238E27FC236}">
                <a16:creationId xmlns:a16="http://schemas.microsoft.com/office/drawing/2014/main" id="{AB25C60E-D024-A6D2-F389-19DE16256779}"/>
              </a:ext>
            </a:extLst>
          </p:cNvPr>
          <p:cNvSpPr/>
          <p:nvPr/>
        </p:nvSpPr>
        <p:spPr>
          <a:xfrm rot="5400000" flipH="1">
            <a:off x="5897754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화살표: 아래쪽 123">
            <a:extLst>
              <a:ext uri="{FF2B5EF4-FFF2-40B4-BE49-F238E27FC236}">
                <a16:creationId xmlns:a16="http://schemas.microsoft.com/office/drawing/2014/main" id="{8FFB7E7C-5549-6D25-7540-5DAC73C86408}"/>
              </a:ext>
            </a:extLst>
          </p:cNvPr>
          <p:cNvSpPr/>
          <p:nvPr/>
        </p:nvSpPr>
        <p:spPr>
          <a:xfrm>
            <a:off x="7361483" y="3609522"/>
            <a:ext cx="237172" cy="311603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73B16EB-C804-C4D5-5A6D-075C8C22728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(Market status &amp; Problem)</a:t>
            </a:r>
          </a:p>
        </p:txBody>
      </p:sp>
    </p:spTree>
    <p:extLst>
      <p:ext uri="{BB962C8B-B14F-4D97-AF65-F5344CB8AC3E}">
        <p14:creationId xmlns:p14="http://schemas.microsoft.com/office/powerpoint/2010/main" val="411914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524-131F-78D2-C2C7-68206120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0A6CE7-8070-BB0E-0C50-067238335921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BC7A5-AEE4-AC91-B555-17087872643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9E7AC5-9FDC-6C68-F757-E46DE01841C9}"/>
                </a:ext>
              </a:extLst>
            </p:cNvPr>
            <p:cNvGrpSpPr/>
            <p:nvPr/>
          </p:nvGrpSpPr>
          <p:grpSpPr>
            <a:xfrm>
              <a:off x="404618" y="922962"/>
              <a:ext cx="8281202" cy="523558"/>
              <a:chOff x="404618" y="928733"/>
              <a:chExt cx="828120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958C7-7A09-46E3-D035-160362EEA51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단체주문의 모든 단계가 사람 손을 거칩니다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각 병목은 곧 본 과제 R&amp;D 안건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(1·2)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개발 대상과 1:1로 연결됩니다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6B52B1-15EA-0E51-5A2D-01E92DD8733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223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으로 검증된 단체주문 프로세스를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수요예측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 자동화 기술로 확장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0EDF2CF1-6B38-6450-CC6B-3DE353BA3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9C7E9-438B-7A0C-C039-6EC16B3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1C862-CE33-EB16-0285-55BD23884B5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수작업 단체주문 매칭의 6대 병목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(Manual Ops Bottleneck)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363FA3B-7309-5D19-978E-F1D915ED0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27365"/>
              </p:ext>
            </p:extLst>
          </p:nvPr>
        </p:nvGraphicFramePr>
        <p:xfrm>
          <a:off x="342001" y="2226556"/>
          <a:ext cx="8459999" cy="2558163"/>
        </p:xfrm>
        <a:graphic>
          <a:graphicData uri="http://schemas.openxmlformats.org/drawingml/2006/table">
            <a:tbl>
              <a:tblPr/>
              <a:tblGrid>
                <a:gridCol w="134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3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현재 수작업 단계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발생하는 병목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필요한 R&amp;D 기술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연계 안건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우선순위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① 고객 상담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목적·예산·인원·수령일·배송지가 비정형으로 유입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 요청조건 구조화 (슬롯 추출)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② 입점사 확인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생산량·MOQ·리드타임·포장 조건이 파편화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공급자 제약(Capacity) DB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③ 상품 추천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담당자 경험에 의존 — 재현·확장 불가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매칭·랭킹 모델 (하이브리드 검색+LTR)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1·2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④ 제안자료 작성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상품소개·옵션비교·견적 문구를 매번 수작업 작성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기반 제안자료 자동화 (환각 통제)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⑤ 일정 조율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고객 희망일과 입점사 생산 가능일 불일치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수요·공급 일정 매칭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1·2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⑥ 주문 전환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선택·거절 사유가 데이터화되지 않음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전환 로그 학습 (Learning-to-Rank)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상시 축적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⑦ 결제·정산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법인카드·후불·세금계산서 수작업 처리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전용 결제·정산 자동화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⑧ 재주문 관리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재주문 시점·수요를 담당자가 감으로 추정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 기반 선제안 </a:t>
                      </a:r>
                      <a:r>
                        <a:rPr lang="en-US" sz="6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(Outbound)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08DD4F-276C-A345-D568-36A7030C779E}"/>
              </a:ext>
            </a:extLst>
          </p:cNvPr>
          <p:cNvSpPr txBox="1"/>
          <p:nvPr/>
        </p:nvSpPr>
        <p:spPr>
          <a:xfrm>
            <a:off x="1964715" y="6042975"/>
            <a:ext cx="521456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병목의 처리 로그가 곧 학습데이터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수작업 오픈베타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(앞 장)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데이터를 만들고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(안건 1·2)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자동화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선순환 구조입니다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79243B8-6A3B-E6E4-0D96-C21040013E17}"/>
              </a:ext>
            </a:extLst>
          </p:cNvPr>
          <p:cNvSpPr/>
          <p:nvPr/>
        </p:nvSpPr>
        <p:spPr>
          <a:xfrm>
            <a:off x="341999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84FA6544-FB2D-496E-1259-4F228C9B275D}"/>
              </a:ext>
            </a:extLst>
          </p:cNvPr>
          <p:cNvSpPr/>
          <p:nvPr/>
        </p:nvSpPr>
        <p:spPr>
          <a:xfrm>
            <a:off x="341998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31633-2911-7303-033D-E6147248488E}"/>
              </a:ext>
            </a:extLst>
          </p:cNvPr>
          <p:cNvSpPr txBox="1"/>
          <p:nvPr/>
        </p:nvSpPr>
        <p:spPr>
          <a:xfrm>
            <a:off x="1125356" y="4997806"/>
            <a:ext cx="119519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병목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1건당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상담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~주문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평균 수일 소요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9A40BEB-6C67-A60A-570F-B67F56DF9D49}"/>
              </a:ext>
            </a:extLst>
          </p:cNvPr>
          <p:cNvSpPr/>
          <p:nvPr/>
        </p:nvSpPr>
        <p:spPr>
          <a:xfrm>
            <a:off x="3191041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F16C7F24-5266-DB73-D5B9-DAE924BDB7BC}"/>
              </a:ext>
            </a:extLst>
          </p:cNvPr>
          <p:cNvSpPr/>
          <p:nvPr/>
        </p:nvSpPr>
        <p:spPr>
          <a:xfrm>
            <a:off x="3191040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6B899-D639-608D-D6AF-A8B026ACB976}"/>
              </a:ext>
            </a:extLst>
          </p:cNvPr>
          <p:cNvSpPr txBox="1"/>
          <p:nvPr/>
        </p:nvSpPr>
        <p:spPr>
          <a:xfrm>
            <a:off x="4024732" y="4997806"/>
            <a:ext cx="109453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물리적 확장 한계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D31A11-DC20-0445-E97E-E9031CF17CF2}"/>
              </a:ext>
            </a:extLst>
          </p:cNvPr>
          <p:cNvSpPr txBox="1"/>
          <p:nvPr/>
        </p:nvSpPr>
        <p:spPr>
          <a:xfrm>
            <a:off x="3534375" y="5338358"/>
            <a:ext cx="207524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담당자 1인이 동시 처리 가능한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상담 건수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갇힌 매출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인력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추가 = 비용 비례 증가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자동화로만 한계비용 체감 구조 달성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949450-40BA-ED0E-1FD3-CA94ED8C3F94}"/>
              </a:ext>
            </a:extLst>
          </p:cNvPr>
          <p:cNvSpPr/>
          <p:nvPr/>
        </p:nvSpPr>
        <p:spPr>
          <a:xfrm>
            <a:off x="6040083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DFEAB374-AF2D-5441-B5E5-58CC38617552}"/>
              </a:ext>
            </a:extLst>
          </p:cNvPr>
          <p:cNvSpPr/>
          <p:nvPr/>
        </p:nvSpPr>
        <p:spPr>
          <a:xfrm>
            <a:off x="6040082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0870B-8EC5-3831-904D-8A875332BB9E}"/>
              </a:ext>
            </a:extLst>
          </p:cNvPr>
          <p:cNvSpPr txBox="1"/>
          <p:nvPr/>
        </p:nvSpPr>
        <p:spPr>
          <a:xfrm>
            <a:off x="6930360" y="4997806"/>
            <a:ext cx="98135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R&amp;D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후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목표 효과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C8B1DB-C54D-0726-8FDC-BC573FBD09BB}"/>
              </a:ext>
            </a:extLst>
          </p:cNvPr>
          <p:cNvSpPr txBox="1"/>
          <p:nvPr/>
        </p:nvSpPr>
        <p:spPr>
          <a:xfrm>
            <a:off x="833770" y="5420432"/>
            <a:ext cx="1778371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견적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·제안 리드타임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단축,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전환율 개선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상담→제안 자동화율·견적→주문 전환율을 KPI로 실측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634575-64B4-EEC3-4433-233AAEB99D51}"/>
              </a:ext>
            </a:extLst>
          </p:cNvPr>
          <p:cNvSpPr txBox="1"/>
          <p:nvPr/>
        </p:nvSpPr>
        <p:spPr>
          <a:xfrm>
            <a:off x="6642300" y="5338358"/>
            <a:ext cx="155747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성능지표 장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(안건 1·2)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사업 KPI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직접 연동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p.25~26 참조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1893CB7-67FC-96D2-A24F-CF47FB6DE06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(Market status &amp; Problem)</a:t>
            </a:r>
          </a:p>
        </p:txBody>
      </p:sp>
    </p:spTree>
    <p:extLst>
      <p:ext uri="{BB962C8B-B14F-4D97-AF65-F5344CB8AC3E}">
        <p14:creationId xmlns:p14="http://schemas.microsoft.com/office/powerpoint/2010/main" val="176768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524-131F-78D2-C2C7-68206120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0A6CE7-8070-BB0E-0C50-067238335921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BC7A5-AEE4-AC91-B555-17087872643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9E7AC5-9FDC-6C68-F757-E46DE01841C9}"/>
                </a:ext>
              </a:extLst>
            </p:cNvPr>
            <p:cNvGrpSpPr/>
            <p:nvPr/>
          </p:nvGrpSpPr>
          <p:grpSpPr>
            <a:xfrm>
              <a:off x="404618" y="922962"/>
              <a:ext cx="8281202" cy="523558"/>
              <a:chOff x="404618" y="928733"/>
              <a:chExt cx="828120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958C7-7A09-46E3-D035-160362EEA51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 실증과 B2B 오픈베타에서 확인한 문제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로부터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출발하는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솔루션 모듈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두 R&amp;D 안건으로 통합 개발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6B52B1-15EA-0E51-5A2D-01E92DD8733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223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요약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문제점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솔루션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개발기술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개발목적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0EDF2CF1-6B38-6450-CC6B-3DE353BA3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9C7E9-438B-7A0C-C039-6EC16B3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1C862-CE33-EB16-0285-55BD23884B5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연구개발 요약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(Solution)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363FA3B-7309-5D19-978E-F1D915ED0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24337"/>
              </p:ext>
            </p:extLst>
          </p:nvPr>
        </p:nvGraphicFramePr>
        <p:xfrm>
          <a:off x="342001" y="2226557"/>
          <a:ext cx="8459999" cy="2505706"/>
        </p:xfrm>
        <a:graphic>
          <a:graphicData uri="http://schemas.openxmlformats.org/drawingml/2006/table">
            <a:tbl>
              <a:tblPr/>
              <a:tblGrid>
                <a:gridCol w="134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22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문제점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솔루션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개발기술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개발목적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연계 안건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트렌드 정보가 뉴스·SNS·검색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커머스에 분산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 트렌드 분석·수요예측 엔진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 수집 · 신조어 탐지 · 성장곡선 분석 · 트렌드 스코어링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정점 전 상품기획·생산 의사결정 지원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단체주문 요청이 비정형으로 유입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수요 데이터 파운데이션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목적·예산·수량·일정·배송조건 구조화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 학습 가능한 단체주문 데이터셋 구축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입점사 공급 조건이 파편화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공급자 제약(Capacity) DB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생산량·MOQ·리드타임·포장/배송 조건 DB화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실제 공급 가능한 브랜드 자동 추천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담당자가 상품 추천·견적을 수작업 진행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단체주문 매칭·랭킹 엔진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 질의 이해 · 후보상품 검색 · 랭킹 · 근거 생성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상담·견적 리드타임 단축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1·2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상품소개·제안자료 제작이 수작업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 콘텐츠 자동화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기반 상품 카피 · 옵션 비교 · FAQ 자동 생성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콘텐츠 제작시간 절감 · 영업 전환 지원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① 명칭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 트렌드 분석 및 수요예측 엔진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수집 → 예측 → 추천 파이프라인 (솔루션 모듈 1)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공급자에게 대기업 수준 정보력 제공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② 명칭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B2B/B2B2C 단체주문 매칭·랭킹 시스템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요청 구조화 → 공급 필터 → 매칭·랭킹 → 제안 (모듈 2~5)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주문상담·제안 자동화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공통 기반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해자 × 신뢰성 설계 × IP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실거래 GMV 1.1억 · 픽미 PoC · 특허 4건 · RAG 환각통제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두 안건이 공유하는 학습·검증 자산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08DD4F-276C-A345-D568-36A7030C779E}"/>
              </a:ext>
            </a:extLst>
          </p:cNvPr>
          <p:cNvSpPr txBox="1"/>
          <p:nvPr/>
        </p:nvSpPr>
        <p:spPr>
          <a:xfrm>
            <a:off x="1964715" y="6042975"/>
            <a:ext cx="521456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트렌드 스코어(안건 1)가 랭킹 가산 신호(안건 2)로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질의·전환 로그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다시 학습 데이터로 환류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 안건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데이터·인프라를 공유하며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상호 강화됩니다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79243B8-6A3B-E6E4-0D96-C21040013E17}"/>
              </a:ext>
            </a:extLst>
          </p:cNvPr>
          <p:cNvSpPr/>
          <p:nvPr/>
        </p:nvSpPr>
        <p:spPr>
          <a:xfrm>
            <a:off x="341999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84FA6544-FB2D-496E-1259-4F228C9B275D}"/>
              </a:ext>
            </a:extLst>
          </p:cNvPr>
          <p:cNvSpPr/>
          <p:nvPr/>
        </p:nvSpPr>
        <p:spPr>
          <a:xfrm>
            <a:off x="341998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31633-2911-7303-033D-E6147248488E}"/>
              </a:ext>
            </a:extLst>
          </p:cNvPr>
          <p:cNvSpPr txBox="1"/>
          <p:nvPr/>
        </p:nvSpPr>
        <p:spPr>
          <a:xfrm>
            <a:off x="1125356" y="4997806"/>
            <a:ext cx="119519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 :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B2B/B2B2C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단체주문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수요예측 연계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9A40BEB-6C67-A60A-570F-B67F56DF9D49}"/>
              </a:ext>
            </a:extLst>
          </p:cNvPr>
          <p:cNvSpPr/>
          <p:nvPr/>
        </p:nvSpPr>
        <p:spPr>
          <a:xfrm>
            <a:off x="3191041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F16C7F24-5266-DB73-D5B9-DAE924BDB7BC}"/>
              </a:ext>
            </a:extLst>
          </p:cNvPr>
          <p:cNvSpPr/>
          <p:nvPr/>
        </p:nvSpPr>
        <p:spPr>
          <a:xfrm>
            <a:off x="3191040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6B899-D639-608D-D6AF-A8B026ACB976}"/>
              </a:ext>
            </a:extLst>
          </p:cNvPr>
          <p:cNvSpPr txBox="1"/>
          <p:nvPr/>
        </p:nvSpPr>
        <p:spPr>
          <a:xfrm>
            <a:off x="4024732" y="4997806"/>
            <a:ext cx="109453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 :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목적·예산·인원·일정 기반 매칭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D31A11-DC20-0445-E97E-E9031CF17CF2}"/>
              </a:ext>
            </a:extLst>
          </p:cNvPr>
          <p:cNvSpPr txBox="1"/>
          <p:nvPr/>
        </p:nvSpPr>
        <p:spPr>
          <a:xfrm>
            <a:off x="3534375" y="5338358"/>
            <a:ext cx="207524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공급자 Capacity와 고객 수요를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연결하는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매칭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수작업 주문상담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제안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자동화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상세 기술은 다음 장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부터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안건별로 전개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949450-40BA-ED0E-1FD3-CA94ED8C3F94}"/>
              </a:ext>
            </a:extLst>
          </p:cNvPr>
          <p:cNvSpPr/>
          <p:nvPr/>
        </p:nvSpPr>
        <p:spPr>
          <a:xfrm>
            <a:off x="6040083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DFEAB374-AF2D-5441-B5E5-58CC38617552}"/>
              </a:ext>
            </a:extLst>
          </p:cNvPr>
          <p:cNvSpPr/>
          <p:nvPr/>
        </p:nvSpPr>
        <p:spPr>
          <a:xfrm>
            <a:off x="6040082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0870B-8EC5-3831-904D-8A875332BB9E}"/>
              </a:ext>
            </a:extLst>
          </p:cNvPr>
          <p:cNvSpPr txBox="1"/>
          <p:nvPr/>
        </p:nvSpPr>
        <p:spPr>
          <a:xfrm>
            <a:off x="6930360" y="4997806"/>
            <a:ext cx="98135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순서 :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 파운데이션 우선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C8B1DB-C54D-0726-8FDC-BC573FBD09BB}"/>
              </a:ext>
            </a:extLst>
          </p:cNvPr>
          <p:cNvSpPr txBox="1"/>
          <p:nvPr/>
        </p:nvSpPr>
        <p:spPr>
          <a:xfrm>
            <a:off x="833770" y="5420432"/>
            <a:ext cx="1778371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B2B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수요·공급 DB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모듈의 토대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오픈베타 로그(앞 장)가 콜드스타트를 해소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634575-64B4-EEC3-4433-233AAEB99D51}"/>
              </a:ext>
            </a:extLst>
          </p:cNvPr>
          <p:cNvSpPr txBox="1"/>
          <p:nvPr/>
        </p:nvSpPr>
        <p:spPr>
          <a:xfrm>
            <a:off x="6642300" y="5338358"/>
            <a:ext cx="155747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2·3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4·5 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 단계 개발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추진일정 장과 정합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1893CB7-67FC-96D2-A24F-CF47FB6DE06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767681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3B0CC-C209-CA1B-929D-06F0CABF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C21E70-56C2-5FF1-73FB-ABF6D31B1747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883A6ED-4B34-36DF-FA52-8676B25F8444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53DB8B5-F797-A331-1D2D-3DF6B9674616}"/>
                </a:ext>
              </a:extLst>
            </p:cNvPr>
            <p:cNvGrpSpPr/>
            <p:nvPr/>
          </p:nvGrpSpPr>
          <p:grpSpPr>
            <a:xfrm>
              <a:off x="404618" y="922962"/>
              <a:ext cx="7893186" cy="523558"/>
              <a:chOff x="404618" y="928733"/>
              <a:chExt cx="7893186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C1B358-1B9E-A540-079E-A1649689999B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893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 안건은 데이터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인프라를 공유하며 상호 강화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스코어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랭킹 가산 신호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로그가 다시 학습 데이터로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8EC511-74D6-4380-70D7-B499B742AA5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0677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앞 장 요약표의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 솔루션 모듈을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 R&amp;D 안건으로 구현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F25AB82D-A83C-1D88-3065-77C6DB1353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CCA92-957B-5506-F8C5-8B2CBA05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3D75D-ECA4-0341-8B9C-0FB33FEF3CEC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요약 — 2개 R&amp;D 안건 정의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(Solution)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87B0D6F-99A4-A19F-4BC3-746A11F86720}"/>
              </a:ext>
            </a:extLst>
          </p:cNvPr>
          <p:cNvSpPr/>
          <p:nvPr/>
        </p:nvSpPr>
        <p:spPr>
          <a:xfrm>
            <a:off x="4708813" y="2266950"/>
            <a:ext cx="4093187" cy="2411730"/>
          </a:xfrm>
          <a:prstGeom prst="roundRect">
            <a:avLst>
              <a:gd name="adj" fmla="val 6454"/>
            </a:avLst>
          </a:prstGeom>
          <a:solidFill>
            <a:schemeClr val="bg1"/>
          </a:solidFill>
          <a:ln>
            <a:solidFill>
              <a:srgbClr val="438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D3F5E4-082E-FCE5-6C26-07F7AAF3CC42}"/>
              </a:ext>
            </a:extLst>
          </p:cNvPr>
          <p:cNvGrpSpPr/>
          <p:nvPr/>
        </p:nvGrpSpPr>
        <p:grpSpPr>
          <a:xfrm>
            <a:off x="342000" y="4935387"/>
            <a:ext cx="4262576" cy="187074"/>
            <a:chOff x="448028" y="1746916"/>
            <a:chExt cx="4262576" cy="187074"/>
          </a:xfrm>
        </p:grpSpPr>
        <p:pic>
          <p:nvPicPr>
            <p:cNvPr id="11" name="Picture 2" descr="딸기로픽">
              <a:extLst>
                <a:ext uri="{FF2B5EF4-FFF2-40B4-BE49-F238E27FC236}">
                  <a16:creationId xmlns:a16="http://schemas.microsoft.com/office/drawing/2014/main" id="{F7F73AA0-A404-204A-DDFA-2CBB9322CB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B458CB-9F25-DC51-DD4A-1695560B2526}"/>
                </a:ext>
              </a:extLst>
            </p:cNvPr>
            <p:cNvSpPr txBox="1"/>
            <p:nvPr/>
          </p:nvSpPr>
          <p:spPr>
            <a:xfrm>
              <a:off x="739004" y="1748120"/>
              <a:ext cx="397160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두 안건이 공유하는 공통 기반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 해자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×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신뢰성 설계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×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지식재산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F3A6F62-90DD-104B-19C6-137ACB5A9687}"/>
              </a:ext>
            </a:extLst>
          </p:cNvPr>
          <p:cNvGrpSpPr/>
          <p:nvPr/>
        </p:nvGrpSpPr>
        <p:grpSpPr>
          <a:xfrm>
            <a:off x="342000" y="5231876"/>
            <a:ext cx="2029047" cy="961534"/>
            <a:chOff x="342000" y="5231876"/>
            <a:chExt cx="2029047" cy="96153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F87C26B-361B-6B97-65F5-45E79FA65BAC}"/>
                </a:ext>
              </a:extLst>
            </p:cNvPr>
            <p:cNvSpPr/>
            <p:nvPr/>
          </p:nvSpPr>
          <p:spPr>
            <a:xfrm>
              <a:off x="342000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8767C81-4F1E-89B7-D319-061D42574BB3}"/>
                </a:ext>
              </a:extLst>
            </p:cNvPr>
            <p:cNvGrpSpPr/>
            <p:nvPr/>
          </p:nvGrpSpPr>
          <p:grpSpPr>
            <a:xfrm>
              <a:off x="516978" y="5388486"/>
              <a:ext cx="1656223" cy="648315"/>
              <a:chOff x="590796" y="5492046"/>
              <a:chExt cx="1656223" cy="648315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E3CE92-338C-F59C-95C3-2022AA6B3C4B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61972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해자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2C78A2-8EAF-B0F1-2130-AA328AD06A70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65622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실거래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(GMV 1.1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17,116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픽미 공동연구 자산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인터넷 공개데이터 결합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2D40077-7AF9-8F2E-6EC9-8B9ECB2F2A91}"/>
              </a:ext>
            </a:extLst>
          </p:cNvPr>
          <p:cNvGrpSpPr/>
          <p:nvPr/>
        </p:nvGrpSpPr>
        <p:grpSpPr>
          <a:xfrm>
            <a:off x="2485651" y="5231876"/>
            <a:ext cx="2029047" cy="961534"/>
            <a:chOff x="2485651" y="5231876"/>
            <a:chExt cx="2029047" cy="961534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771B2B4-A1CA-554C-98BA-05D94CEAA616}"/>
                </a:ext>
              </a:extLst>
            </p:cNvPr>
            <p:cNvSpPr/>
            <p:nvPr/>
          </p:nvSpPr>
          <p:spPr>
            <a:xfrm>
              <a:off x="2485651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438DD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6635BF0-7421-D699-E888-EDBC022E89AC}"/>
                </a:ext>
              </a:extLst>
            </p:cNvPr>
            <p:cNvGrpSpPr/>
            <p:nvPr/>
          </p:nvGrpSpPr>
          <p:grpSpPr>
            <a:xfrm>
              <a:off x="2660629" y="5388486"/>
              <a:ext cx="1708801" cy="648315"/>
              <a:chOff x="590796" y="5492046"/>
              <a:chExt cx="1708801" cy="64831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778866-559D-9243-E45A-2E7B40A42652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77649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공통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인프라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ED54E9-CA42-3261-C458-373A1282BF0B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708801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Claude API(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모델 티어링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+ LangChain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·LangGraph·RAG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파이프라인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환각 통제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근거 강제</a:t>
                </a:r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C149A9C-E1FE-C434-AD5D-F8530C5E667B}"/>
              </a:ext>
            </a:extLst>
          </p:cNvPr>
          <p:cNvGrpSpPr/>
          <p:nvPr/>
        </p:nvGrpSpPr>
        <p:grpSpPr>
          <a:xfrm>
            <a:off x="4629302" y="5231876"/>
            <a:ext cx="2029047" cy="961534"/>
            <a:chOff x="4629302" y="5231876"/>
            <a:chExt cx="2029047" cy="961534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0442F46-2696-B544-153A-DFC605EA863E}"/>
                </a:ext>
              </a:extLst>
            </p:cNvPr>
            <p:cNvSpPr/>
            <p:nvPr/>
          </p:nvSpPr>
          <p:spPr>
            <a:xfrm>
              <a:off x="4629302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54D1CE6A-FF95-2F6A-C521-48FCAC28EFD3}"/>
                </a:ext>
              </a:extLst>
            </p:cNvPr>
            <p:cNvGrpSpPr/>
            <p:nvPr/>
          </p:nvGrpSpPr>
          <p:grpSpPr>
            <a:xfrm>
              <a:off x="4804280" y="5388486"/>
              <a:ext cx="1669688" cy="496992"/>
              <a:chOff x="590796" y="5492046"/>
              <a:chExt cx="1669688" cy="49699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224517-27D9-1877-D981-C42DCC1A5438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73770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지식재산 해자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4D78121-AAB6-D52B-0F45-0E315C2D8CCC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669688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핵심 기술 특허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건 출원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인기도지수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통합추천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플랫폼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3279A0C-8780-7E1A-8834-FA28A7837503}"/>
              </a:ext>
            </a:extLst>
          </p:cNvPr>
          <p:cNvGrpSpPr/>
          <p:nvPr/>
        </p:nvGrpSpPr>
        <p:grpSpPr>
          <a:xfrm>
            <a:off x="6772953" y="5231876"/>
            <a:ext cx="2029047" cy="961534"/>
            <a:chOff x="6772953" y="5231876"/>
            <a:chExt cx="2029047" cy="96153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E44F343-F726-A1C6-7F3F-A19B6CD9F492}"/>
                </a:ext>
              </a:extLst>
            </p:cNvPr>
            <p:cNvSpPr/>
            <p:nvPr/>
          </p:nvSpPr>
          <p:spPr>
            <a:xfrm>
              <a:off x="6772953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438DD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5905F2A-336C-EDC5-48E2-FD8E3B45C030}"/>
                </a:ext>
              </a:extLst>
            </p:cNvPr>
            <p:cNvGrpSpPr/>
            <p:nvPr/>
          </p:nvGrpSpPr>
          <p:grpSpPr>
            <a:xfrm>
              <a:off x="6947931" y="5388486"/>
              <a:ext cx="1490793" cy="496992"/>
              <a:chOff x="590796" y="5492046"/>
              <a:chExt cx="1490793" cy="49699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740852-17F4-ECB6-DE8E-E457B21D560D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73770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선순환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779ED1-5AD9-4BF0-CC3D-F6B9ED192AD0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490793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→ 채택 → 성과 데이터 재학습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시간이 갈수록 정확해지는 자산</a:t>
                </a:r>
              </a:p>
            </p:txBody>
          </p:sp>
        </p:grp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C97CB26-1C0D-37E7-361B-E95C2CEAFD60}"/>
              </a:ext>
            </a:extLst>
          </p:cNvPr>
          <p:cNvGrpSpPr/>
          <p:nvPr/>
        </p:nvGrpSpPr>
        <p:grpSpPr>
          <a:xfrm>
            <a:off x="342000" y="2266950"/>
            <a:ext cx="4093187" cy="2411730"/>
            <a:chOff x="342000" y="2266950"/>
            <a:chExt cx="4093187" cy="241173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3AF014A-3211-C5EB-C22A-0BF0BE204911}"/>
                </a:ext>
              </a:extLst>
            </p:cNvPr>
            <p:cNvSpPr/>
            <p:nvPr/>
          </p:nvSpPr>
          <p:spPr>
            <a:xfrm>
              <a:off x="342000" y="2266950"/>
              <a:ext cx="4093187" cy="2411730"/>
            </a:xfrm>
            <a:prstGeom prst="roundRect">
              <a:avLst>
                <a:gd name="adj" fmla="val 6454"/>
              </a:avLst>
            </a:prstGeom>
            <a:solidFill>
              <a:schemeClr val="bg1"/>
            </a:solidFill>
            <a:ln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D9D1B84-A7B5-B8AE-F567-5C64CE0103C6}"/>
                </a:ext>
              </a:extLst>
            </p:cNvPr>
            <p:cNvSpPr/>
            <p:nvPr/>
          </p:nvSpPr>
          <p:spPr>
            <a:xfrm>
              <a:off x="342000" y="3557588"/>
              <a:ext cx="4093186" cy="798512"/>
            </a:xfrm>
            <a:prstGeom prst="rect">
              <a:avLst/>
            </a:prstGeom>
            <a:solidFill>
              <a:schemeClr val="bg1">
                <a:lumMod val="8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12AA60-5BD1-F20F-E5E7-6DD39CDFFD6E}"/>
                </a:ext>
              </a:extLst>
            </p:cNvPr>
            <p:cNvSpPr txBox="1"/>
            <p:nvPr/>
          </p:nvSpPr>
          <p:spPr>
            <a:xfrm>
              <a:off x="574020" y="2466428"/>
              <a:ext cx="2448106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트렌드 분석 및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수요예측 엔진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A41AFAC3-770B-9ABC-357B-26A304FD8A5C}"/>
                </a:ext>
              </a:extLst>
            </p:cNvPr>
            <p:cNvGrpSpPr/>
            <p:nvPr/>
          </p:nvGrpSpPr>
          <p:grpSpPr>
            <a:xfrm>
              <a:off x="3525182" y="2428534"/>
              <a:ext cx="727538" cy="299132"/>
              <a:chOff x="656570" y="2498384"/>
              <a:chExt cx="727538" cy="299132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9A5F4E05-D777-F61A-AA8B-9BE1A61428B6}"/>
                  </a:ext>
                </a:extLst>
              </p:cNvPr>
              <p:cNvSpPr/>
              <p:nvPr/>
            </p:nvSpPr>
            <p:spPr>
              <a:xfrm>
                <a:off x="656570" y="2498384"/>
                <a:ext cx="727538" cy="299132"/>
              </a:xfrm>
              <a:prstGeom prst="roundRect">
                <a:avLst>
                  <a:gd name="adj" fmla="val 50000"/>
                </a:avLst>
              </a:prstGeom>
              <a:solidFill>
                <a:srgbClr val="EC657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1AB242-3F7A-43B9-6781-720EDF062E41}"/>
                  </a:ext>
                </a:extLst>
              </p:cNvPr>
              <p:cNvSpPr txBox="1"/>
              <p:nvPr/>
            </p:nvSpPr>
            <p:spPr>
              <a:xfrm>
                <a:off x="805216" y="2555617"/>
                <a:ext cx="43024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안건 ①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D4A1070-39DF-F01F-B206-31012878CDAC}"/>
                </a:ext>
              </a:extLst>
            </p:cNvPr>
            <p:cNvSpPr txBox="1"/>
            <p:nvPr/>
          </p:nvSpPr>
          <p:spPr>
            <a:xfrm>
              <a:off x="574020" y="3025776"/>
              <a:ext cx="3147657" cy="418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뉴스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블로그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SNS ·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커머스 데이터를 정기 수집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AI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분석해</a:t>
              </a:r>
              <a:endParaRPr kumimoji="0" lang="en-US" altLang="ko-KR" sz="8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"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곧 뜰 디저트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"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정점 前 조기 포착 · 수요예측</a:t>
              </a:r>
              <a:endParaRPr kumimoji="0" lang="en-US" altLang="ko-KR" sz="85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입점사 상품기획·권장 생산량·B2B 상품화까지 추천하는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SaaS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형 웹 서비스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E1876A89-B153-B875-2CAA-E538D7A6D6D6}"/>
                </a:ext>
              </a:extLst>
            </p:cNvPr>
            <p:cNvGrpSpPr/>
            <p:nvPr/>
          </p:nvGrpSpPr>
          <p:grpSpPr>
            <a:xfrm>
              <a:off x="342000" y="4356100"/>
              <a:ext cx="4093187" cy="322580"/>
              <a:chOff x="342000" y="4356100"/>
              <a:chExt cx="4093187" cy="322580"/>
            </a:xfrm>
          </p:grpSpPr>
          <p:sp>
            <p:nvSpPr>
              <p:cNvPr id="59" name="사각형: 둥근 위쪽 모서리 58">
                <a:extLst>
                  <a:ext uri="{FF2B5EF4-FFF2-40B4-BE49-F238E27FC236}">
                    <a16:creationId xmlns:a16="http://schemas.microsoft.com/office/drawing/2014/main" id="{BC32EED2-1010-9018-659E-6B95BC698F6E}"/>
                  </a:ext>
                </a:extLst>
              </p:cNvPr>
              <p:cNvSpPr/>
              <p:nvPr/>
            </p:nvSpPr>
            <p:spPr>
              <a:xfrm>
                <a:off x="342000" y="4356100"/>
                <a:ext cx="4093187" cy="322580"/>
              </a:xfrm>
              <a:prstGeom prst="round2SameRect">
                <a:avLst>
                  <a:gd name="adj1" fmla="val 0"/>
                  <a:gd name="adj2" fmla="val 40357"/>
                </a:avLst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5FD90414-6032-6F5D-FD6E-D0BCA3839D8C}"/>
                  </a:ext>
                </a:extLst>
              </p:cNvPr>
              <p:cNvGrpSpPr/>
              <p:nvPr/>
            </p:nvGrpSpPr>
            <p:grpSpPr>
              <a:xfrm>
                <a:off x="526679" y="4426532"/>
                <a:ext cx="3093062" cy="181716"/>
                <a:chOff x="526679" y="4426532"/>
                <a:chExt cx="3093062" cy="181716"/>
              </a:xfrm>
            </p:grpSpPr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23F7619-EBE7-D0E4-9064-849CA6B26FD6}"/>
                    </a:ext>
                  </a:extLst>
                </p:cNvPr>
                <p:cNvSpPr txBox="1"/>
                <p:nvPr/>
              </p:nvSpPr>
              <p:spPr>
                <a:xfrm>
                  <a:off x="785952" y="4436599"/>
                  <a:ext cx="283378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공급자에게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대기업 수준의 정보력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제공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미션의 공급 축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6038741-AFF8-3022-FE1A-150B019ECF1A}"/>
                    </a:ext>
                  </a:extLst>
                </p:cNvPr>
                <p:cNvGrpSpPr/>
                <p:nvPr/>
              </p:nvGrpSpPr>
              <p:grpSpPr>
                <a:xfrm>
                  <a:off x="526679" y="4426532"/>
                  <a:ext cx="181716" cy="181716"/>
                  <a:chOff x="526679" y="4426532"/>
                  <a:chExt cx="181716" cy="181716"/>
                </a:xfrm>
              </p:grpSpPr>
              <p:sp>
                <p:nvSpPr>
                  <p:cNvPr id="61" name="타원 60">
                    <a:extLst>
                      <a:ext uri="{FF2B5EF4-FFF2-40B4-BE49-F238E27FC236}">
                        <a16:creationId xmlns:a16="http://schemas.microsoft.com/office/drawing/2014/main" id="{DF735CF5-A941-D005-6456-EE3F06180BF6}"/>
                      </a:ext>
                    </a:extLst>
                  </p:cNvPr>
                  <p:cNvSpPr/>
                  <p:nvPr/>
                </p:nvSpPr>
                <p:spPr>
                  <a:xfrm>
                    <a:off x="526679" y="4426532"/>
                    <a:ext cx="181716" cy="18171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4DA12A3E-C057-ED0B-0ACC-6037FB3C9326}"/>
                      </a:ext>
                    </a:extLst>
                  </p:cNvPr>
                  <p:cNvSpPr txBox="1"/>
                  <p:nvPr/>
                </p:nvSpPr>
                <p:spPr>
                  <a:xfrm>
                    <a:off x="566562" y="4448141"/>
                    <a:ext cx="101951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→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5359099A-E3B9-82D6-D16B-DE3D5AED06AF}"/>
                </a:ext>
              </a:extLst>
            </p:cNvPr>
            <p:cNvGrpSpPr/>
            <p:nvPr/>
          </p:nvGrpSpPr>
          <p:grpSpPr>
            <a:xfrm>
              <a:off x="574020" y="3679875"/>
              <a:ext cx="3261483" cy="553939"/>
              <a:chOff x="574020" y="3701306"/>
              <a:chExt cx="3261483" cy="553939"/>
            </a:xfrm>
          </p:grpSpPr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4F8B24FD-8BC6-F2EA-D5B7-0F16E481C49D}"/>
                  </a:ext>
                </a:extLst>
              </p:cNvPr>
              <p:cNvGrpSpPr/>
              <p:nvPr/>
            </p:nvGrpSpPr>
            <p:grpSpPr>
              <a:xfrm>
                <a:off x="574020" y="3701306"/>
                <a:ext cx="2955630" cy="153888"/>
                <a:chOff x="574020" y="3582030"/>
                <a:chExt cx="2955630" cy="153888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7F168DA-E2AF-18A4-5AD5-F5B5BF421A72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포착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214E502-BFDF-7240-7818-01D5BCFD7460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3018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인터넷 전반 신호를 정기 수집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정규화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흩어진 정보를 한 곳에</a:t>
                  </a:r>
                </a:p>
              </p:txBody>
            </p:sp>
          </p:grpSp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id="{958094CF-CAFC-CF97-5BC2-A362FD5C87A3}"/>
                  </a:ext>
                </a:extLst>
              </p:cNvPr>
              <p:cNvGrpSpPr/>
              <p:nvPr/>
            </p:nvGrpSpPr>
            <p:grpSpPr>
              <a:xfrm>
                <a:off x="574020" y="3901332"/>
                <a:ext cx="2937356" cy="153888"/>
                <a:chOff x="574020" y="3582030"/>
                <a:chExt cx="2937356" cy="153888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B9AA1E2-3DD3-7267-AC07-BAAAAC409E25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예측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D95730F-0DE2-51FF-DAC6-719049CFBC36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1190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성장 곡선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수명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성공 가능성 스코어링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"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정점 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진입 타이밍</a:t>
                  </a:r>
                </a:p>
              </p:txBody>
            </p:sp>
          </p:grp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3B5FDE7B-07B3-E920-5520-700FF412755C}"/>
                  </a:ext>
                </a:extLst>
              </p:cNvPr>
              <p:cNvGrpSpPr/>
              <p:nvPr/>
            </p:nvGrpSpPr>
            <p:grpSpPr>
              <a:xfrm>
                <a:off x="574020" y="4101357"/>
                <a:ext cx="3261483" cy="153888"/>
                <a:chOff x="574020" y="3582030"/>
                <a:chExt cx="3261483" cy="153888"/>
              </a:xfrm>
            </p:grpSpPr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D85FAD9-AD53-3611-63D5-B725ABD0D1C1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추천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815F05D-22F3-3E37-E027-C58570DE97B1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8360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업종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역량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지역 맞춤 아이템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준비 가이드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실행 가능한 의사결정</a:t>
                  </a:r>
                </a:p>
              </p:txBody>
            </p:sp>
          </p:grp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D1A61E5-A97C-AFA5-B489-32F091A7AA6C}"/>
              </a:ext>
            </a:extLst>
          </p:cNvPr>
          <p:cNvGrpSpPr/>
          <p:nvPr/>
        </p:nvGrpSpPr>
        <p:grpSpPr>
          <a:xfrm>
            <a:off x="4708813" y="2266950"/>
            <a:ext cx="4093187" cy="2411730"/>
            <a:chOff x="342000" y="2266950"/>
            <a:chExt cx="4093187" cy="2411730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94D49C6-17FF-7296-1B87-EE134559F684}"/>
                </a:ext>
              </a:extLst>
            </p:cNvPr>
            <p:cNvSpPr/>
            <p:nvPr/>
          </p:nvSpPr>
          <p:spPr>
            <a:xfrm>
              <a:off x="342000" y="2266950"/>
              <a:ext cx="4093187" cy="2411730"/>
            </a:xfrm>
            <a:prstGeom prst="roundRect">
              <a:avLst>
                <a:gd name="adj" fmla="val 6454"/>
              </a:avLst>
            </a:prstGeom>
            <a:solidFill>
              <a:schemeClr val="bg1"/>
            </a:solidFill>
            <a:ln>
              <a:solidFill>
                <a:srgbClr val="438D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A5F53EF-F555-8381-2F93-DD95D2DFD5A9}"/>
                </a:ext>
              </a:extLst>
            </p:cNvPr>
            <p:cNvSpPr/>
            <p:nvPr/>
          </p:nvSpPr>
          <p:spPr>
            <a:xfrm>
              <a:off x="342000" y="3557588"/>
              <a:ext cx="4093186" cy="798512"/>
            </a:xfrm>
            <a:prstGeom prst="rect">
              <a:avLst/>
            </a:prstGeom>
            <a:solidFill>
              <a:schemeClr val="bg1">
                <a:lumMod val="8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57AF37-9DF3-49C4-F822-4895E50AD698}"/>
                </a:ext>
              </a:extLst>
            </p:cNvPr>
            <p:cNvSpPr txBox="1"/>
            <p:nvPr/>
          </p:nvSpPr>
          <p:spPr>
            <a:xfrm>
              <a:off x="574020" y="2466430"/>
              <a:ext cx="2362506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B2B/B2B2C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438DD1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단체주문 매칭 </a:t>
              </a:r>
              <a:r>
                <a:rPr kumimoji="0" lang="en-US" altLang="ko-KR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 </a:t>
              </a: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랭킹 시스템</a:t>
              </a: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32C4AB54-7B47-6F82-EEE9-F78D6E76790A}"/>
                </a:ext>
              </a:extLst>
            </p:cNvPr>
            <p:cNvGrpSpPr/>
            <p:nvPr/>
          </p:nvGrpSpPr>
          <p:grpSpPr>
            <a:xfrm>
              <a:off x="3525182" y="2428534"/>
              <a:ext cx="727538" cy="299132"/>
              <a:chOff x="656570" y="2498384"/>
              <a:chExt cx="727538" cy="299132"/>
            </a:xfrm>
          </p:grpSpPr>
          <p:sp>
            <p:nvSpPr>
              <p:cNvPr id="104" name="사각형: 둥근 모서리 103">
                <a:extLst>
                  <a:ext uri="{FF2B5EF4-FFF2-40B4-BE49-F238E27FC236}">
                    <a16:creationId xmlns:a16="http://schemas.microsoft.com/office/drawing/2014/main" id="{27138668-54F7-C005-CD49-4D3DF8BF9213}"/>
                  </a:ext>
                </a:extLst>
              </p:cNvPr>
              <p:cNvSpPr/>
              <p:nvPr/>
            </p:nvSpPr>
            <p:spPr>
              <a:xfrm>
                <a:off x="656570" y="2498384"/>
                <a:ext cx="727538" cy="299132"/>
              </a:xfrm>
              <a:prstGeom prst="roundRect">
                <a:avLst>
                  <a:gd name="adj" fmla="val 50000"/>
                </a:avLst>
              </a:prstGeom>
              <a:solidFill>
                <a:srgbClr val="438DD1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B3E9195-EF05-9A4E-9CB6-3ABAEF716A77}"/>
                  </a:ext>
                </a:extLst>
              </p:cNvPr>
              <p:cNvSpPr txBox="1"/>
              <p:nvPr/>
            </p:nvSpPr>
            <p:spPr>
              <a:xfrm>
                <a:off x="805216" y="2555617"/>
                <a:ext cx="43024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안건 ②</a:t>
                </a: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45174FA-6257-5953-0976-1AE8A39B5869}"/>
                </a:ext>
              </a:extLst>
            </p:cNvPr>
            <p:cNvSpPr txBox="1"/>
            <p:nvPr/>
          </p:nvSpPr>
          <p:spPr>
            <a:xfrm>
              <a:off x="574020" y="3025776"/>
              <a:ext cx="3554192" cy="3924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다음주 금요일 임직원 200명 간식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1인 8천원·개별포장·세금계산서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같은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복합 단체주문 요청조건을 이해해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 공급 조건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(Capacity) 대조 +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전국 업체 통합 카탈로그를 다신호 랭킹</a:t>
              </a:r>
              <a:r>
                <a:rPr lang="en-US" altLang="ko-KR" sz="85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근거와 함께 공급 가능 브랜드·옵션 제안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(B2B·B2B2C·B2C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겸용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3202B235-7188-002B-D3F0-48D99D0BE3A7}"/>
                </a:ext>
              </a:extLst>
            </p:cNvPr>
            <p:cNvGrpSpPr/>
            <p:nvPr/>
          </p:nvGrpSpPr>
          <p:grpSpPr>
            <a:xfrm>
              <a:off x="342000" y="4356100"/>
              <a:ext cx="4093187" cy="322580"/>
              <a:chOff x="342000" y="4356100"/>
              <a:chExt cx="4093187" cy="322580"/>
            </a:xfrm>
          </p:grpSpPr>
          <p:sp>
            <p:nvSpPr>
              <p:cNvPr id="98" name="사각형: 둥근 위쪽 모서리 97">
                <a:extLst>
                  <a:ext uri="{FF2B5EF4-FFF2-40B4-BE49-F238E27FC236}">
                    <a16:creationId xmlns:a16="http://schemas.microsoft.com/office/drawing/2014/main" id="{A85EF201-5344-5966-BBAD-E8F9B9E1D122}"/>
                  </a:ext>
                </a:extLst>
              </p:cNvPr>
              <p:cNvSpPr/>
              <p:nvPr/>
            </p:nvSpPr>
            <p:spPr>
              <a:xfrm>
                <a:off x="342000" y="4356100"/>
                <a:ext cx="4093187" cy="322580"/>
              </a:xfrm>
              <a:prstGeom prst="round2SameRect">
                <a:avLst>
                  <a:gd name="adj1" fmla="val 0"/>
                  <a:gd name="adj2" fmla="val 40357"/>
                </a:avLst>
              </a:prstGeom>
              <a:solidFill>
                <a:srgbClr val="438D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6541803E-2E57-8EFD-F6F9-3D8B69154D06}"/>
                  </a:ext>
                </a:extLst>
              </p:cNvPr>
              <p:cNvGrpSpPr/>
              <p:nvPr/>
            </p:nvGrpSpPr>
            <p:grpSpPr>
              <a:xfrm>
                <a:off x="526679" y="4426532"/>
                <a:ext cx="3462394" cy="181716"/>
                <a:chOff x="526679" y="4426532"/>
                <a:chExt cx="3462394" cy="181716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9D1ED55-16C7-46E5-CB6B-C26B8F03B926}"/>
                    </a:ext>
                  </a:extLst>
                </p:cNvPr>
                <p:cNvSpPr txBox="1"/>
                <p:nvPr/>
              </p:nvSpPr>
              <p:spPr>
                <a:xfrm>
                  <a:off x="785952" y="4436599"/>
                  <a:ext cx="3203121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실력 있는 강소업체가 전국 고객에게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발견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되게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미션의 수요 축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D734CAD3-61D5-9806-3F4E-AE71619F5CF4}"/>
                    </a:ext>
                  </a:extLst>
                </p:cNvPr>
                <p:cNvGrpSpPr/>
                <p:nvPr/>
              </p:nvGrpSpPr>
              <p:grpSpPr>
                <a:xfrm>
                  <a:off x="526679" y="4426532"/>
                  <a:ext cx="181716" cy="181716"/>
                  <a:chOff x="526679" y="4426532"/>
                  <a:chExt cx="181716" cy="181716"/>
                </a:xfrm>
              </p:grpSpPr>
              <p:sp>
                <p:nvSpPr>
                  <p:cNvPr id="102" name="타원 101">
                    <a:extLst>
                      <a:ext uri="{FF2B5EF4-FFF2-40B4-BE49-F238E27FC236}">
                        <a16:creationId xmlns:a16="http://schemas.microsoft.com/office/drawing/2014/main" id="{C715D3B0-1C49-E8D0-BF62-BAA61B0FF285}"/>
                      </a:ext>
                    </a:extLst>
                  </p:cNvPr>
                  <p:cNvSpPr/>
                  <p:nvPr/>
                </p:nvSpPr>
                <p:spPr>
                  <a:xfrm>
                    <a:off x="526679" y="4426532"/>
                    <a:ext cx="181716" cy="18171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3FDFB6C5-4C8E-CC8E-DE2B-81AA50376007}"/>
                      </a:ext>
                    </a:extLst>
                  </p:cNvPr>
                  <p:cNvSpPr txBox="1"/>
                  <p:nvPr/>
                </p:nvSpPr>
                <p:spPr>
                  <a:xfrm>
                    <a:off x="566562" y="4448141"/>
                    <a:ext cx="101951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438DD1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→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FA72D27B-3F88-F35B-C648-15BE131682B0}"/>
                </a:ext>
              </a:extLst>
            </p:cNvPr>
            <p:cNvGrpSpPr/>
            <p:nvPr/>
          </p:nvGrpSpPr>
          <p:grpSpPr>
            <a:xfrm>
              <a:off x="574020" y="3679875"/>
              <a:ext cx="3094770" cy="553939"/>
              <a:chOff x="574020" y="3701306"/>
              <a:chExt cx="3094770" cy="553939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AE568627-626C-7AB6-AFA5-86F62036B04A}"/>
                  </a:ext>
                </a:extLst>
              </p:cNvPr>
              <p:cNvGrpSpPr/>
              <p:nvPr/>
            </p:nvGrpSpPr>
            <p:grpSpPr>
              <a:xfrm>
                <a:off x="574020" y="3701306"/>
                <a:ext cx="2965248" cy="153888"/>
                <a:chOff x="574020" y="3582030"/>
                <a:chExt cx="2965248" cy="153888"/>
              </a:xfrm>
            </p:grpSpPr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694110-EA91-1A94-B50A-1D2F4BFAA5A2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이해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990C350-F072-42CD-B3EC-E2AC9125B465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3979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목적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인원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예산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수령일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배송지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포장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세금계산서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구조화</a:t>
                  </a:r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4CDCFD50-80C4-3C97-697C-A19AC0457548}"/>
                  </a:ext>
                </a:extLst>
              </p:cNvPr>
              <p:cNvGrpSpPr/>
              <p:nvPr/>
            </p:nvGrpSpPr>
            <p:grpSpPr>
              <a:xfrm>
                <a:off x="574020" y="3901332"/>
                <a:ext cx="2946012" cy="153888"/>
                <a:chOff x="574020" y="3582030"/>
                <a:chExt cx="2946012" cy="153888"/>
              </a:xfrm>
            </p:grpSpPr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CDF1D4A-CF99-9008-2540-426BA4C068F1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탐색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33D065E5-380A-5B60-D738-958B2B240681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2056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의미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벡터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)+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키워드 하이브리드 검색 + 공급 제약 필터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실제 공급 가능한 업체만</a:t>
                  </a:r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63A8D31B-D818-1A98-E755-472808CCC559}"/>
                  </a:ext>
                </a:extLst>
              </p:cNvPr>
              <p:cNvGrpSpPr/>
              <p:nvPr/>
            </p:nvGrpSpPr>
            <p:grpSpPr>
              <a:xfrm>
                <a:off x="574020" y="4101357"/>
                <a:ext cx="3094770" cy="153888"/>
                <a:chOff x="574020" y="3582030"/>
                <a:chExt cx="3094770" cy="153888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A6484B9-9852-6209-3C91-C84B75D932D4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랭킹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B35FC83-4830-3426-8FDB-F1D1690614FD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66932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적합도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품질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지역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가중 정렬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"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왜 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근거·견적 제안 생성</a:t>
                  </a:r>
                </a:p>
              </p:txBody>
            </p:sp>
          </p:grpSp>
        </p:grpSp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9090EB25-9679-FE42-2077-F5CAACB9A71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46680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132D-E9D4-13BA-E672-55858485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4631EE3-2C60-51E5-40C9-CB80893DB914}"/>
              </a:ext>
            </a:extLst>
          </p:cNvPr>
          <p:cNvSpPr/>
          <p:nvPr/>
        </p:nvSpPr>
        <p:spPr>
          <a:xfrm>
            <a:off x="1364663" y="2224726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48037700-B178-5BE7-57FA-0F22DE4C302C}"/>
              </a:ext>
            </a:extLst>
          </p:cNvPr>
          <p:cNvSpPr/>
          <p:nvPr/>
        </p:nvSpPr>
        <p:spPr>
          <a:xfrm>
            <a:off x="1364663" y="2945114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3AABA506-497A-B66C-269D-F40FE0C1E92C}"/>
              </a:ext>
            </a:extLst>
          </p:cNvPr>
          <p:cNvSpPr/>
          <p:nvPr/>
        </p:nvSpPr>
        <p:spPr>
          <a:xfrm>
            <a:off x="1364663" y="3665502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1A6BC718-11B8-4613-939B-FFFB800FA5E1}"/>
              </a:ext>
            </a:extLst>
          </p:cNvPr>
          <p:cNvSpPr/>
          <p:nvPr/>
        </p:nvSpPr>
        <p:spPr>
          <a:xfrm>
            <a:off x="1364663" y="4385890"/>
            <a:ext cx="7779338" cy="669600"/>
          </a:xfrm>
          <a:prstGeom prst="rect">
            <a:avLst/>
          </a:prstGeom>
          <a:solidFill>
            <a:srgbClr val="EC657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D6A28782-FB5C-8DC8-CC24-9EADC81FBA2B}"/>
              </a:ext>
            </a:extLst>
          </p:cNvPr>
          <p:cNvSpPr/>
          <p:nvPr/>
        </p:nvSpPr>
        <p:spPr>
          <a:xfrm>
            <a:off x="1364663" y="5106277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069BD63-7EF4-7CF0-EC34-F63E73D934B7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E1ABFA6-3993-8CB4-A330-8DCA60A256B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8759EC7-6EF9-59FC-184E-5F99E1302DC5}"/>
                </a:ext>
              </a:extLst>
            </p:cNvPr>
            <p:cNvGrpSpPr/>
            <p:nvPr/>
          </p:nvGrpSpPr>
          <p:grpSpPr>
            <a:xfrm>
              <a:off x="404618" y="922962"/>
              <a:ext cx="8229176" cy="523558"/>
              <a:chOff x="404618" y="928733"/>
              <a:chExt cx="8229176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A3FF22-5F47-678A-E097-08A2FFCE1DE5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22917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 스코어링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 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2(LangGraph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동일한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PostgreSQL+pgvector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백본과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LLM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인프라를 공유합니다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중복 투자 없는 설계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1AC998-6B60-36B4-E9C8-48992198A44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6899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하나의 데이터 백본 위에 두 안건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→ 저장 → 분석 → 서빙 → 환류의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계층 아키텍처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B023C20D-FA1E-CB86-0F06-E261BD9467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ACFE2B-FBAD-4913-35A1-2C3FE352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74FC4-6A8B-D21B-6D1C-6DE76A2301C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시스템 전체 아키텍처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(End-to-End)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EDA7D67-9D93-F555-E75E-BB047CFDD441}"/>
              </a:ext>
            </a:extLst>
          </p:cNvPr>
          <p:cNvGrpSpPr/>
          <p:nvPr/>
        </p:nvGrpSpPr>
        <p:grpSpPr>
          <a:xfrm>
            <a:off x="0" y="5912229"/>
            <a:ext cx="9144000" cy="344915"/>
            <a:chOff x="0" y="5912229"/>
            <a:chExt cx="9144000" cy="34491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0B0038-78CA-94F9-0246-EFC06634C541}"/>
                </a:ext>
              </a:extLst>
            </p:cNvPr>
            <p:cNvSpPr/>
            <p:nvPr/>
          </p:nvSpPr>
          <p:spPr>
            <a:xfrm>
              <a:off x="0" y="5912229"/>
              <a:ext cx="9144000" cy="344915"/>
            </a:xfrm>
            <a:prstGeom prst="rect">
              <a:avLst/>
            </a:prstGeom>
            <a:solidFill>
              <a:schemeClr val="bg1">
                <a:lumMod val="8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43E4AC1-88B2-1720-EC07-8ABC09A87C82}"/>
                </a:ext>
              </a:extLst>
            </p:cNvPr>
            <p:cNvGrpSpPr/>
            <p:nvPr/>
          </p:nvGrpSpPr>
          <p:grpSpPr>
            <a:xfrm>
              <a:off x="539054" y="6007742"/>
              <a:ext cx="8180668" cy="153888"/>
              <a:chOff x="571500" y="5880957"/>
              <a:chExt cx="8180668" cy="15388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1C20EC-198F-2980-E4DC-F4C0A865EC06}"/>
                  </a:ext>
                </a:extLst>
              </p:cNvPr>
              <p:cNvSpPr txBox="1"/>
              <p:nvPr/>
            </p:nvSpPr>
            <p:spPr>
              <a:xfrm>
                <a:off x="571500" y="5880957"/>
                <a:ext cx="82875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관측성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거버넌스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5022CA-4901-B4C4-7845-8E912716DB93}"/>
                  </a:ext>
                </a:extLst>
              </p:cNvPr>
              <p:cNvSpPr txBox="1"/>
              <p:nvPr/>
            </p:nvSpPr>
            <p:spPr>
              <a:xfrm>
                <a:off x="1533525" y="5896346"/>
                <a:ext cx="721864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노드 단위 로깅 →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오류율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되묻기 적중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리드타임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단계별 실측 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상담·견적·수락/거절·클릭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로그 → ③ 재적재 → 가중치 재학습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플라이휠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 ·  robots/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약관 문서화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RCMS·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연구노트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573EA47-310E-D9C5-8B84-80D2FC35A333}"/>
              </a:ext>
            </a:extLst>
          </p:cNvPr>
          <p:cNvGrpSpPr/>
          <p:nvPr/>
        </p:nvGrpSpPr>
        <p:grpSpPr>
          <a:xfrm>
            <a:off x="398561" y="2224726"/>
            <a:ext cx="1020075" cy="668751"/>
            <a:chOff x="342000" y="2224726"/>
            <a:chExt cx="1020075" cy="668751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A157BA70-40C4-53EA-DEE1-5EFD695B2217}"/>
                </a:ext>
              </a:extLst>
            </p:cNvPr>
            <p:cNvSpPr/>
            <p:nvPr/>
          </p:nvSpPr>
          <p:spPr>
            <a:xfrm>
              <a:off x="342000" y="22247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64CB03-028B-B8D2-2C4C-6176138CDD37}"/>
                </a:ext>
              </a:extLst>
            </p:cNvPr>
            <p:cNvSpPr txBox="1"/>
            <p:nvPr/>
          </p:nvSpPr>
          <p:spPr>
            <a:xfrm>
              <a:off x="461913" y="2579868"/>
              <a:ext cx="28084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소스</a:t>
              </a: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751DF453-BE66-2551-08BB-F33AA7387FC5}"/>
                </a:ext>
              </a:extLst>
            </p:cNvPr>
            <p:cNvSpPr/>
            <p:nvPr/>
          </p:nvSpPr>
          <p:spPr>
            <a:xfrm>
              <a:off x="1073150" y="23201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8" name="Image 1" descr="preencoded.png">
              <a:extLst>
                <a:ext uri="{FF2B5EF4-FFF2-40B4-BE49-F238E27FC236}">
                  <a16:creationId xmlns:a16="http://schemas.microsoft.com/office/drawing/2014/main" id="{C21646E8-1101-2746-ADC9-655AD510B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6882" y="2361481"/>
              <a:ext cx="113355" cy="113355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160413BF-D869-1245-1F94-12CC7E36E0B7}"/>
              </a:ext>
            </a:extLst>
          </p:cNvPr>
          <p:cNvGrpSpPr/>
          <p:nvPr/>
        </p:nvGrpSpPr>
        <p:grpSpPr>
          <a:xfrm>
            <a:off x="398561" y="2945326"/>
            <a:ext cx="1020075" cy="668751"/>
            <a:chOff x="342000" y="2945326"/>
            <a:chExt cx="1020075" cy="668751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3AABEEE0-2B10-3EA6-31E5-01C683DAF0D7}"/>
                </a:ext>
              </a:extLst>
            </p:cNvPr>
            <p:cNvSpPr/>
            <p:nvPr/>
          </p:nvSpPr>
          <p:spPr>
            <a:xfrm>
              <a:off x="342000" y="29453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5721C81-3EF2-E01D-2009-32C9C42D4EF0}"/>
                </a:ext>
              </a:extLst>
            </p:cNvPr>
            <p:cNvSpPr txBox="1"/>
            <p:nvPr/>
          </p:nvSpPr>
          <p:spPr>
            <a:xfrm>
              <a:off x="461913" y="3300468"/>
              <a:ext cx="675185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수집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정제</a:t>
              </a: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19301E15-97FB-D01F-7DB8-3CB3BB8E3B8D}"/>
                </a:ext>
              </a:extLst>
            </p:cNvPr>
            <p:cNvSpPr/>
            <p:nvPr/>
          </p:nvSpPr>
          <p:spPr>
            <a:xfrm>
              <a:off x="1073150" y="30407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2" name="Image 2" descr="preencoded.png">
              <a:extLst>
                <a:ext uri="{FF2B5EF4-FFF2-40B4-BE49-F238E27FC236}">
                  <a16:creationId xmlns:a16="http://schemas.microsoft.com/office/drawing/2014/main" id="{54DE5D36-5B36-42BA-8943-E11ABFB54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2034" y="3089614"/>
              <a:ext cx="103050" cy="103050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04B201E-7B3B-290C-FF2E-DBECAD0F5FEA}"/>
              </a:ext>
            </a:extLst>
          </p:cNvPr>
          <p:cNvGrpSpPr/>
          <p:nvPr/>
        </p:nvGrpSpPr>
        <p:grpSpPr>
          <a:xfrm>
            <a:off x="398561" y="3665926"/>
            <a:ext cx="1020075" cy="668751"/>
            <a:chOff x="342000" y="3665926"/>
            <a:chExt cx="1020075" cy="668751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EE6AF831-736D-AB22-AAE4-9E3374073ABB}"/>
                </a:ext>
              </a:extLst>
            </p:cNvPr>
            <p:cNvSpPr/>
            <p:nvPr/>
          </p:nvSpPr>
          <p:spPr>
            <a:xfrm>
              <a:off x="342000" y="36659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8532E4F-F7BA-82B7-0CEA-032B14E9EA39}"/>
                </a:ext>
              </a:extLst>
            </p:cNvPr>
            <p:cNvSpPr txBox="1"/>
            <p:nvPr/>
          </p:nvSpPr>
          <p:spPr>
            <a:xfrm>
              <a:off x="461913" y="4021068"/>
              <a:ext cx="28084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저장</a:t>
              </a: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DADA3068-EA59-0137-6B56-B0B7C950C32D}"/>
                </a:ext>
              </a:extLst>
            </p:cNvPr>
            <p:cNvSpPr/>
            <p:nvPr/>
          </p:nvSpPr>
          <p:spPr>
            <a:xfrm>
              <a:off x="1073150" y="37613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4" name="Image 3" descr="preencoded.png">
              <a:extLst>
                <a:ext uri="{FF2B5EF4-FFF2-40B4-BE49-F238E27FC236}">
                  <a16:creationId xmlns:a16="http://schemas.microsoft.com/office/drawing/2014/main" id="{B665F3B5-786F-ABD2-6DB9-8C26E19ED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2034" y="3810214"/>
              <a:ext cx="103050" cy="103050"/>
            </a:xfrm>
            <a:prstGeom prst="rect">
              <a:avLst/>
            </a:prstGeom>
          </p:spPr>
        </p:pic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733255B-8A66-4A23-CF0B-FA2FCB197AF8}"/>
              </a:ext>
            </a:extLst>
          </p:cNvPr>
          <p:cNvGrpSpPr/>
          <p:nvPr/>
        </p:nvGrpSpPr>
        <p:grpSpPr>
          <a:xfrm>
            <a:off x="398561" y="4386526"/>
            <a:ext cx="1020075" cy="668751"/>
            <a:chOff x="342000" y="4386526"/>
            <a:chExt cx="1020075" cy="668751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9E572961-B014-548B-65C9-CA43D8E72A25}"/>
                </a:ext>
              </a:extLst>
            </p:cNvPr>
            <p:cNvSpPr/>
            <p:nvPr/>
          </p:nvSpPr>
          <p:spPr>
            <a:xfrm>
              <a:off x="342000" y="43865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EC6570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286DCF3-2ACA-CEAB-362B-DB3B6F134F13}"/>
                </a:ext>
              </a:extLst>
            </p:cNvPr>
            <p:cNvSpPr txBox="1"/>
            <p:nvPr/>
          </p:nvSpPr>
          <p:spPr>
            <a:xfrm>
              <a:off x="461913" y="4741668"/>
              <a:ext cx="59792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분석 엔진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05BC9EFC-720E-C85E-66B6-C0273F742DFC}"/>
                </a:ext>
              </a:extLst>
            </p:cNvPr>
            <p:cNvSpPr/>
            <p:nvPr/>
          </p:nvSpPr>
          <p:spPr>
            <a:xfrm>
              <a:off x="1073150" y="44819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6" name="Image 4" descr="preencoded.png">
              <a:extLst>
                <a:ext uri="{FF2B5EF4-FFF2-40B4-BE49-F238E27FC236}">
                  <a16:creationId xmlns:a16="http://schemas.microsoft.com/office/drawing/2014/main" id="{0A277973-AF4D-8368-6B52-06B505435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034" y="4530814"/>
              <a:ext cx="103050" cy="103050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065E933-C6DC-F50B-6DA3-C453A874FB60}"/>
              </a:ext>
            </a:extLst>
          </p:cNvPr>
          <p:cNvGrpSpPr/>
          <p:nvPr/>
        </p:nvGrpSpPr>
        <p:grpSpPr>
          <a:xfrm>
            <a:off x="398561" y="5107126"/>
            <a:ext cx="1020075" cy="668751"/>
            <a:chOff x="342000" y="5107126"/>
            <a:chExt cx="1020075" cy="668751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D3C5761E-91D3-A07A-1E1B-C8E709F9FEBB}"/>
                </a:ext>
              </a:extLst>
            </p:cNvPr>
            <p:cNvSpPr/>
            <p:nvPr/>
          </p:nvSpPr>
          <p:spPr>
            <a:xfrm>
              <a:off x="342000" y="51071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0F1415A-7ABC-9BFF-CA1D-A5C3D8A719A0}"/>
                </a:ext>
              </a:extLst>
            </p:cNvPr>
            <p:cNvSpPr txBox="1"/>
            <p:nvPr/>
          </p:nvSpPr>
          <p:spPr>
            <a:xfrm>
              <a:off x="461913" y="5462268"/>
              <a:ext cx="28084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서빙</a:t>
              </a: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E2612A3-B783-FC9C-0E85-F5CDBECDA49F}"/>
                </a:ext>
              </a:extLst>
            </p:cNvPr>
            <p:cNvSpPr/>
            <p:nvPr/>
          </p:nvSpPr>
          <p:spPr>
            <a:xfrm>
              <a:off x="1073150" y="52025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8" name="Image 5" descr="preencoded.png">
              <a:extLst>
                <a:ext uri="{FF2B5EF4-FFF2-40B4-BE49-F238E27FC236}">
                  <a16:creationId xmlns:a16="http://schemas.microsoft.com/office/drawing/2014/main" id="{F5B15779-CD40-2B20-1670-184A15342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2034" y="5256821"/>
              <a:ext cx="103050" cy="103050"/>
            </a:xfrm>
            <a:prstGeom prst="rect">
              <a:avLst/>
            </a:prstGeom>
          </p:spPr>
        </p:pic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15106735-803E-6B0C-77DE-C174087D5749}"/>
              </a:ext>
            </a:extLst>
          </p:cNvPr>
          <p:cNvCxnSpPr>
            <a:cxnSpLocks/>
          </p:cNvCxnSpPr>
          <p:nvPr/>
        </p:nvCxnSpPr>
        <p:spPr>
          <a:xfrm>
            <a:off x="2724612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207FD77-A6E5-94CB-E832-640550792398}"/>
              </a:ext>
            </a:extLst>
          </p:cNvPr>
          <p:cNvCxnSpPr>
            <a:cxnSpLocks/>
          </p:cNvCxnSpPr>
          <p:nvPr/>
        </p:nvCxnSpPr>
        <p:spPr>
          <a:xfrm>
            <a:off x="3964600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35AF1F3-55A3-F784-8B6E-3E41958FA884}"/>
              </a:ext>
            </a:extLst>
          </p:cNvPr>
          <p:cNvCxnSpPr>
            <a:cxnSpLocks/>
          </p:cNvCxnSpPr>
          <p:nvPr/>
        </p:nvCxnSpPr>
        <p:spPr>
          <a:xfrm>
            <a:off x="5204588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DBA64CD2-12D9-EEE2-09DA-4620C8C06D73}"/>
              </a:ext>
            </a:extLst>
          </p:cNvPr>
          <p:cNvCxnSpPr>
            <a:cxnSpLocks/>
          </p:cNvCxnSpPr>
          <p:nvPr/>
        </p:nvCxnSpPr>
        <p:spPr>
          <a:xfrm>
            <a:off x="6444576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78FB8C5E-288D-EC9C-7D7A-14CE0CBA1F74}"/>
              </a:ext>
            </a:extLst>
          </p:cNvPr>
          <p:cNvCxnSpPr>
            <a:cxnSpLocks/>
          </p:cNvCxnSpPr>
          <p:nvPr/>
        </p:nvCxnSpPr>
        <p:spPr>
          <a:xfrm>
            <a:off x="7684564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02C1D2C-40FD-6D35-DA00-B601D7EBDD69}"/>
              </a:ext>
            </a:extLst>
          </p:cNvPr>
          <p:cNvGrpSpPr/>
          <p:nvPr/>
        </p:nvGrpSpPr>
        <p:grpSpPr>
          <a:xfrm>
            <a:off x="1589399" y="2331216"/>
            <a:ext cx="961802" cy="455771"/>
            <a:chOff x="4160520" y="4036455"/>
            <a:chExt cx="961802" cy="455771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6AF0562-21EE-813F-4CEE-C0AD81C7B0E9}"/>
                </a:ext>
              </a:extLst>
            </p:cNvPr>
            <p:cNvSpPr txBox="1"/>
            <p:nvPr/>
          </p:nvSpPr>
          <p:spPr>
            <a:xfrm>
              <a:off x="4160520" y="4353727"/>
              <a:ext cx="961802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 실수요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무료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API)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11E63F0-1292-C857-BD39-BF091E1D085F}"/>
                </a:ext>
              </a:extLst>
            </p:cNvPr>
            <p:cNvSpPr txBox="1"/>
            <p:nvPr/>
          </p:nvSpPr>
          <p:spPr>
            <a:xfrm>
              <a:off x="4160520" y="4036455"/>
              <a:ext cx="72680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네이버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데이터랩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BF1DE60-F3B0-E546-6BC5-8ECBD2F768E5}"/>
              </a:ext>
            </a:extLst>
          </p:cNvPr>
          <p:cNvGrpSpPr/>
          <p:nvPr/>
        </p:nvGrpSpPr>
        <p:grpSpPr>
          <a:xfrm>
            <a:off x="2829387" y="2408160"/>
            <a:ext cx="781624" cy="301882"/>
            <a:chOff x="4160520" y="4190344"/>
            <a:chExt cx="781624" cy="301882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51AE95F-B0FC-CE6D-A075-BDC20C4B55B3}"/>
                </a:ext>
              </a:extLst>
            </p:cNvPr>
            <p:cNvSpPr txBox="1"/>
            <p:nvPr/>
          </p:nvSpPr>
          <p:spPr>
            <a:xfrm>
              <a:off x="4160520" y="4353727"/>
              <a:ext cx="78162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글로벌 관심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무료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A40BE02-5777-8AC8-D656-14BF4D82C000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구글 트렌드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0C0013B-36FB-8605-50D9-33B12CF5DFE0}"/>
              </a:ext>
            </a:extLst>
          </p:cNvPr>
          <p:cNvGrpSpPr/>
          <p:nvPr/>
        </p:nvGrpSpPr>
        <p:grpSpPr>
          <a:xfrm>
            <a:off x="4069375" y="2408160"/>
            <a:ext cx="877163" cy="301882"/>
            <a:chOff x="4160520" y="4190344"/>
            <a:chExt cx="877163" cy="301882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D25FD5A-3DE2-C88D-588D-C5DAF5707C15}"/>
                </a:ext>
              </a:extLst>
            </p:cNvPr>
            <p:cNvSpPr txBox="1"/>
            <p:nvPr/>
          </p:nvSpPr>
          <p:spPr>
            <a:xfrm>
              <a:off x="4160520" y="4353727"/>
              <a:ext cx="877163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영상 바이럴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쿼터제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969B91E-2DC1-4F62-86B9-593BFA8BB462}"/>
                </a:ext>
              </a:extLst>
            </p:cNvPr>
            <p:cNvSpPr txBox="1"/>
            <p:nvPr/>
          </p:nvSpPr>
          <p:spPr>
            <a:xfrm>
              <a:off x="4160520" y="4190344"/>
              <a:ext cx="81785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유튜브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Data API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BD13ED3-0D15-EC9F-0D1E-4F0B1E6898A6}"/>
              </a:ext>
            </a:extLst>
          </p:cNvPr>
          <p:cNvGrpSpPr/>
          <p:nvPr/>
        </p:nvGrpSpPr>
        <p:grpSpPr>
          <a:xfrm>
            <a:off x="5309363" y="2408160"/>
            <a:ext cx="900568" cy="301882"/>
            <a:chOff x="4160520" y="4190344"/>
            <a:chExt cx="900568" cy="30188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580BCBA-DFA5-5D54-E267-16885220C775}"/>
                </a:ext>
              </a:extLst>
            </p:cNvPr>
            <p:cNvSpPr txBox="1"/>
            <p:nvPr/>
          </p:nvSpPr>
          <p:spPr>
            <a:xfrm>
              <a:off x="4160520" y="4353727"/>
              <a:ext cx="900568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현장 인기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준법 크롤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EAF5164-7B38-D481-E417-1B53728F7134}"/>
                </a:ext>
              </a:extLst>
            </p:cNvPr>
            <p:cNvSpPr txBox="1"/>
            <p:nvPr/>
          </p:nvSpPr>
          <p:spPr>
            <a:xfrm>
              <a:off x="4160520" y="4190344"/>
              <a:ext cx="83356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배달앱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커뮤니티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DCCB0F8A-DD3E-68C0-2B7C-1B5805541320}"/>
              </a:ext>
            </a:extLst>
          </p:cNvPr>
          <p:cNvGrpSpPr/>
          <p:nvPr/>
        </p:nvGrpSpPr>
        <p:grpSpPr>
          <a:xfrm>
            <a:off x="6549351" y="2408160"/>
            <a:ext cx="837730" cy="301882"/>
            <a:chOff x="4160520" y="4190344"/>
            <a:chExt cx="837730" cy="30188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470BC95-A041-AC9B-4CA5-AD54267EC62E}"/>
                </a:ext>
              </a:extLst>
            </p:cNvPr>
            <p:cNvSpPr txBox="1"/>
            <p:nvPr/>
          </p:nvSpPr>
          <p:spPr>
            <a:xfrm>
              <a:off x="4160520" y="4353727"/>
              <a:ext cx="83773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6~12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개월 선행지표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4062A4-2D2F-F2C3-4FD8-E886447FAA5A}"/>
                </a:ext>
              </a:extLst>
            </p:cNvPr>
            <p:cNvSpPr txBox="1"/>
            <p:nvPr/>
          </p:nvSpPr>
          <p:spPr>
            <a:xfrm>
              <a:off x="4160520" y="4190344"/>
              <a:ext cx="46583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해외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RSS</a:t>
              </a: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B574A10-158F-D0C0-367D-4755F260CD28}"/>
              </a:ext>
            </a:extLst>
          </p:cNvPr>
          <p:cNvGrpSpPr/>
          <p:nvPr/>
        </p:nvGrpSpPr>
        <p:grpSpPr>
          <a:xfrm>
            <a:off x="7789339" y="2408160"/>
            <a:ext cx="957313" cy="301882"/>
            <a:chOff x="4160520" y="4190344"/>
            <a:chExt cx="957313" cy="30188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A34119D-2A6C-84D1-C914-3326010A7FCB}"/>
                </a:ext>
              </a:extLst>
            </p:cNvPr>
            <p:cNvSpPr txBox="1"/>
            <p:nvPr/>
          </p:nvSpPr>
          <p:spPr>
            <a:xfrm>
              <a:off x="4160520" y="4353727"/>
              <a:ext cx="957313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실거래+B2B 오픈베타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9C60B0D-3F77-B137-B50E-76D23DDBA125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자사 학습데이터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197B4E7E-C617-0527-1BD5-FDE9E9FEE01C}"/>
              </a:ext>
            </a:extLst>
          </p:cNvPr>
          <p:cNvGrpSpPr/>
          <p:nvPr/>
        </p:nvGrpSpPr>
        <p:grpSpPr>
          <a:xfrm>
            <a:off x="1589399" y="3059510"/>
            <a:ext cx="1047403" cy="440382"/>
            <a:chOff x="4160520" y="4190344"/>
            <a:chExt cx="1047403" cy="440382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DFCD45B-FCE2-0894-B6B9-829E1F67CE11}"/>
                </a:ext>
              </a:extLst>
            </p:cNvPr>
            <p:cNvSpPr txBox="1"/>
            <p:nvPr/>
          </p:nvSpPr>
          <p:spPr>
            <a:xfrm>
              <a:off x="4160520" y="4353727"/>
              <a:ext cx="104740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APScheduler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뉴스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SNS 6h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차등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BB345B6-E62D-9E82-3A47-B35D5D4DB2F8}"/>
                </a:ext>
              </a:extLst>
            </p:cNvPr>
            <p:cNvSpPr txBox="1"/>
            <p:nvPr/>
          </p:nvSpPr>
          <p:spPr>
            <a:xfrm>
              <a:off x="4160520" y="4190344"/>
              <a:ext cx="66877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스케줄러 워커</a:t>
              </a:r>
            </a:p>
          </p:txBody>
        </p:sp>
      </p:grp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4FB44AA0-7A64-28EE-5F92-EF3934F3AD66}"/>
              </a:ext>
            </a:extLst>
          </p:cNvPr>
          <p:cNvCxnSpPr>
            <a:cxnSpLocks/>
          </p:cNvCxnSpPr>
          <p:nvPr/>
        </p:nvCxnSpPr>
        <p:spPr>
          <a:xfrm>
            <a:off x="3344605" y="30396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7AC6B25D-9FB2-2053-FC79-F93C704C1316}"/>
              </a:ext>
            </a:extLst>
          </p:cNvPr>
          <p:cNvGrpSpPr/>
          <p:nvPr/>
        </p:nvGrpSpPr>
        <p:grpSpPr>
          <a:xfrm>
            <a:off x="3449380" y="3128760"/>
            <a:ext cx="1350050" cy="301882"/>
            <a:chOff x="4160520" y="4190344"/>
            <a:chExt cx="1350050" cy="301882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325C025-6530-C617-F4B8-ECE52AB5DD09}"/>
                </a:ext>
              </a:extLst>
            </p:cNvPr>
            <p:cNvSpPr txBox="1"/>
            <p:nvPr/>
          </p:nvSpPr>
          <p:spPr>
            <a:xfrm>
              <a:off x="4160520" y="4353727"/>
              <a:ext cx="13500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Haiku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3141F71-DFC8-13DC-901E-28AB6840EF9E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도메인 필터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C8849E4C-C98B-62EC-43D1-B61ABD36A7BF}"/>
              </a:ext>
            </a:extLst>
          </p:cNvPr>
          <p:cNvCxnSpPr>
            <a:cxnSpLocks/>
          </p:cNvCxnSpPr>
          <p:nvPr/>
        </p:nvCxnSpPr>
        <p:spPr>
          <a:xfrm>
            <a:off x="5204586" y="30396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750D9A5A-BB60-7C09-064A-C2852E16057F}"/>
              </a:ext>
            </a:extLst>
          </p:cNvPr>
          <p:cNvGrpSpPr/>
          <p:nvPr/>
        </p:nvGrpSpPr>
        <p:grpSpPr>
          <a:xfrm>
            <a:off x="5309361" y="3128760"/>
            <a:ext cx="1246495" cy="301882"/>
            <a:chOff x="4160520" y="4190344"/>
            <a:chExt cx="1246495" cy="301882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47A5E2B-3CAB-DE6B-F636-3B723811DDAF}"/>
                </a:ext>
              </a:extLst>
            </p:cNvPr>
            <p:cNvSpPr txBox="1"/>
            <p:nvPr/>
          </p:nvSpPr>
          <p:spPr>
            <a:xfrm>
              <a:off x="4160520" y="4353727"/>
              <a:ext cx="124649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체험단 플래그 → 신뢰도 감점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6A82409-ADA2-A9B5-7668-CE13EF8FCEC0}"/>
                </a:ext>
              </a:extLst>
            </p:cNvPr>
            <p:cNvSpPr txBox="1"/>
            <p:nvPr/>
          </p:nvSpPr>
          <p:spPr>
            <a:xfrm>
              <a:off x="4160520" y="4190344"/>
              <a:ext cx="755015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광고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중복 처리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79777B59-4CCD-3EE0-F576-47A81264154F}"/>
              </a:ext>
            </a:extLst>
          </p:cNvPr>
          <p:cNvCxnSpPr>
            <a:cxnSpLocks/>
          </p:cNvCxnSpPr>
          <p:nvPr/>
        </p:nvCxnSpPr>
        <p:spPr>
          <a:xfrm>
            <a:off x="7064567" y="30396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D62C5E0A-0810-23BD-D795-FDE41090D17F}"/>
              </a:ext>
            </a:extLst>
          </p:cNvPr>
          <p:cNvGrpSpPr/>
          <p:nvPr/>
        </p:nvGrpSpPr>
        <p:grpSpPr>
          <a:xfrm>
            <a:off x="7169342" y="3128760"/>
            <a:ext cx="1155766" cy="301882"/>
            <a:chOff x="4160520" y="4190344"/>
            <a:chExt cx="1155766" cy="301882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3502890-8479-7260-91E7-DF072286ECA8}"/>
                </a:ext>
              </a:extLst>
            </p:cNvPr>
            <p:cNvSpPr txBox="1"/>
            <p:nvPr/>
          </p:nvSpPr>
          <p:spPr>
            <a:xfrm>
              <a:off x="4160520" y="4353727"/>
              <a:ext cx="115576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원문 미보관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집계 지표만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1572221-93B4-5D86-CC46-2661C5EFF215}"/>
                </a:ext>
              </a:extLst>
            </p:cNvPr>
            <p:cNvSpPr txBox="1"/>
            <p:nvPr/>
          </p:nvSpPr>
          <p:spPr>
            <a:xfrm>
              <a:off x="4160520" y="4190344"/>
              <a:ext cx="72680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정규화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지표화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B0C1D293-2A60-88D3-AB13-653B6451E358}"/>
              </a:ext>
            </a:extLst>
          </p:cNvPr>
          <p:cNvGrpSpPr/>
          <p:nvPr/>
        </p:nvGrpSpPr>
        <p:grpSpPr>
          <a:xfrm>
            <a:off x="1589399" y="3849360"/>
            <a:ext cx="1686680" cy="301882"/>
            <a:chOff x="4160520" y="4190344"/>
            <a:chExt cx="1686680" cy="301882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01A0C868-9FAB-ACF2-E483-07C9B5E1D55F}"/>
                </a:ext>
              </a:extLst>
            </p:cNvPr>
            <p:cNvSpPr txBox="1"/>
            <p:nvPr/>
          </p:nvSpPr>
          <p:spPr>
            <a:xfrm>
              <a:off x="4160520" y="4353727"/>
              <a:ext cx="168668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keywords · daily_metrics 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×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소스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E1CFD74-0B32-A9B2-2F4B-725C5B882796}"/>
                </a:ext>
              </a:extLst>
            </p:cNvPr>
            <p:cNvSpPr txBox="1"/>
            <p:nvPr/>
          </p:nvSpPr>
          <p:spPr>
            <a:xfrm>
              <a:off x="4160520" y="4190344"/>
              <a:ext cx="1008931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PostgreSQL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시계열</a:t>
              </a:r>
            </a:p>
          </p:txBody>
        </p:sp>
      </p:grp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F96A574-BC5B-523F-0E7C-0C5C4779C1CC}"/>
              </a:ext>
            </a:extLst>
          </p:cNvPr>
          <p:cNvCxnSpPr>
            <a:cxnSpLocks/>
          </p:cNvCxnSpPr>
          <p:nvPr/>
        </p:nvCxnSpPr>
        <p:spPr>
          <a:xfrm>
            <a:off x="3344605" y="37602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051682FC-8762-B96F-798D-BE84AC565457}"/>
              </a:ext>
            </a:extLst>
          </p:cNvPr>
          <p:cNvGrpSpPr/>
          <p:nvPr/>
        </p:nvGrpSpPr>
        <p:grpSpPr>
          <a:xfrm>
            <a:off x="3449380" y="3849360"/>
            <a:ext cx="1687321" cy="301882"/>
            <a:chOff x="4160520" y="4190344"/>
            <a:chExt cx="1687321" cy="30188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11534FA-9107-6B6B-BB9A-13026496AEAB}"/>
                </a:ext>
              </a:extLst>
            </p:cNvPr>
            <p:cNvSpPr txBox="1"/>
            <p:nvPr/>
          </p:nvSpPr>
          <p:spPr>
            <a:xfrm>
              <a:off x="4160520" y="4353727"/>
              <a:ext cx="168732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documents.embedding vector(768)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099A036-AE94-D9F1-595B-F21659CFD052}"/>
                </a:ext>
              </a:extLst>
            </p:cNvPr>
            <p:cNvSpPr txBox="1"/>
            <p:nvPr/>
          </p:nvSpPr>
          <p:spPr>
            <a:xfrm>
              <a:off x="4160520" y="4190344"/>
              <a:ext cx="950260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pgvector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의미검색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A9EA0DDE-89CA-1F53-1CCC-00066394D82C}"/>
              </a:ext>
            </a:extLst>
          </p:cNvPr>
          <p:cNvCxnSpPr>
            <a:cxnSpLocks/>
          </p:cNvCxnSpPr>
          <p:nvPr/>
        </p:nvCxnSpPr>
        <p:spPr>
          <a:xfrm>
            <a:off x="5204586" y="37602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6B806B23-72BC-9D37-1F73-5C1ED124DB76}"/>
              </a:ext>
            </a:extLst>
          </p:cNvPr>
          <p:cNvGrpSpPr/>
          <p:nvPr/>
        </p:nvGrpSpPr>
        <p:grpSpPr>
          <a:xfrm>
            <a:off x="5309361" y="3849360"/>
            <a:ext cx="1536639" cy="301882"/>
            <a:chOff x="4160520" y="4190344"/>
            <a:chExt cx="1536639" cy="301882"/>
          </a:xfrm>
        </p:grpSpPr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9CE70FF-B581-C621-1D95-8DEEB2F7ED09}"/>
                </a:ext>
              </a:extLst>
            </p:cNvPr>
            <p:cNvSpPr txBox="1"/>
            <p:nvPr/>
          </p:nvSpPr>
          <p:spPr>
            <a:xfrm>
              <a:off x="4160520" y="4353727"/>
              <a:ext cx="153663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별도 벡터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불요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비용 최소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85E0C605-B041-4D3E-2738-363403B00D4D}"/>
                </a:ext>
              </a:extLst>
            </p:cNvPr>
            <p:cNvSpPr txBox="1"/>
            <p:nvPr/>
          </p:nvSpPr>
          <p:spPr>
            <a:xfrm>
              <a:off x="4160520" y="4190344"/>
              <a:ext cx="64408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단일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DB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통합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A13F9E08-0C72-ACDF-70B7-AEAF0F787803}"/>
              </a:ext>
            </a:extLst>
          </p:cNvPr>
          <p:cNvCxnSpPr>
            <a:cxnSpLocks/>
          </p:cNvCxnSpPr>
          <p:nvPr/>
        </p:nvCxnSpPr>
        <p:spPr>
          <a:xfrm>
            <a:off x="7064567" y="37602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FCBF767-A9E4-5B20-4C4E-72E336DB6521}"/>
              </a:ext>
            </a:extLst>
          </p:cNvPr>
          <p:cNvGrpSpPr/>
          <p:nvPr/>
        </p:nvGrpSpPr>
        <p:grpSpPr>
          <a:xfrm>
            <a:off x="7169342" y="3849360"/>
            <a:ext cx="974306" cy="301882"/>
            <a:chOff x="4160520" y="4190344"/>
            <a:chExt cx="974306" cy="301882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F76F139-4E97-BE25-1382-232628C9FDB4}"/>
                </a:ext>
              </a:extLst>
            </p:cNvPr>
            <p:cNvSpPr txBox="1"/>
            <p:nvPr/>
          </p:nvSpPr>
          <p:spPr>
            <a:xfrm>
              <a:off x="4160520" y="4353727"/>
              <a:ext cx="97430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감사용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거버넌스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11C8890-0AC7-7F7F-AF71-FD8BF4986651}"/>
                </a:ext>
              </a:extLst>
            </p:cNvPr>
            <p:cNvSpPr txBox="1"/>
            <p:nvPr/>
          </p:nvSpPr>
          <p:spPr>
            <a:xfrm>
              <a:off x="4160520" y="4190344"/>
              <a:ext cx="47865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Raw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로그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BB77D8BC-E354-698D-5593-387AC8F308C3}"/>
              </a:ext>
            </a:extLst>
          </p:cNvPr>
          <p:cNvGrpSpPr/>
          <p:nvPr/>
        </p:nvGrpSpPr>
        <p:grpSpPr>
          <a:xfrm>
            <a:off x="1589399" y="4500710"/>
            <a:ext cx="1106713" cy="440382"/>
            <a:chOff x="4160520" y="4190344"/>
            <a:chExt cx="1106713" cy="440382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0EA39B0B-7589-3C15-A914-E0F59292B71A}"/>
                </a:ext>
              </a:extLst>
            </p:cNvPr>
            <p:cNvSpPr txBox="1"/>
            <p:nvPr/>
          </p:nvSpPr>
          <p:spPr>
            <a:xfrm>
              <a:off x="4160520" y="4353727"/>
              <a:ext cx="101854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 · momentum ·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S-curve 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계절보정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5E7B5833-9EE4-6D34-DCF6-264D420DA27A}"/>
                </a:ext>
              </a:extLst>
            </p:cNvPr>
            <p:cNvSpPr txBox="1"/>
            <p:nvPr/>
          </p:nvSpPr>
          <p:spPr>
            <a:xfrm>
              <a:off x="4160520" y="4190344"/>
              <a:ext cx="11067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[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1]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스코어링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코드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9FD81C15-345A-ECF5-ECF4-F92246A932E1}"/>
              </a:ext>
            </a:extLst>
          </p:cNvPr>
          <p:cNvCxnSpPr>
            <a:cxnSpLocks/>
          </p:cNvCxnSpPr>
          <p:nvPr/>
        </p:nvCxnSpPr>
        <p:spPr>
          <a:xfrm>
            <a:off x="3344605" y="44808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89206FF3-5BE3-D0E9-F9AC-7C79018C6BEC}"/>
              </a:ext>
            </a:extLst>
          </p:cNvPr>
          <p:cNvGrpSpPr/>
          <p:nvPr/>
        </p:nvGrpSpPr>
        <p:grpSpPr>
          <a:xfrm>
            <a:off x="3449380" y="4500710"/>
            <a:ext cx="1070806" cy="440382"/>
            <a:chOff x="4160520" y="4190344"/>
            <a:chExt cx="1070806" cy="440382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0873C16-8D74-69A7-F88E-F9410B5E9C6F}"/>
                </a:ext>
              </a:extLst>
            </p:cNvPr>
            <p:cNvSpPr txBox="1"/>
            <p:nvPr/>
          </p:nvSpPr>
          <p:spPr>
            <a:xfrm>
              <a:off x="4160520" y="4353727"/>
              <a:ext cx="107080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NER·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신조어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감성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=Haiku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인사이트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=Sonnet+RAG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598C998-8E38-0B4A-8A5A-7E23E1BCFD22}"/>
                </a:ext>
              </a:extLst>
            </p:cNvPr>
            <p:cNvSpPr txBox="1"/>
            <p:nvPr/>
          </p:nvSpPr>
          <p:spPr>
            <a:xfrm>
              <a:off x="4160520" y="4190344"/>
              <a:ext cx="91242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LLM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노드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티어링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</p:grp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513D97A-004A-E2F9-D68A-36DC339C2CA6}"/>
              </a:ext>
            </a:extLst>
          </p:cNvPr>
          <p:cNvCxnSpPr>
            <a:cxnSpLocks/>
          </p:cNvCxnSpPr>
          <p:nvPr/>
        </p:nvCxnSpPr>
        <p:spPr>
          <a:xfrm>
            <a:off x="5204586" y="44808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4A4D25A2-3A0F-C092-8EEE-A5FB3FFABDF1}"/>
              </a:ext>
            </a:extLst>
          </p:cNvPr>
          <p:cNvGrpSpPr/>
          <p:nvPr/>
        </p:nvGrpSpPr>
        <p:grpSpPr>
          <a:xfrm>
            <a:off x="5309361" y="4500710"/>
            <a:ext cx="1306127" cy="440382"/>
            <a:chOff x="4160520" y="4190344"/>
            <a:chExt cx="1306127" cy="440382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DA4F4EF-EA34-14CA-380A-2E048E1780BA}"/>
                </a:ext>
              </a:extLst>
            </p:cNvPr>
            <p:cNvSpPr txBox="1"/>
            <p:nvPr/>
          </p:nvSpPr>
          <p:spPr>
            <a:xfrm>
              <a:off x="4160520" y="4353727"/>
              <a:ext cx="13061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→ 검색 → 랭킹 → 근거의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상태 그래프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AEFEEA30-F5E4-BCF0-7F01-103F0368DCE4}"/>
                </a:ext>
              </a:extLst>
            </p:cNvPr>
            <p:cNvSpPr txBox="1"/>
            <p:nvPr/>
          </p:nvSpPr>
          <p:spPr>
            <a:xfrm>
              <a:off x="4160520" y="4190344"/>
              <a:ext cx="100828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[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2]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LangGraph</a:t>
              </a:r>
            </a:p>
          </p:txBody>
        </p:sp>
      </p:grp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2D946098-59B5-25D0-FE50-EECE0E08DD82}"/>
              </a:ext>
            </a:extLst>
          </p:cNvPr>
          <p:cNvCxnSpPr>
            <a:cxnSpLocks/>
          </p:cNvCxnSpPr>
          <p:nvPr/>
        </p:nvCxnSpPr>
        <p:spPr>
          <a:xfrm>
            <a:off x="7064567" y="44808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4A41EE95-80B8-6FAD-2209-1C672CA572C1}"/>
              </a:ext>
            </a:extLst>
          </p:cNvPr>
          <p:cNvGrpSpPr/>
          <p:nvPr/>
        </p:nvGrpSpPr>
        <p:grpSpPr>
          <a:xfrm>
            <a:off x="7169342" y="4569960"/>
            <a:ext cx="1620315" cy="301882"/>
            <a:chOff x="4160520" y="4190344"/>
            <a:chExt cx="1620315" cy="301882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23430FC-88B1-07BE-B80F-9D9D656E4470}"/>
                </a:ext>
              </a:extLst>
            </p:cNvPr>
            <p:cNvSpPr txBox="1"/>
            <p:nvPr/>
          </p:nvSpPr>
          <p:spPr>
            <a:xfrm>
              <a:off x="4160520" y="4353727"/>
              <a:ext cx="162031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계산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코드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생성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=LLM · citation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강제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DA300FA-E6AC-849E-184F-07026F3966A5}"/>
                </a:ext>
              </a:extLst>
            </p:cNvPr>
            <p:cNvSpPr txBox="1"/>
            <p:nvPr/>
          </p:nvSpPr>
          <p:spPr>
            <a:xfrm>
              <a:off x="4160520" y="4190344"/>
              <a:ext cx="45525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환각 통제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BDE70614-1D6A-6C18-C2FE-5BFC11AA01DA}"/>
              </a:ext>
            </a:extLst>
          </p:cNvPr>
          <p:cNvGrpSpPr/>
          <p:nvPr/>
        </p:nvGrpSpPr>
        <p:grpSpPr>
          <a:xfrm>
            <a:off x="1589399" y="5290560"/>
            <a:ext cx="1453924" cy="301882"/>
            <a:chOff x="4160520" y="4190344"/>
            <a:chExt cx="1453924" cy="301882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E505E3D-0445-A4CB-DE2E-29383ADB8ABF}"/>
                </a:ext>
              </a:extLst>
            </p:cNvPr>
            <p:cNvSpPr txBox="1"/>
            <p:nvPr/>
          </p:nvSpPr>
          <p:spPr>
            <a:xfrm>
              <a:off x="4160520" y="4353727"/>
              <a:ext cx="145392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랭킹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성장곡선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히트맵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(FastAPI)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65A20DA4-B7F7-43B4-2831-749D381BE2B5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웹 대시보드</a:t>
              </a:r>
            </a:p>
          </p:txBody>
        </p:sp>
      </p:grp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8D62DF45-4C89-87E1-0D1B-F344B71E6652}"/>
              </a:ext>
            </a:extLst>
          </p:cNvPr>
          <p:cNvCxnSpPr>
            <a:cxnSpLocks/>
          </p:cNvCxnSpPr>
          <p:nvPr/>
        </p:nvCxnSpPr>
        <p:spPr>
          <a:xfrm>
            <a:off x="3344605" y="52014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8340DDED-EC4B-4E2B-34D1-C59188FD23D9}"/>
              </a:ext>
            </a:extLst>
          </p:cNvPr>
          <p:cNvGrpSpPr/>
          <p:nvPr/>
        </p:nvGrpSpPr>
        <p:grpSpPr>
          <a:xfrm>
            <a:off x="3449380" y="5290560"/>
            <a:ext cx="1140377" cy="301882"/>
            <a:chOff x="4160520" y="4190344"/>
            <a:chExt cx="1140377" cy="301882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BAFA03A-5DF7-8E44-56F6-8F337AED0E17}"/>
                </a:ext>
              </a:extLst>
            </p:cNvPr>
            <p:cNvSpPr txBox="1"/>
            <p:nvPr/>
          </p:nvSpPr>
          <p:spPr>
            <a:xfrm>
              <a:off x="4160520" y="4353727"/>
              <a:ext cx="114037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웹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이메일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카카오 조기경보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215C9F8-1C0E-8EF9-3048-4C8214C82F2A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급상승 알림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620AD04-EBA8-7A2E-CC42-9FCF8C7D9D00}"/>
              </a:ext>
            </a:extLst>
          </p:cNvPr>
          <p:cNvCxnSpPr>
            <a:cxnSpLocks/>
          </p:cNvCxnSpPr>
          <p:nvPr/>
        </p:nvCxnSpPr>
        <p:spPr>
          <a:xfrm>
            <a:off x="5204586" y="52014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8D6A07B8-B9D1-CCAE-8CE3-27BD3E43E9CC}"/>
              </a:ext>
            </a:extLst>
          </p:cNvPr>
          <p:cNvGrpSpPr/>
          <p:nvPr/>
        </p:nvGrpSpPr>
        <p:grpSpPr>
          <a:xfrm>
            <a:off x="5309361" y="5290560"/>
            <a:ext cx="1238481" cy="301882"/>
            <a:chOff x="4160520" y="4190344"/>
            <a:chExt cx="1238481" cy="301882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94E009E9-6E74-8BCC-A741-BB30CF55EDA0}"/>
                </a:ext>
              </a:extLst>
            </p:cNvPr>
            <p:cNvSpPr txBox="1"/>
            <p:nvPr/>
          </p:nvSpPr>
          <p:spPr>
            <a:xfrm>
              <a:off x="4160520" y="4353727"/>
              <a:ext cx="123848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SaaS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확장 전제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(REST)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E47B0902-F47E-3B2D-12F5-1B96CC993512}"/>
                </a:ext>
              </a:extLst>
            </p:cNvPr>
            <p:cNvSpPr txBox="1"/>
            <p:nvPr/>
          </p:nvSpPr>
          <p:spPr>
            <a:xfrm>
              <a:off x="4160520" y="4190344"/>
              <a:ext cx="72712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추천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API</a:t>
              </a:r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DEE05EB2-018A-1209-ED5A-F1609E36C44B}"/>
              </a:ext>
            </a:extLst>
          </p:cNvPr>
          <p:cNvCxnSpPr>
            <a:cxnSpLocks/>
          </p:cNvCxnSpPr>
          <p:nvPr/>
        </p:nvCxnSpPr>
        <p:spPr>
          <a:xfrm>
            <a:off x="7064567" y="52014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B6444B65-AC0E-1D1A-F250-46B7532D0CE3}"/>
              </a:ext>
            </a:extLst>
          </p:cNvPr>
          <p:cNvGrpSpPr/>
          <p:nvPr/>
        </p:nvGrpSpPr>
        <p:grpSpPr>
          <a:xfrm>
            <a:off x="7169342" y="5290560"/>
            <a:ext cx="1055417" cy="301882"/>
            <a:chOff x="4160520" y="4190344"/>
            <a:chExt cx="1055417" cy="301882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FB842A9-8B27-B9B3-CFB4-B5B4D55E4F5A}"/>
                </a:ext>
              </a:extLst>
            </p:cNvPr>
            <p:cNvSpPr txBox="1"/>
            <p:nvPr/>
          </p:nvSpPr>
          <p:spPr>
            <a:xfrm>
              <a:off x="4160520" y="4353727"/>
              <a:ext cx="105541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자연어 질의 → 근거 랭킹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8170485-3372-F9BE-1388-DFA5CEE072C5}"/>
                </a:ext>
              </a:extLst>
            </p:cNvPr>
            <p:cNvSpPr txBox="1"/>
            <p:nvPr/>
          </p:nvSpPr>
          <p:spPr>
            <a:xfrm>
              <a:off x="4160520" y="4190344"/>
              <a:ext cx="64921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[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2]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챗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UI</a:t>
              </a:r>
            </a:p>
          </p:txBody>
        </p:sp>
      </p:grpSp>
      <p:sp>
        <p:nvSpPr>
          <p:cNvPr id="222" name="화살표: 아래쪽 221">
            <a:extLst>
              <a:ext uri="{FF2B5EF4-FFF2-40B4-BE49-F238E27FC236}">
                <a16:creationId xmlns:a16="http://schemas.microsoft.com/office/drawing/2014/main" id="{E511FDAE-18E6-C1DA-0193-7BAB4A9487D8}"/>
              </a:ext>
            </a:extLst>
          </p:cNvPr>
          <p:cNvSpPr/>
          <p:nvPr/>
        </p:nvSpPr>
        <p:spPr>
          <a:xfrm>
            <a:off x="841660" y="2894326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3" name="화살표: 아래쪽 222">
            <a:extLst>
              <a:ext uri="{FF2B5EF4-FFF2-40B4-BE49-F238E27FC236}">
                <a16:creationId xmlns:a16="http://schemas.microsoft.com/office/drawing/2014/main" id="{BA37F4CC-9FF7-8C8F-F77A-AEDCCEDF0CA8}"/>
              </a:ext>
            </a:extLst>
          </p:cNvPr>
          <p:cNvSpPr/>
          <p:nvPr/>
        </p:nvSpPr>
        <p:spPr>
          <a:xfrm>
            <a:off x="841660" y="3614714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4" name="화살표: 아래쪽 223">
            <a:extLst>
              <a:ext uri="{FF2B5EF4-FFF2-40B4-BE49-F238E27FC236}">
                <a16:creationId xmlns:a16="http://schemas.microsoft.com/office/drawing/2014/main" id="{DED4513D-0E85-7DCE-CE32-0C51D015B46A}"/>
              </a:ext>
            </a:extLst>
          </p:cNvPr>
          <p:cNvSpPr/>
          <p:nvPr/>
        </p:nvSpPr>
        <p:spPr>
          <a:xfrm>
            <a:off x="841660" y="4335102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5" name="화살표: 아래쪽 224">
            <a:extLst>
              <a:ext uri="{FF2B5EF4-FFF2-40B4-BE49-F238E27FC236}">
                <a16:creationId xmlns:a16="http://schemas.microsoft.com/office/drawing/2014/main" id="{98ED7ED1-EC75-0A43-AA9E-74BFFBC31A93}"/>
              </a:ext>
            </a:extLst>
          </p:cNvPr>
          <p:cNvSpPr/>
          <p:nvPr/>
        </p:nvSpPr>
        <p:spPr>
          <a:xfrm>
            <a:off x="841660" y="5055490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7" name="자유형: 도형 226">
            <a:extLst>
              <a:ext uri="{FF2B5EF4-FFF2-40B4-BE49-F238E27FC236}">
                <a16:creationId xmlns:a16="http://schemas.microsoft.com/office/drawing/2014/main" id="{049A9D94-65A4-6BE5-10F7-CDA412490A2F}"/>
              </a:ext>
            </a:extLst>
          </p:cNvPr>
          <p:cNvSpPr/>
          <p:nvPr/>
        </p:nvSpPr>
        <p:spPr>
          <a:xfrm>
            <a:off x="264684" y="2557463"/>
            <a:ext cx="133877" cy="2881311"/>
          </a:xfrm>
          <a:custGeom>
            <a:avLst/>
            <a:gdLst>
              <a:gd name="csX0" fmla="*/ 68580 w 68580"/>
              <a:gd name="csY0" fmla="*/ 2796540 h 2796540"/>
              <a:gd name="csX1" fmla="*/ 0 w 68580"/>
              <a:gd name="csY1" fmla="*/ 2796540 h 2796540"/>
              <a:gd name="csX2" fmla="*/ 0 w 68580"/>
              <a:gd name="csY2" fmla="*/ 0 h 2796540"/>
              <a:gd name="csX3" fmla="*/ 53340 w 68580"/>
              <a:gd name="csY3" fmla="*/ 0 h 27965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8580" h="2796540">
                <a:moveTo>
                  <a:pt x="68580" y="2796540"/>
                </a:moveTo>
                <a:lnTo>
                  <a:pt x="0" y="2796540"/>
                </a:lnTo>
                <a:lnTo>
                  <a:pt x="0" y="0"/>
                </a:lnTo>
                <a:lnTo>
                  <a:pt x="53340" y="0"/>
                </a:lnTo>
              </a:path>
            </a:pathLst>
          </a:custGeom>
          <a:noFill/>
          <a:ln w="6350">
            <a:solidFill>
              <a:srgbClr val="EC6570"/>
            </a:solidFill>
            <a:prstDash val="dash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4C530B3-A8ED-32F2-E973-DDBB8B6198B6}"/>
              </a:ext>
            </a:extLst>
          </p:cNvPr>
          <p:cNvSpPr txBox="1"/>
          <p:nvPr/>
        </p:nvSpPr>
        <p:spPr>
          <a:xfrm>
            <a:off x="141507" y="2283223"/>
            <a:ext cx="219291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피드백</a:t>
            </a:r>
            <a:endParaRPr kumimoji="0" lang="en-US" altLang="ko-KR" sz="7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환류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564B75A-BE50-B34B-6917-2409EFDDD99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19755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524-131F-78D2-C2C7-68206120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0A6CE7-8070-BB0E-0C50-067238335921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BC7A5-AEE4-AC91-B555-17087872643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9E7AC5-9FDC-6C68-F757-E46DE01841C9}"/>
                </a:ext>
              </a:extLst>
            </p:cNvPr>
            <p:cNvGrpSpPr/>
            <p:nvPr/>
          </p:nvGrpSpPr>
          <p:grpSpPr>
            <a:xfrm>
              <a:off x="404618" y="922962"/>
              <a:ext cx="6897081" cy="523558"/>
              <a:chOff x="404618" y="928733"/>
              <a:chExt cx="689708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958C7-7A09-46E3-D035-160362EEA51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 대비 비용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좋은 소스부터 단계 확대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데이터 비용 사실상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모든 소스는 약관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·robots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문서화 후 편입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6B52B1-15EA-0E51-5A2D-01E92DD8733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45518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MVP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는 무료 공식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API 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종+자사 3종 데이터로 시작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0EDF2CF1-6B38-6450-CC6B-3DE353BA3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9C7E9-438B-7A0C-C039-6EC16B3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1C862-CE33-EB16-0285-55BD23884B5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소스 전략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(Data Source Matrix)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363FA3B-7309-5D19-978E-F1D915ED0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53865"/>
              </p:ext>
            </p:extLst>
          </p:nvPr>
        </p:nvGraphicFramePr>
        <p:xfrm>
          <a:off x="342001" y="2226556"/>
          <a:ext cx="8459999" cy="2517900"/>
        </p:xfrm>
        <a:graphic>
          <a:graphicData uri="http://schemas.openxmlformats.org/drawingml/2006/table">
            <a:tbl>
              <a:tblPr/>
              <a:tblGrid>
                <a:gridCol w="134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8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소스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무엇을 알려주나 (신호)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접근 · 수집 주기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합법성 포인트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네이버 데이터랩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 검색량 추이 = 실수요의 대표 신호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 · 일 1회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 (무료)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네이버 뉴스·블로그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언급량·여론·후기 텍스트 (감성 원천)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검색 API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메타데이터+요약만 수집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구글 트렌드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글로벌·국내 관심도 — 해외발 트렌드 조기 감지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pytrends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rate limit 준수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유튜브 Data API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영상 조회·댓글 = 바이럴 강도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API(쿼터) · 6h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배달앱 인기메뉴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실제 주문되는 '현장 인기'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공개 페이지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약관 확인·호출 제한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해외 디저트 매체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6~12개월 선행지표 (K-유입 전 포착)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RSS·구글뉴스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링크·요약만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영상 SNS (인스타·틱톡)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해시태그·밈 확산 속도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Graph/공식 API · 6h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합법 범위 제한적 — 신중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자사 실거래 (딸기로픽)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판매 · 전환 · 재구매 = 정답 라벨 (콜드스타트 해소)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내부 DB · 실시간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자사 데이터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Phase 0부터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픽미 공동연구 PoC 데이터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시계열·키워드·가게등급·군집 = 검증된 자체기법 v1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공동연구 산출물 · 기확보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공동연구 계약 자산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Phase 0부터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39838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B2B 오픈베타 운영 데이터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상담·견적·수락/거절·전환 로그 = B2B 정답 라벨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자사 운영 DB · 실시간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자사 데이터 (영업비밀 관리)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Phase 0부터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08DD4F-276C-A345-D568-36A7030C779E}"/>
              </a:ext>
            </a:extLst>
          </p:cNvPr>
          <p:cNvSpPr txBox="1"/>
          <p:nvPr/>
        </p:nvSpPr>
        <p:spPr>
          <a:xfrm>
            <a:off x="1964715" y="6042975"/>
            <a:ext cx="521456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 신뢰도는 고정이 아니라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과거 적중 성적표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학습되는 가중치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융합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조작 쉬운 소스는 자동으로 가벼워집니다 · 자사 실거래·오픈베타 로그가 모든 예측의 정답 라벨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79243B8-6A3B-E6E4-0D96-C21040013E17}"/>
              </a:ext>
            </a:extLst>
          </p:cNvPr>
          <p:cNvSpPr/>
          <p:nvPr/>
        </p:nvSpPr>
        <p:spPr>
          <a:xfrm>
            <a:off x="341999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84FA6544-FB2D-496E-1259-4F228C9B275D}"/>
              </a:ext>
            </a:extLst>
          </p:cNvPr>
          <p:cNvSpPr/>
          <p:nvPr/>
        </p:nvSpPr>
        <p:spPr>
          <a:xfrm>
            <a:off x="341998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31633-2911-7303-033D-E6147248488E}"/>
              </a:ext>
            </a:extLst>
          </p:cNvPr>
          <p:cNvSpPr txBox="1"/>
          <p:nvPr/>
        </p:nvSpPr>
        <p:spPr>
          <a:xfrm>
            <a:off x="1125356" y="4997806"/>
            <a:ext cx="119519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원칙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1]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공식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API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우선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9A40BEB-6C67-A60A-570F-B67F56DF9D49}"/>
              </a:ext>
            </a:extLst>
          </p:cNvPr>
          <p:cNvSpPr/>
          <p:nvPr/>
        </p:nvSpPr>
        <p:spPr>
          <a:xfrm>
            <a:off x="3191041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F16C7F24-5266-DB73-D5B9-DAE924BDB7BC}"/>
              </a:ext>
            </a:extLst>
          </p:cNvPr>
          <p:cNvSpPr/>
          <p:nvPr/>
        </p:nvSpPr>
        <p:spPr>
          <a:xfrm>
            <a:off x="3191040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6B899-D639-608D-D6AF-A8B026ACB976}"/>
              </a:ext>
            </a:extLst>
          </p:cNvPr>
          <p:cNvSpPr txBox="1"/>
          <p:nvPr/>
        </p:nvSpPr>
        <p:spPr>
          <a:xfrm>
            <a:off x="4024732" y="4997806"/>
            <a:ext cx="109453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원칙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2]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지표화 수집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D31A11-DC20-0445-E97E-E9031CF17CF2}"/>
              </a:ext>
            </a:extLst>
          </p:cNvPr>
          <p:cNvSpPr txBox="1"/>
          <p:nvPr/>
        </p:nvSpPr>
        <p:spPr>
          <a:xfrm>
            <a:off x="3534375" y="5338358"/>
            <a:ext cx="207524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원문 전재 대신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“6/15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언급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1,240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긍정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78%”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형태의 집계 지표만 보관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가볍고 합법적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949450-40BA-ED0E-1FD3-CA94ED8C3F94}"/>
              </a:ext>
            </a:extLst>
          </p:cNvPr>
          <p:cNvSpPr/>
          <p:nvPr/>
        </p:nvSpPr>
        <p:spPr>
          <a:xfrm>
            <a:off x="6040083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DFEAB374-AF2D-5441-B5E5-58CC38617552}"/>
              </a:ext>
            </a:extLst>
          </p:cNvPr>
          <p:cNvSpPr/>
          <p:nvPr/>
        </p:nvSpPr>
        <p:spPr>
          <a:xfrm>
            <a:off x="6040082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0870B-8EC5-3831-904D-8A875332BB9E}"/>
              </a:ext>
            </a:extLst>
          </p:cNvPr>
          <p:cNvSpPr txBox="1"/>
          <p:nvPr/>
        </p:nvSpPr>
        <p:spPr>
          <a:xfrm>
            <a:off x="6930360" y="4997806"/>
            <a:ext cx="98135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원칙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3]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점진 확대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C8B1DB-C54D-0726-8FDC-BC573FBD09BB}"/>
              </a:ext>
            </a:extLst>
          </p:cNvPr>
          <p:cNvSpPr txBox="1"/>
          <p:nvPr/>
        </p:nvSpPr>
        <p:spPr>
          <a:xfrm>
            <a:off x="833770" y="5420432"/>
            <a:ext cx="1778371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있으면 무조건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크롤링은 보조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합법적 데이터 거버넌스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심사 신뢰 요소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634575-64B4-EEC3-4433-233AAEB99D51}"/>
              </a:ext>
            </a:extLst>
          </p:cNvPr>
          <p:cNvSpPr txBox="1"/>
          <p:nvPr/>
        </p:nvSpPr>
        <p:spPr>
          <a:xfrm>
            <a:off x="6642300" y="5338358"/>
            <a:ext cx="155747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신호 대비 비용이 좋은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2~3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개로 시작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백테스팅 검증 후 소스 추가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 편입 자체가 실험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1893CB7-67FC-96D2-A24F-CF47FB6DE06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767681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9F61-0B7B-9A1D-A376-E02811A4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60D7FA-2E5C-BC6B-95E1-955FDC4A8880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5647482-06C1-C5D7-5FA9-11E17655761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683358A-45EF-02E3-8BBA-391813D63DEA}"/>
                </a:ext>
              </a:extLst>
            </p:cNvPr>
            <p:cNvGrpSpPr/>
            <p:nvPr/>
          </p:nvGrpSpPr>
          <p:grpSpPr>
            <a:xfrm>
              <a:off x="404618" y="922962"/>
              <a:ext cx="8362313" cy="523558"/>
              <a:chOff x="404618" y="928733"/>
              <a:chExt cx="8362313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A7E67E-8C0A-B6C3-51DD-5B50C2F850C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흩어진 인터넷 신호를 한 파이프라인으로 통합하고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→ 채택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성과 재수집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루프로 예측 정확도를 지속 개선합니다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262B8B9-BC8E-3A58-9872-13DE4502AAA9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034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수집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상품화의 완결 파이프라인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신호가 실제 매출 상품으로 이어지는 트렌드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E911468-FEEC-8A01-C662-AEEA51176F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9C423-32F7-1386-1FC3-383EBED7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AAB29-9835-BB92-25FF-FCBF8338FA31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B7F53B-E72C-F9F0-2F10-958E4C50CB12}"/>
              </a:ext>
            </a:extLst>
          </p:cNvPr>
          <p:cNvGrpSpPr/>
          <p:nvPr/>
        </p:nvGrpSpPr>
        <p:grpSpPr>
          <a:xfrm>
            <a:off x="342000" y="5428925"/>
            <a:ext cx="8460000" cy="799572"/>
            <a:chOff x="342000" y="5372364"/>
            <a:chExt cx="8460000" cy="79957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93AC8D-5107-7D4B-1BDD-13FBE78009FE}"/>
                </a:ext>
              </a:extLst>
            </p:cNvPr>
            <p:cNvSpPr/>
            <p:nvPr/>
          </p:nvSpPr>
          <p:spPr>
            <a:xfrm>
              <a:off x="342000" y="5372364"/>
              <a:ext cx="8460000" cy="799572"/>
            </a:xfrm>
            <a:prstGeom prst="roundRect">
              <a:avLst>
                <a:gd name="adj" fmla="val 9736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FB1EA8-0B91-0D09-BF47-46147FDA9696}"/>
                </a:ext>
              </a:extLst>
            </p:cNvPr>
            <p:cNvSpPr txBox="1"/>
            <p:nvPr/>
          </p:nvSpPr>
          <p:spPr>
            <a:xfrm>
              <a:off x="596265" y="5551577"/>
              <a:ext cx="913070" cy="4411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피드백 루프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자가 발전 구조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1FA7342-55B9-14C0-225C-61487B3BC013}"/>
                </a:ext>
              </a:extLst>
            </p:cNvPr>
            <p:cNvGrpSpPr/>
            <p:nvPr/>
          </p:nvGrpSpPr>
          <p:grpSpPr>
            <a:xfrm>
              <a:off x="2082165" y="5573137"/>
              <a:ext cx="5323893" cy="398026"/>
              <a:chOff x="2082165" y="5474002"/>
              <a:chExt cx="5323893" cy="39802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DB64E3-3781-F1B1-7954-F1098D6184F2}"/>
                  </a:ext>
                </a:extLst>
              </p:cNvPr>
              <p:cNvSpPr txBox="1"/>
              <p:nvPr/>
            </p:nvSpPr>
            <p:spPr>
              <a:xfrm>
                <a:off x="2082165" y="5702751"/>
                <a:ext cx="395717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쓸수록 정확해지는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경쟁사가 살 수 없는 고유 라벨링 데이터셋이 축적됩니다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2DC70-ECB5-E6AD-A659-B656BBD6B386}"/>
                  </a:ext>
                </a:extLst>
              </p:cNvPr>
              <p:cNvSpPr txBox="1"/>
              <p:nvPr/>
            </p:nvSpPr>
            <p:spPr>
              <a:xfrm>
                <a:off x="2082165" y="5474002"/>
                <a:ext cx="53238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⑥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추천 결과 → 입점사 채택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판매 성과를 ① 데이터로 재수집 → ④ 스코어링 가중치를 재학습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E3E4CB4-E902-B778-BBFD-6EAF65E4186D}"/>
              </a:ext>
            </a:extLst>
          </p:cNvPr>
          <p:cNvGrpSpPr/>
          <p:nvPr/>
        </p:nvGrpSpPr>
        <p:grpSpPr>
          <a:xfrm>
            <a:off x="342000" y="2233058"/>
            <a:ext cx="2643861" cy="1377408"/>
            <a:chOff x="342000" y="2233058"/>
            <a:chExt cx="2643861" cy="137740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91CFF2D-3EA5-93CA-3B21-4D601ADC667E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906CBF2-C864-7332-0E6E-D4E76901A88C}"/>
                </a:ext>
              </a:extLst>
            </p:cNvPr>
            <p:cNvGrpSpPr/>
            <p:nvPr/>
          </p:nvGrpSpPr>
          <p:grpSpPr>
            <a:xfrm>
              <a:off x="521764" y="2712753"/>
              <a:ext cx="2184893" cy="723383"/>
              <a:chOff x="659877" y="2435576"/>
              <a:chExt cx="2184893" cy="72338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1ABD20-BAED-A6AA-2FF6-C8C1AEB77BEA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소스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5729A5-EAE6-9931-A303-82B071E84C2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8489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뉴스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RSS 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블로그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카페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영상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SNS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검색트렌드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커머스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해외 선행지표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(+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실거래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 보유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3A7FC93-74AF-1314-913C-BA28D7B616FC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BEEB47-AE6B-6644-80B7-21D0612089C7}"/>
                </a:ext>
              </a:extLst>
            </p:cNvPr>
            <p:cNvSpPr txBox="1"/>
            <p:nvPr/>
          </p:nvSpPr>
          <p:spPr>
            <a:xfrm>
              <a:off x="2364826" y="2389789"/>
              <a:ext cx="40908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01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0B66577-5D62-A7D3-EDD9-774D0C94B353}"/>
              </a:ext>
            </a:extLst>
          </p:cNvPr>
          <p:cNvGrpSpPr/>
          <p:nvPr/>
        </p:nvGrpSpPr>
        <p:grpSpPr>
          <a:xfrm>
            <a:off x="6158139" y="3892175"/>
            <a:ext cx="2643861" cy="1377408"/>
            <a:chOff x="6158139" y="3892175"/>
            <a:chExt cx="2643861" cy="1377408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E6E5716-E05B-E066-66A0-705C9AC7121B}"/>
                </a:ext>
              </a:extLst>
            </p:cNvPr>
            <p:cNvSpPr/>
            <p:nvPr/>
          </p:nvSpPr>
          <p:spPr>
            <a:xfrm>
              <a:off x="6158139" y="3892175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rgbClr val="EC6570">
                <a:alpha val="10000"/>
              </a:srgbClr>
            </a:solidFill>
            <a:ln w="1270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98A472E-CC3E-610F-C983-BE0246C603C9}"/>
                </a:ext>
              </a:extLst>
            </p:cNvPr>
            <p:cNvGrpSpPr/>
            <p:nvPr/>
          </p:nvGrpSpPr>
          <p:grpSpPr>
            <a:xfrm>
              <a:off x="6337903" y="4371870"/>
              <a:ext cx="2161810" cy="723383"/>
              <a:chOff x="659877" y="2435576"/>
              <a:chExt cx="2161810" cy="723383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F1BA8F-CBA9-241F-C62B-8C36040BE6D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1490793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분석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R&amp;D)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C37EB34-96FF-758B-DA5D-DBD87BE6027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6181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NER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신조어 탐지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토픽 분석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스코어링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가속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S-curve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계절 보정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LLM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인사이트 브리핑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근거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citation)</a:t>
                </a:r>
              </a:p>
            </p:txBody>
          </p:sp>
        </p:grp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44E6B5A-9A90-1610-C1B1-71CE8E45A16E}"/>
                </a:ext>
              </a:extLst>
            </p:cNvPr>
            <p:cNvSpPr/>
            <p:nvPr/>
          </p:nvSpPr>
          <p:spPr>
            <a:xfrm>
              <a:off x="8078327" y="4005442"/>
              <a:ext cx="614362" cy="225426"/>
            </a:xfrm>
            <a:prstGeom prst="roundRect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493EC3-7D81-B0AF-5F7C-6EBA9EDCA89F}"/>
                </a:ext>
              </a:extLst>
            </p:cNvPr>
            <p:cNvSpPr txBox="1"/>
            <p:nvPr/>
          </p:nvSpPr>
          <p:spPr>
            <a:xfrm>
              <a:off x="8170545" y="4048906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04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28EAAE6-5DD2-D72E-A916-276AF264F7CA}"/>
              </a:ext>
            </a:extLst>
          </p:cNvPr>
          <p:cNvGrpSpPr/>
          <p:nvPr/>
        </p:nvGrpSpPr>
        <p:grpSpPr>
          <a:xfrm>
            <a:off x="6158139" y="2233058"/>
            <a:ext cx="2643861" cy="1377408"/>
            <a:chOff x="342000" y="2233058"/>
            <a:chExt cx="2643861" cy="1377408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D8722E89-2C0B-36F8-CED2-3116A5A5A64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9A776E6-EBDF-E6FC-7151-ECC7956CD2CA}"/>
                </a:ext>
              </a:extLst>
            </p:cNvPr>
            <p:cNvGrpSpPr/>
            <p:nvPr/>
          </p:nvGrpSpPr>
          <p:grpSpPr>
            <a:xfrm>
              <a:off x="521764" y="2712753"/>
              <a:ext cx="2272738" cy="723383"/>
              <a:chOff x="659877" y="2435576"/>
              <a:chExt cx="2272738" cy="723383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AEDE4E8-9F08-960A-C41C-CE4A183448C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소스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0DF2B6F-4B25-017A-2C37-F7D6D46B29BA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272738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Raw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데이터레이크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DB(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지표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벡터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DB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의미검색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pgvector)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원문 미보관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집계 지표 중심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저작권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개인정보 리스크 최소화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32D142E3-DA2D-4411-2F01-801D24018EB6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99E8B93-8152-EF5C-232B-0332858551F8}"/>
                </a:ext>
              </a:extLst>
            </p:cNvPr>
            <p:cNvSpPr txBox="1"/>
            <p:nvPr/>
          </p:nvSpPr>
          <p:spPr>
            <a:xfrm>
              <a:off x="2355208" y="2389789"/>
              <a:ext cx="42832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03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E93F8A-07A2-9118-0835-43332D71D4E2}"/>
              </a:ext>
            </a:extLst>
          </p:cNvPr>
          <p:cNvGrpSpPr/>
          <p:nvPr/>
        </p:nvGrpSpPr>
        <p:grpSpPr>
          <a:xfrm>
            <a:off x="342000" y="3892175"/>
            <a:ext cx="2643861" cy="1377408"/>
            <a:chOff x="342000" y="2233058"/>
            <a:chExt cx="2643861" cy="1377408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E0128A60-D6ED-B6ED-36F8-B6703CA5261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3C7896B-ECB3-2CC3-40E3-51C27ACD1C5C}"/>
                </a:ext>
              </a:extLst>
            </p:cNvPr>
            <p:cNvGrpSpPr/>
            <p:nvPr/>
          </p:nvGrpSpPr>
          <p:grpSpPr>
            <a:xfrm>
              <a:off x="521764" y="2712753"/>
              <a:ext cx="1730923" cy="723383"/>
              <a:chOff x="659877" y="2435576"/>
              <a:chExt cx="1730923" cy="723383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B7403B3-05E5-393E-EADA-B6502EF9F9E0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488595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서비스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B31DC54-22C8-0129-3562-394BA0321F7B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73092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웹 대시보드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히트맵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성장곡선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급상승 조기경보 알림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웹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이메일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카카오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제공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향후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SaaS)</a:t>
                </a:r>
              </a:p>
            </p:txBody>
          </p:sp>
        </p:grp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8DDEDD17-A41A-B2B3-6A65-C788051C43CE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4A4DCFF-E2B0-CB04-04AA-90FDBCEEA956}"/>
                </a:ext>
              </a:extLst>
            </p:cNvPr>
            <p:cNvSpPr txBox="1"/>
            <p:nvPr/>
          </p:nvSpPr>
          <p:spPr>
            <a:xfrm>
              <a:off x="2354406" y="2389789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06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0870BD0-611E-8F1D-D9B1-94FA47691941}"/>
              </a:ext>
            </a:extLst>
          </p:cNvPr>
          <p:cNvGrpSpPr/>
          <p:nvPr/>
        </p:nvGrpSpPr>
        <p:grpSpPr>
          <a:xfrm>
            <a:off x="3250070" y="3892175"/>
            <a:ext cx="2643861" cy="1377408"/>
            <a:chOff x="342000" y="2233058"/>
            <a:chExt cx="2643861" cy="1377408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1A24B082-734F-7CF5-1F1F-30A2C4394AA5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B7369F12-74C7-F166-F6B1-EC9FFA626CEE}"/>
                </a:ext>
              </a:extLst>
            </p:cNvPr>
            <p:cNvGrpSpPr/>
            <p:nvPr/>
          </p:nvGrpSpPr>
          <p:grpSpPr>
            <a:xfrm>
              <a:off x="521764" y="2712753"/>
              <a:ext cx="2388154" cy="723383"/>
              <a:chOff x="659877" y="2435576"/>
              <a:chExt cx="2388154" cy="723383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3400619-1211-3A2A-B29E-A7A72716667C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69249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추천 엔진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6F514D-3B95-B87F-7BCE-17F4EA57DFC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388154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프로필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업종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가격대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판매이력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상품기획 · 권장 생산량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단체주문용 상품화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적합도 매칭 + 준비 가이드 : 예상 원가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설비</a:t>
                </a:r>
              </a:p>
            </p:txBody>
          </p:sp>
        </p:grp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8B0C2C5E-6AF7-E6DF-A7E0-C09DD6BECCA3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31F4513-5167-9F1F-A14E-894004148E4B}"/>
                </a:ext>
              </a:extLst>
            </p:cNvPr>
            <p:cNvSpPr txBox="1"/>
            <p:nvPr/>
          </p:nvSpPr>
          <p:spPr>
            <a:xfrm>
              <a:off x="2356009" y="2389789"/>
              <a:ext cx="42672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05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46043248-9050-A2E2-B8D8-5C8849203114}"/>
              </a:ext>
            </a:extLst>
          </p:cNvPr>
          <p:cNvGrpSpPr/>
          <p:nvPr/>
        </p:nvGrpSpPr>
        <p:grpSpPr>
          <a:xfrm>
            <a:off x="3250070" y="2233058"/>
            <a:ext cx="2643861" cy="1377408"/>
            <a:chOff x="342000" y="2233058"/>
            <a:chExt cx="2643861" cy="1377408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DF0C8C71-3988-273D-9B33-4ABDA134DE81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EA5109E-5773-6D3B-FCFA-00306635B254}"/>
                </a:ext>
              </a:extLst>
            </p:cNvPr>
            <p:cNvGrpSpPr/>
            <p:nvPr/>
          </p:nvGrpSpPr>
          <p:grpSpPr>
            <a:xfrm>
              <a:off x="521764" y="2712753"/>
              <a:ext cx="1948290" cy="723383"/>
              <a:chOff x="659877" y="2435576"/>
              <a:chExt cx="1948290" cy="723383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188E2FC-29C8-B2A5-AE6C-4A77D6241E53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94545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수집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전처리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D859A00-6FFE-45A1-9767-AEE20AC197A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94829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소스별 주기 차등 스케줄러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뉴스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·SNS 6h)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중복 제거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도메인 필터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정규화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우선의 합법적 수집 거버넌스</a:t>
                </a:r>
              </a:p>
            </p:txBody>
          </p:sp>
        </p:grp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720E4886-6739-91F1-3B95-66DFFC459645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E3796A-403C-CE8A-FB7F-CD7E3212690D}"/>
                </a:ext>
              </a:extLst>
            </p:cNvPr>
            <p:cNvSpPr txBox="1"/>
            <p:nvPr/>
          </p:nvSpPr>
          <p:spPr>
            <a:xfrm>
              <a:off x="2356811" y="2389789"/>
              <a:ext cx="42511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02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20" name="화살표: 아래쪽 119">
            <a:extLst>
              <a:ext uri="{FF2B5EF4-FFF2-40B4-BE49-F238E27FC236}">
                <a16:creationId xmlns:a16="http://schemas.microsoft.com/office/drawing/2014/main" id="{D1327AE4-6E21-5B92-3E9B-E92DCF6A57F2}"/>
              </a:ext>
            </a:extLst>
          </p:cNvPr>
          <p:cNvSpPr/>
          <p:nvPr/>
        </p:nvSpPr>
        <p:spPr>
          <a:xfrm rot="16200000">
            <a:off x="3009073" y="2779964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화살표: 아래쪽 120">
            <a:extLst>
              <a:ext uri="{FF2B5EF4-FFF2-40B4-BE49-F238E27FC236}">
                <a16:creationId xmlns:a16="http://schemas.microsoft.com/office/drawing/2014/main" id="{E60240D4-866F-7EBA-DC10-A44E396109B3}"/>
              </a:ext>
            </a:extLst>
          </p:cNvPr>
          <p:cNvSpPr/>
          <p:nvPr/>
        </p:nvSpPr>
        <p:spPr>
          <a:xfrm rot="16200000">
            <a:off x="5917144" y="2779965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581E5837-E44D-62D9-7DA1-8A0EF3E13D39}"/>
              </a:ext>
            </a:extLst>
          </p:cNvPr>
          <p:cNvSpPr/>
          <p:nvPr/>
        </p:nvSpPr>
        <p:spPr>
          <a:xfrm rot="5400000" flipH="1">
            <a:off x="2989683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화살표: 아래쪽 122">
            <a:extLst>
              <a:ext uri="{FF2B5EF4-FFF2-40B4-BE49-F238E27FC236}">
                <a16:creationId xmlns:a16="http://schemas.microsoft.com/office/drawing/2014/main" id="{AB25C60E-D024-A6D2-F389-19DE16256779}"/>
              </a:ext>
            </a:extLst>
          </p:cNvPr>
          <p:cNvSpPr/>
          <p:nvPr/>
        </p:nvSpPr>
        <p:spPr>
          <a:xfrm rot="5400000" flipH="1">
            <a:off x="5897754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화살표: 아래쪽 123">
            <a:extLst>
              <a:ext uri="{FF2B5EF4-FFF2-40B4-BE49-F238E27FC236}">
                <a16:creationId xmlns:a16="http://schemas.microsoft.com/office/drawing/2014/main" id="{8FFB7E7C-5549-6D25-7540-5DAC73C86408}"/>
              </a:ext>
            </a:extLst>
          </p:cNvPr>
          <p:cNvSpPr/>
          <p:nvPr/>
        </p:nvSpPr>
        <p:spPr>
          <a:xfrm>
            <a:off x="7361483" y="3609522"/>
            <a:ext cx="237172" cy="311603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73B16EB-C804-C4D5-5A6D-075C8C22728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4119149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ADBC-4917-4D7C-604D-6D411A5C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3DA0F0-DC9C-934B-54DE-0C9F00A2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A2098B-A1FB-2FEB-3BF0-6C8370A20E2C}"/>
              </a:ext>
            </a:extLst>
          </p:cNvPr>
          <p:cNvSpPr txBox="1"/>
          <p:nvPr/>
        </p:nvSpPr>
        <p:spPr>
          <a:xfrm>
            <a:off x="432000" y="2236096"/>
            <a:ext cx="738985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조기 포착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B0CF278-AD1F-ABBC-1652-4AAD72994BF3}"/>
              </a:ext>
            </a:extLst>
          </p:cNvPr>
          <p:cNvCxnSpPr>
            <a:cxnSpLocks/>
          </p:cNvCxnSpPr>
          <p:nvPr/>
        </p:nvCxnSpPr>
        <p:spPr>
          <a:xfrm>
            <a:off x="432000" y="2545395"/>
            <a:ext cx="4011728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D0C44A5-D803-B30F-F1D2-B4491FAA94B8}"/>
              </a:ext>
            </a:extLst>
          </p:cNvPr>
          <p:cNvCxnSpPr>
            <a:cxnSpLocks/>
          </p:cNvCxnSpPr>
          <p:nvPr/>
        </p:nvCxnSpPr>
        <p:spPr>
          <a:xfrm>
            <a:off x="4700272" y="2545395"/>
            <a:ext cx="4011728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4E36509-AB72-5B58-8F9B-460357101179}"/>
              </a:ext>
            </a:extLst>
          </p:cNvPr>
          <p:cNvGrpSpPr/>
          <p:nvPr/>
        </p:nvGrpSpPr>
        <p:grpSpPr>
          <a:xfrm>
            <a:off x="432000" y="3665377"/>
            <a:ext cx="4011728" cy="1077133"/>
            <a:chOff x="432000" y="3023857"/>
            <a:chExt cx="4011728" cy="1166381"/>
          </a:xfrm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796C839-6429-DD65-C734-21D8965B8390}"/>
                </a:ext>
              </a:extLst>
            </p:cNvPr>
            <p:cNvSpPr/>
            <p:nvPr/>
          </p:nvSpPr>
          <p:spPr>
            <a:xfrm>
              <a:off x="432000" y="3023857"/>
              <a:ext cx="4011728" cy="1166381"/>
            </a:xfrm>
            <a:prstGeom prst="roundRect">
              <a:avLst>
                <a:gd name="adj" fmla="val 4792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644CE0D-58E1-4E85-463E-FAC1A45D04B5}"/>
                </a:ext>
              </a:extLst>
            </p:cNvPr>
            <p:cNvSpPr txBox="1"/>
            <p:nvPr/>
          </p:nvSpPr>
          <p:spPr>
            <a:xfrm>
              <a:off x="574761" y="3330518"/>
              <a:ext cx="1984518" cy="71814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def stage(series):     #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실제 구동 코드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(guides/09)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g, m =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(s), momentum(s)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if g &lt;= 0.05:           return "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태동기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 #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보류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if g &gt; 0.05 and m &gt; 0:  return "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성장기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 # ←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!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if g &gt; 0.3  and m &lt;= 0: return "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정점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   #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늦음</a:t>
              </a:r>
            </a:p>
          </p:txBody>
        </p:sp>
        <p:sp>
          <p:nvSpPr>
            <p:cNvPr id="92" name="사각형: 둥근 위쪽 모서리 91">
              <a:extLst>
                <a:ext uri="{FF2B5EF4-FFF2-40B4-BE49-F238E27FC236}">
                  <a16:creationId xmlns:a16="http://schemas.microsoft.com/office/drawing/2014/main" id="{70B4654F-F785-D8B5-56EA-3FF69D3956A4}"/>
                </a:ext>
              </a:extLst>
            </p:cNvPr>
            <p:cNvSpPr/>
            <p:nvPr/>
          </p:nvSpPr>
          <p:spPr>
            <a:xfrm>
              <a:off x="432000" y="3023858"/>
              <a:ext cx="4010400" cy="201966"/>
            </a:xfrm>
            <a:prstGeom prst="round2SameRect">
              <a:avLst/>
            </a:prstGeom>
            <a:gradFill>
              <a:gsLst>
                <a:gs pos="0">
                  <a:schemeClr val="bg1">
                    <a:alpha val="1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C80D193F-1ABF-58F5-B851-E2C16E8298DF}"/>
                </a:ext>
              </a:extLst>
            </p:cNvPr>
            <p:cNvGrpSpPr/>
            <p:nvPr/>
          </p:nvGrpSpPr>
          <p:grpSpPr>
            <a:xfrm>
              <a:off x="543812" y="3098667"/>
              <a:ext cx="252812" cy="52348"/>
              <a:chOff x="543812" y="3110031"/>
              <a:chExt cx="252812" cy="52348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9254E6B0-F5B4-2F20-6AFE-31A6743B4039}"/>
                  </a:ext>
                </a:extLst>
              </p:cNvPr>
              <p:cNvSpPr/>
              <p:nvPr/>
            </p:nvSpPr>
            <p:spPr>
              <a:xfrm>
                <a:off x="543812" y="3110031"/>
                <a:ext cx="52348" cy="52348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B7745A9F-3976-5D70-BC9D-18BF85E88236}"/>
                  </a:ext>
                </a:extLst>
              </p:cNvPr>
              <p:cNvSpPr/>
              <p:nvPr/>
            </p:nvSpPr>
            <p:spPr>
              <a:xfrm>
                <a:off x="644044" y="3110031"/>
                <a:ext cx="52348" cy="52348"/>
              </a:xfrm>
              <a:prstGeom prst="ellipse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DC658369-0CA5-8573-87EF-EAFFBCC2B8D2}"/>
                  </a:ext>
                </a:extLst>
              </p:cNvPr>
              <p:cNvSpPr/>
              <p:nvPr/>
            </p:nvSpPr>
            <p:spPr>
              <a:xfrm>
                <a:off x="744276" y="3110031"/>
                <a:ext cx="52348" cy="5234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5DE847D1-0F1B-1C58-F3A1-0D768E2DE81D}"/>
              </a:ext>
            </a:extLst>
          </p:cNvPr>
          <p:cNvGrpSpPr/>
          <p:nvPr/>
        </p:nvGrpSpPr>
        <p:grpSpPr>
          <a:xfrm>
            <a:off x="432000" y="2717615"/>
            <a:ext cx="2187357" cy="795999"/>
            <a:chOff x="432000" y="2479083"/>
            <a:chExt cx="2187357" cy="861953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50B5B13-644E-ECF0-BA0B-BE3F9F74DE67}"/>
                </a:ext>
              </a:extLst>
            </p:cNvPr>
            <p:cNvGrpSpPr/>
            <p:nvPr/>
          </p:nvGrpSpPr>
          <p:grpSpPr>
            <a:xfrm>
              <a:off x="492301" y="3006017"/>
              <a:ext cx="525464" cy="335019"/>
              <a:chOff x="5369713" y="3730918"/>
              <a:chExt cx="346676" cy="335019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9BDE897-B32B-3586-09F5-2A4A3525F1AB}"/>
                  </a:ext>
                </a:extLst>
              </p:cNvPr>
              <p:cNvSpPr txBox="1"/>
              <p:nvPr/>
            </p:nvSpPr>
            <p:spPr>
              <a:xfrm>
                <a:off x="5369713" y="3881271"/>
                <a:ext cx="1704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가속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35C870B-0087-01E1-F7F4-C95DDC129E8D}"/>
                  </a:ext>
                </a:extLst>
              </p:cNvPr>
              <p:cNvSpPr txBox="1"/>
              <p:nvPr/>
            </p:nvSpPr>
            <p:spPr>
              <a:xfrm>
                <a:off x="5369713" y="3730918"/>
                <a:ext cx="346676" cy="1308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>
                <a:defPPr>
                  <a:defRPr lang="en-US"/>
                </a:defPPr>
                <a:lvl1pPr>
                  <a:spcBef>
                    <a:spcPts val="200"/>
                  </a:spcBef>
                  <a:defRPr sz="850" spc="-3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momentum</a:t>
                </a:r>
                <a:endPara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F0DC823-B6C2-B34D-C617-325AEC58D628}"/>
                </a:ext>
              </a:extLst>
            </p:cNvPr>
            <p:cNvSpPr txBox="1"/>
            <p:nvPr/>
          </p:nvSpPr>
          <p:spPr>
            <a:xfrm>
              <a:off x="1164792" y="3022203"/>
              <a:ext cx="1454565" cy="30264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증가율 자체가 더 빨라지는가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폭발 직전 곡선의 가장 뚜렷한 특징</a:t>
              </a:r>
            </a:p>
          </p:txBody>
        </p: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2D2AD0EC-32A9-09F8-DAB9-FC0EF70F4117}"/>
                </a:ext>
              </a:extLst>
            </p:cNvPr>
            <p:cNvGrpSpPr/>
            <p:nvPr/>
          </p:nvGrpSpPr>
          <p:grpSpPr>
            <a:xfrm>
              <a:off x="492301" y="2479083"/>
              <a:ext cx="544381" cy="335019"/>
              <a:chOff x="5369713" y="3730918"/>
              <a:chExt cx="359156" cy="335019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D20A56F-5552-3B58-918C-E3E6CB20C461}"/>
                  </a:ext>
                </a:extLst>
              </p:cNvPr>
              <p:cNvSpPr txBox="1"/>
              <p:nvPr/>
            </p:nvSpPr>
            <p:spPr>
              <a:xfrm>
                <a:off x="5369713" y="3881271"/>
                <a:ext cx="2557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증가율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1ED7371-BE10-E30C-A07E-7031AFE391CA}"/>
                  </a:ext>
                </a:extLst>
              </p:cNvPr>
              <p:cNvSpPr txBox="1"/>
              <p:nvPr/>
            </p:nvSpPr>
            <p:spPr>
              <a:xfrm>
                <a:off x="5369713" y="3730918"/>
                <a:ext cx="359156" cy="1308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growth_rate</a:t>
                </a:r>
                <a:endPara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0CC403D-DB67-D7A5-4C85-C3BFAB25FAAF}"/>
                </a:ext>
              </a:extLst>
            </p:cNvPr>
            <p:cNvSpPr txBox="1"/>
            <p:nvPr/>
          </p:nvSpPr>
          <p:spPr>
            <a:xfrm>
              <a:off x="1164792" y="2495269"/>
              <a:ext cx="811119" cy="30264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최근이 직전보다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얼마나 빨리 느는가</a:t>
              </a:r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2AF74D1C-4011-514B-5D6C-CD165B86C67A}"/>
                </a:ext>
              </a:extLst>
            </p:cNvPr>
            <p:cNvCxnSpPr>
              <a:cxnSpLocks/>
            </p:cNvCxnSpPr>
            <p:nvPr/>
          </p:nvCxnSpPr>
          <p:spPr>
            <a:xfrm>
              <a:off x="432000" y="2910059"/>
              <a:ext cx="2164176" cy="0"/>
            </a:xfrm>
            <a:prstGeom prst="line">
              <a:avLst/>
            </a:prstGeom>
            <a:ln>
              <a:solidFill>
                <a:srgbClr val="232323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162DB40E-4D76-20A1-CAE5-9F93E1D30D79}"/>
              </a:ext>
            </a:extLst>
          </p:cNvPr>
          <p:cNvGrpSpPr/>
          <p:nvPr/>
        </p:nvGrpSpPr>
        <p:grpSpPr>
          <a:xfrm>
            <a:off x="2736258" y="2674233"/>
            <a:ext cx="1648497" cy="882761"/>
            <a:chOff x="2777337" y="2432107"/>
            <a:chExt cx="1648497" cy="955904"/>
          </a:xfrm>
        </p:grpSpPr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39D21299-42E1-29F1-8EA9-DB863181918F}"/>
                </a:ext>
              </a:extLst>
            </p:cNvPr>
            <p:cNvSpPr/>
            <p:nvPr/>
          </p:nvSpPr>
          <p:spPr>
            <a:xfrm>
              <a:off x="2777337" y="2432107"/>
              <a:ext cx="1648497" cy="955904"/>
            </a:xfrm>
            <a:prstGeom prst="roundRect">
              <a:avLst>
                <a:gd name="adj" fmla="val 7444"/>
              </a:avLst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solidFill>
                <a:srgbClr val="EC6570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4F27A44A-61C2-D141-A214-AF71D345B2AE}"/>
                </a:ext>
              </a:extLst>
            </p:cNvPr>
            <p:cNvGrpSpPr/>
            <p:nvPr/>
          </p:nvGrpSpPr>
          <p:grpSpPr>
            <a:xfrm>
              <a:off x="2899592" y="2568591"/>
              <a:ext cx="1292020" cy="682937"/>
              <a:chOff x="3118034" y="2395475"/>
              <a:chExt cx="1292020" cy="682937"/>
            </a:xfrm>
          </p:grpSpPr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44547547-784C-3007-95CE-5B884BC9351E}"/>
                  </a:ext>
                </a:extLst>
              </p:cNvPr>
              <p:cNvSpPr txBox="1"/>
              <p:nvPr/>
            </p:nvSpPr>
            <p:spPr>
              <a:xfrm>
                <a:off x="3118034" y="2395475"/>
                <a:ext cx="1292020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태동기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성장기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정점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쇠퇴기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(S-curve)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자동 분류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7D04BDA-4279-5905-3F0E-0506DDDD1872}"/>
                  </a:ext>
                </a:extLst>
              </p:cNvPr>
              <p:cNvSpPr txBox="1"/>
              <p:nvPr/>
            </p:nvSpPr>
            <p:spPr>
              <a:xfrm>
                <a:off x="3118034" y="2775765"/>
                <a:ext cx="811119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성장기 진입 직후만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신호로</a:t>
                </a:r>
              </a:p>
            </p:txBody>
          </p:sp>
        </p:grp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4749116-6390-CA04-7006-4F86C5A6908E}"/>
              </a:ext>
            </a:extLst>
          </p:cNvPr>
          <p:cNvGrpSpPr/>
          <p:nvPr/>
        </p:nvGrpSpPr>
        <p:grpSpPr>
          <a:xfrm>
            <a:off x="492301" y="4868185"/>
            <a:ext cx="544381" cy="524035"/>
            <a:chOff x="431999" y="4844713"/>
            <a:chExt cx="544381" cy="567455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0C62725-C61B-FF0B-D106-EFF63799E095}"/>
                </a:ext>
              </a:extLst>
            </p:cNvPr>
            <p:cNvSpPr txBox="1"/>
            <p:nvPr/>
          </p:nvSpPr>
          <p:spPr>
            <a:xfrm>
              <a:off x="431999" y="5017188"/>
              <a:ext cx="387607" cy="3949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시간창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67A24F4-788C-F6BE-0E4E-098338FDF948}"/>
                </a:ext>
              </a:extLst>
            </p:cNvPr>
            <p:cNvSpPr txBox="1"/>
            <p:nvPr/>
          </p:nvSpPr>
          <p:spPr>
            <a:xfrm>
              <a:off x="431999" y="4844713"/>
              <a:ext cx="544381" cy="13080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growth_rate</a:t>
              </a:r>
              <a:endParaRPr kumimoji="0" lang="ko-KR" altLang="en-US" sz="85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5AA99E4-BCC1-4683-C838-DCD23DB39803}"/>
              </a:ext>
            </a:extLst>
          </p:cNvPr>
          <p:cNvSpPr txBox="1"/>
          <p:nvPr/>
        </p:nvSpPr>
        <p:spPr>
          <a:xfrm>
            <a:off x="1164792" y="4914664"/>
            <a:ext cx="3105978" cy="4310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지금 뜨나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· 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오래 가나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조기성과 지속성을 분리 판정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총량은 잠잠해도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momentum &gt; 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이면 성장기 판정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7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정점 도달 전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입점사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알림</a:t>
            </a: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6AB59342-A1E9-57DD-CB88-9483877486D2}"/>
              </a:ext>
            </a:extLst>
          </p:cNvPr>
          <p:cNvGrpSpPr/>
          <p:nvPr/>
        </p:nvGrpSpPr>
        <p:grpSpPr>
          <a:xfrm>
            <a:off x="432000" y="5474349"/>
            <a:ext cx="4010400" cy="301453"/>
            <a:chOff x="433328" y="5493743"/>
            <a:chExt cx="4010400" cy="326430"/>
          </a:xfrm>
        </p:grpSpPr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B3FA6A14-D369-35CE-5862-73DED9EB2B66}"/>
                </a:ext>
              </a:extLst>
            </p:cNvPr>
            <p:cNvSpPr/>
            <p:nvPr/>
          </p:nvSpPr>
          <p:spPr>
            <a:xfrm>
              <a:off x="433328" y="5493743"/>
              <a:ext cx="4010400" cy="326430"/>
            </a:xfrm>
            <a:prstGeom prst="roundRect">
              <a:avLst>
                <a:gd name="adj" fmla="val 11178"/>
              </a:avLst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solidFill>
                <a:srgbClr val="EC6570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03BDD653-0AE8-5C99-3C05-B806E6804B4D}"/>
                </a:ext>
              </a:extLst>
            </p:cNvPr>
            <p:cNvGrpSpPr/>
            <p:nvPr/>
          </p:nvGrpSpPr>
          <p:grpSpPr>
            <a:xfrm>
              <a:off x="554657" y="5580014"/>
              <a:ext cx="3792136" cy="153888"/>
              <a:chOff x="574316" y="5577686"/>
              <a:chExt cx="3754590" cy="153888"/>
            </a:xfrm>
          </p:grpSpPr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236A8E59-9C0C-385D-0FF3-F560E7D4956A}"/>
                  </a:ext>
                </a:extLst>
              </p:cNvPr>
              <p:cNvSpPr txBox="1"/>
              <p:nvPr/>
            </p:nvSpPr>
            <p:spPr>
              <a:xfrm>
                <a:off x="574316" y="5577686"/>
                <a:ext cx="152509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언론 보도 대비 리드타임 ≥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14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1A116D1F-98A3-DC08-3DF4-99BB82AD8267}"/>
                  </a:ext>
                </a:extLst>
              </p:cNvPr>
              <p:cNvSpPr txBox="1"/>
              <p:nvPr/>
            </p:nvSpPr>
            <p:spPr>
              <a:xfrm>
                <a:off x="2617978" y="5579644"/>
                <a:ext cx="1710928" cy="1499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 前 14일+ 조기포착 → 원재료 확보</a:t>
                </a:r>
              </a:p>
            </p:txBody>
          </p:sp>
        </p:grp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CAE143CF-7371-8698-3D19-DD1EF78E00E3}"/>
              </a:ext>
            </a:extLst>
          </p:cNvPr>
          <p:cNvSpPr txBox="1"/>
          <p:nvPr/>
        </p:nvSpPr>
        <p:spPr>
          <a:xfrm>
            <a:off x="4700272" y="2236096"/>
            <a:ext cx="1881605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신조어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·</a:t>
            </a:r>
            <a:r>
              <a:rPr kumimoji="0" lang="ko-KR" altLang="en-US" sz="1600" b="0" i="0" u="none" strike="noStrike" kern="1200" cap="none" spc="-30" normalizeH="0" baseline="0" noProof="0" err="1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신메뉴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자동 탐지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B0C9A05-973C-646E-747B-01BC5D8E7592}"/>
              </a:ext>
            </a:extLst>
          </p:cNvPr>
          <p:cNvSpPr txBox="1"/>
          <p:nvPr/>
        </p:nvSpPr>
        <p:spPr>
          <a:xfrm>
            <a:off x="7584903" y="2325993"/>
            <a:ext cx="1136208" cy="15632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사전에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없는 말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잡기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1694603-E94D-F520-2B6F-C36F643B71C5}"/>
              </a:ext>
            </a:extLst>
          </p:cNvPr>
          <p:cNvSpPr txBox="1"/>
          <p:nvPr/>
        </p:nvSpPr>
        <p:spPr>
          <a:xfrm>
            <a:off x="2870862" y="2325993"/>
            <a:ext cx="1572866" cy="15632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가속 기반 확산 단계 자동 판정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F411E09-51D9-5A2F-046C-FE269188EAB2}"/>
              </a:ext>
            </a:extLst>
          </p:cNvPr>
          <p:cNvSpPr txBox="1"/>
          <p:nvPr/>
        </p:nvSpPr>
        <p:spPr>
          <a:xfrm>
            <a:off x="4700272" y="2668582"/>
            <a:ext cx="2728952" cy="3334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크룽지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 · '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두쫀쿠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어떤 사전에도 미리 없다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사전 의존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NER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신조어를 영원히 못 잡는다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(OOV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kumimoji="0" lang="ko-KR" altLang="en-US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130F1BEA-81BE-0AF5-2D53-05AD987E2C67}"/>
              </a:ext>
            </a:extLst>
          </p:cNvPr>
          <p:cNvGrpSpPr/>
          <p:nvPr/>
        </p:nvGrpSpPr>
        <p:grpSpPr>
          <a:xfrm>
            <a:off x="4700272" y="5291027"/>
            <a:ext cx="4010400" cy="484774"/>
            <a:chOff x="4700272" y="5444352"/>
            <a:chExt cx="4010400" cy="524941"/>
          </a:xfrm>
        </p:grpSpPr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0E705395-D24B-E8A6-EA5B-5C92080F97E6}"/>
                </a:ext>
              </a:extLst>
            </p:cNvPr>
            <p:cNvSpPr/>
            <p:nvPr/>
          </p:nvSpPr>
          <p:spPr>
            <a:xfrm>
              <a:off x="4700272" y="5444352"/>
              <a:ext cx="4010400" cy="524941"/>
            </a:xfrm>
            <a:prstGeom prst="roundRect">
              <a:avLst>
                <a:gd name="adj" fmla="val 11178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262893BF-EF25-ABFA-1A88-B653E3AC52AD}"/>
                </a:ext>
              </a:extLst>
            </p:cNvPr>
            <p:cNvGrpSpPr/>
            <p:nvPr/>
          </p:nvGrpSpPr>
          <p:grpSpPr>
            <a:xfrm>
              <a:off x="4970221" y="5543335"/>
              <a:ext cx="3470502" cy="326975"/>
              <a:chOff x="721465" y="5569992"/>
              <a:chExt cx="3436141" cy="326975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199BDB66-D5B1-FE44-6568-F8D928EF862E}"/>
                  </a:ext>
                </a:extLst>
              </p:cNvPr>
              <p:cNvSpPr txBox="1"/>
              <p:nvPr/>
            </p:nvSpPr>
            <p:spPr>
              <a:xfrm>
                <a:off x="721465" y="5569992"/>
                <a:ext cx="343614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신조어가 세상에 나온 지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주 안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포착 지연 ≤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7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에 추적 대상 편입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D66B407-6E9D-0B05-9B76-61AE25024B74}"/>
                  </a:ext>
                </a:extLst>
              </p:cNvPr>
              <p:cNvSpPr txBox="1"/>
              <p:nvPr/>
            </p:nvSpPr>
            <p:spPr>
              <a:xfrm>
                <a:off x="1047779" y="5758468"/>
                <a:ext cx="278351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값싼 후보 수집은 통계가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정밀한 옥석 가리기는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분담하는 구조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CC55FE-E20D-C9B6-7AF0-C7178E7CD176}"/>
              </a:ext>
            </a:extLst>
          </p:cNvPr>
          <p:cNvGrpSpPr/>
          <p:nvPr/>
        </p:nvGrpSpPr>
        <p:grpSpPr>
          <a:xfrm>
            <a:off x="4627704" y="3053815"/>
            <a:ext cx="4082968" cy="2103444"/>
            <a:chOff x="4627704" y="3074538"/>
            <a:chExt cx="4082968" cy="2061998"/>
          </a:xfrm>
        </p:grpSpPr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90EDEBDA-2C36-2D9C-234A-F729629DAA9F}"/>
                </a:ext>
              </a:extLst>
            </p:cNvPr>
            <p:cNvGrpSpPr/>
            <p:nvPr/>
          </p:nvGrpSpPr>
          <p:grpSpPr>
            <a:xfrm>
              <a:off x="4700272" y="3119457"/>
              <a:ext cx="4010400" cy="611825"/>
              <a:chOff x="4700272" y="2899009"/>
              <a:chExt cx="4010400" cy="675835"/>
            </a:xfrm>
          </p:grpSpPr>
          <p:sp>
            <p:nvSpPr>
              <p:cNvPr id="187" name="사각형: 둥근 모서리 186">
                <a:extLst>
                  <a:ext uri="{FF2B5EF4-FFF2-40B4-BE49-F238E27FC236}">
                    <a16:creationId xmlns:a16="http://schemas.microsoft.com/office/drawing/2014/main" id="{104C2BAF-A0ED-E039-21CE-5058C3CF4884}"/>
                  </a:ext>
                </a:extLst>
              </p:cNvPr>
              <p:cNvSpPr/>
              <p:nvPr/>
            </p:nvSpPr>
            <p:spPr>
              <a:xfrm>
                <a:off x="4700272" y="2899009"/>
                <a:ext cx="4010400" cy="675835"/>
              </a:xfrm>
              <a:prstGeom prst="roundRect">
                <a:avLst>
                  <a:gd name="adj" fmla="val 7444"/>
                </a:avLst>
              </a:prstGeom>
              <a:gradFill>
                <a:gsLst>
                  <a:gs pos="12000">
                    <a:srgbClr val="EC6570">
                      <a:alpha val="10000"/>
                    </a:srgbClr>
                  </a:gs>
                  <a:gs pos="100000">
                    <a:srgbClr val="EC6570">
                      <a:lumMod val="77000"/>
                      <a:lumOff val="23000"/>
                      <a:alpha val="2000"/>
                    </a:srgbClr>
                  </a:gs>
                </a:gsLst>
                <a:lin ang="13800000" scaled="0"/>
              </a:gradFill>
              <a:ln w="6350">
                <a:solidFill>
                  <a:srgbClr val="EC657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5" name="그룹 204">
                <a:extLst>
                  <a:ext uri="{FF2B5EF4-FFF2-40B4-BE49-F238E27FC236}">
                    <a16:creationId xmlns:a16="http://schemas.microsoft.com/office/drawing/2014/main" id="{0E84488E-2083-B709-8B0D-DB6AA0D026D2}"/>
                  </a:ext>
                </a:extLst>
              </p:cNvPr>
              <p:cNvGrpSpPr/>
              <p:nvPr/>
            </p:nvGrpSpPr>
            <p:grpSpPr>
              <a:xfrm>
                <a:off x="4845199" y="3054825"/>
                <a:ext cx="3566054" cy="364202"/>
                <a:chOff x="4875935" y="3054825"/>
                <a:chExt cx="3566054" cy="364202"/>
              </a:xfrm>
            </p:grpSpPr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3E8083CE-29E7-0E84-FF8C-D69DBB4E22A7}"/>
                    </a:ext>
                  </a:extLst>
                </p:cNvPr>
                <p:cNvSpPr txBox="1"/>
                <p:nvPr/>
              </p:nvSpPr>
              <p:spPr>
                <a:xfrm>
                  <a:off x="4875935" y="3054825"/>
                  <a:ext cx="859210" cy="3642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급증 후보</a:t>
                  </a:r>
                  <a:endPara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자동 발굴 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통계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  <a:endPara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42BF64FC-7487-F731-2E2D-B59DB67AFAB7}"/>
                    </a:ext>
                  </a:extLst>
                </p:cNvPr>
                <p:cNvSpPr txBox="1"/>
                <p:nvPr/>
              </p:nvSpPr>
              <p:spPr>
                <a:xfrm>
                  <a:off x="5858589" y="3085603"/>
                  <a:ext cx="2583400" cy="302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어제까지 없던 단어가 오늘 확 늘면 후보 등록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뜻을 몰라도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갑자기 많아졌다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는 사실만 보면 됨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사전 불필요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44711AE1-74BD-2F27-4BC1-2EC3D7751926}"/>
                </a:ext>
              </a:extLst>
            </p:cNvPr>
            <p:cNvGrpSpPr/>
            <p:nvPr/>
          </p:nvGrpSpPr>
          <p:grpSpPr>
            <a:xfrm>
              <a:off x="4700272" y="3822084"/>
              <a:ext cx="4010400" cy="611825"/>
              <a:chOff x="4700272" y="2899009"/>
              <a:chExt cx="4010400" cy="675835"/>
            </a:xfrm>
          </p:grpSpPr>
          <p:sp>
            <p:nvSpPr>
              <p:cNvPr id="208" name="사각형: 둥근 모서리 207">
                <a:extLst>
                  <a:ext uri="{FF2B5EF4-FFF2-40B4-BE49-F238E27FC236}">
                    <a16:creationId xmlns:a16="http://schemas.microsoft.com/office/drawing/2014/main" id="{FCDCCDAD-E2D3-99F0-0C56-57168304E453}"/>
                  </a:ext>
                </a:extLst>
              </p:cNvPr>
              <p:cNvSpPr/>
              <p:nvPr/>
            </p:nvSpPr>
            <p:spPr>
              <a:xfrm>
                <a:off x="4700272" y="2899009"/>
                <a:ext cx="4010400" cy="675835"/>
              </a:xfrm>
              <a:prstGeom prst="roundRect">
                <a:avLst>
                  <a:gd name="adj" fmla="val 7444"/>
                </a:avLst>
              </a:prstGeom>
              <a:gradFill>
                <a:gsLst>
                  <a:gs pos="12000">
                    <a:srgbClr val="EC6570">
                      <a:alpha val="10000"/>
                    </a:srgbClr>
                  </a:gs>
                  <a:gs pos="100000">
                    <a:srgbClr val="EC6570">
                      <a:lumMod val="77000"/>
                      <a:lumOff val="23000"/>
                      <a:alpha val="2000"/>
                    </a:srgbClr>
                  </a:gs>
                </a:gsLst>
                <a:lin ang="13800000" scaled="0"/>
              </a:gradFill>
              <a:ln w="6350">
                <a:solidFill>
                  <a:srgbClr val="EC657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7061DD83-1F4B-6D01-CAE7-B12FDA9DE5B8}"/>
                  </a:ext>
                </a:extLst>
              </p:cNvPr>
              <p:cNvGrpSpPr/>
              <p:nvPr/>
            </p:nvGrpSpPr>
            <p:grpSpPr>
              <a:xfrm>
                <a:off x="4845199" y="3054825"/>
                <a:ext cx="3695256" cy="371522"/>
                <a:chOff x="4875935" y="3054825"/>
                <a:chExt cx="3695256" cy="371522"/>
              </a:xfrm>
            </p:grpSpPr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135CA7E5-26BB-A74A-F47E-2E03945814F0}"/>
                    </a:ext>
                  </a:extLst>
                </p:cNvPr>
                <p:cNvSpPr txBox="1"/>
                <p:nvPr/>
              </p:nvSpPr>
              <p:spPr>
                <a:xfrm>
                  <a:off x="4875935" y="3054825"/>
                  <a:ext cx="694742" cy="3715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Claude 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판별</a:t>
                  </a:r>
                  <a:endPara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정규화 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(AI)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BADADCC-575A-DA66-77F1-FC25553717E7}"/>
                    </a:ext>
                  </a:extLst>
                </p:cNvPr>
                <p:cNvSpPr txBox="1"/>
                <p:nvPr/>
              </p:nvSpPr>
              <p:spPr>
                <a:xfrm>
                  <a:off x="5858589" y="3085603"/>
                  <a:ext cx="2712602" cy="3087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디저트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신메뉴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오타 판별 → 표기 통합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크룽지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크룽쥐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→ 한 메뉴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조합 해석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크루아상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붕어빵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')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</p:grp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4FF61087-F320-5127-66E3-4FDA2DDF93EF}"/>
                </a:ext>
              </a:extLst>
            </p:cNvPr>
            <p:cNvGrpSpPr/>
            <p:nvPr/>
          </p:nvGrpSpPr>
          <p:grpSpPr>
            <a:xfrm>
              <a:off x="4700272" y="4524711"/>
              <a:ext cx="4010400" cy="611825"/>
              <a:chOff x="4700272" y="2899009"/>
              <a:chExt cx="4010400" cy="675835"/>
            </a:xfrm>
          </p:grpSpPr>
          <p:sp>
            <p:nvSpPr>
              <p:cNvPr id="213" name="사각형: 둥근 모서리 212">
                <a:extLst>
                  <a:ext uri="{FF2B5EF4-FFF2-40B4-BE49-F238E27FC236}">
                    <a16:creationId xmlns:a16="http://schemas.microsoft.com/office/drawing/2014/main" id="{42667B54-5F40-DF27-BBFA-B1B9D65D5F07}"/>
                  </a:ext>
                </a:extLst>
              </p:cNvPr>
              <p:cNvSpPr/>
              <p:nvPr/>
            </p:nvSpPr>
            <p:spPr>
              <a:xfrm>
                <a:off x="4700272" y="2899009"/>
                <a:ext cx="4010400" cy="675835"/>
              </a:xfrm>
              <a:prstGeom prst="roundRect">
                <a:avLst>
                  <a:gd name="adj" fmla="val 7444"/>
                </a:avLst>
              </a:prstGeom>
              <a:gradFill>
                <a:gsLst>
                  <a:gs pos="12000">
                    <a:srgbClr val="EC6570">
                      <a:alpha val="10000"/>
                    </a:srgbClr>
                  </a:gs>
                  <a:gs pos="100000">
                    <a:srgbClr val="EC6570">
                      <a:lumMod val="77000"/>
                      <a:lumOff val="23000"/>
                      <a:alpha val="2000"/>
                    </a:srgbClr>
                  </a:gs>
                </a:gsLst>
                <a:lin ang="13800000" scaled="0"/>
              </a:gradFill>
              <a:ln w="6350">
                <a:solidFill>
                  <a:srgbClr val="EC657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14" name="그룹 213">
                <a:extLst>
                  <a:ext uri="{FF2B5EF4-FFF2-40B4-BE49-F238E27FC236}">
                    <a16:creationId xmlns:a16="http://schemas.microsoft.com/office/drawing/2014/main" id="{65111065-0DB8-E2F4-4970-1B49381944CD}"/>
                  </a:ext>
                </a:extLst>
              </p:cNvPr>
              <p:cNvGrpSpPr/>
              <p:nvPr/>
            </p:nvGrpSpPr>
            <p:grpSpPr>
              <a:xfrm>
                <a:off x="4845199" y="3054825"/>
                <a:ext cx="3691088" cy="371522"/>
                <a:chOff x="4875935" y="3054825"/>
                <a:chExt cx="3691088" cy="371522"/>
              </a:xfrm>
            </p:grpSpPr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A692BECC-E741-0F28-2C6A-CC861C6BE6BC}"/>
                    </a:ext>
                  </a:extLst>
                </p:cNvPr>
                <p:cNvSpPr txBox="1"/>
                <p:nvPr/>
              </p:nvSpPr>
              <p:spPr>
                <a:xfrm>
                  <a:off x="4875935" y="3054825"/>
                  <a:ext cx="501740" cy="3715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자가 성장</a:t>
                  </a:r>
                  <a:endPara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사전 등록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8D2579A9-7C7A-1EB0-1AF2-E60AC6B9428D}"/>
                    </a:ext>
                  </a:extLst>
                </p:cNvPr>
                <p:cNvSpPr txBox="1"/>
                <p:nvPr/>
              </p:nvSpPr>
              <p:spPr>
                <a:xfrm>
                  <a:off x="5858589" y="3085603"/>
                  <a:ext cx="2708434" cy="3087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확정어는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즉시 사전 추가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쓸수록 두꺼워지는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디저트 신조어 사전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자체가 복제 어려운 자산</a:t>
                  </a:r>
                </a:p>
              </p:txBody>
            </p:sp>
          </p:grpSp>
        </p:grp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FD73C17F-189A-D5FF-2012-951E4AEEA32F}"/>
                </a:ext>
              </a:extLst>
            </p:cNvPr>
            <p:cNvGrpSpPr/>
            <p:nvPr/>
          </p:nvGrpSpPr>
          <p:grpSpPr>
            <a:xfrm>
              <a:off x="4627704" y="3074538"/>
              <a:ext cx="230400" cy="225732"/>
              <a:chOff x="8507385" y="2859853"/>
              <a:chExt cx="230400" cy="244435"/>
            </a:xfrm>
          </p:grpSpPr>
          <p:sp>
            <p:nvSpPr>
              <p:cNvPr id="218" name="타원 217">
                <a:extLst>
                  <a:ext uri="{FF2B5EF4-FFF2-40B4-BE49-F238E27FC236}">
                    <a16:creationId xmlns:a16="http://schemas.microsoft.com/office/drawing/2014/main" id="{3B2E04CF-FCE8-CC72-14A6-7D199492CB9D}"/>
                  </a:ext>
                </a:extLst>
              </p:cNvPr>
              <p:cNvSpPr/>
              <p:nvPr/>
            </p:nvSpPr>
            <p:spPr>
              <a:xfrm>
                <a:off x="8507385" y="2859853"/>
                <a:ext cx="230400" cy="244435"/>
              </a:xfrm>
              <a:prstGeom prst="ellipse">
                <a:avLst/>
              </a:prstGeom>
              <a:solidFill>
                <a:srgbClr val="EC6570"/>
              </a:solidFill>
              <a:ln>
                <a:solidFill>
                  <a:schemeClr val="bg1"/>
                </a:solidFill>
              </a:ln>
              <a:effectLst>
                <a:outerShdw blurRad="76200" dist="50800" dir="5400000" sx="95000" sy="95000" algn="t" rotWithShape="0">
                  <a:srgbClr val="700E15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8EF9608-EC9C-452A-B7E9-254174BB60EF}"/>
                  </a:ext>
                </a:extLst>
              </p:cNvPr>
              <p:cNvSpPr txBox="1"/>
              <p:nvPr/>
            </p:nvSpPr>
            <p:spPr>
              <a:xfrm>
                <a:off x="8586037" y="2912821"/>
                <a:ext cx="7309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65A71EE7-9416-310B-D89E-BD08EB50C2BE}"/>
                </a:ext>
              </a:extLst>
            </p:cNvPr>
            <p:cNvGrpSpPr/>
            <p:nvPr/>
          </p:nvGrpSpPr>
          <p:grpSpPr>
            <a:xfrm>
              <a:off x="4627704" y="3777166"/>
              <a:ext cx="230400" cy="225732"/>
              <a:chOff x="8507385" y="2859853"/>
              <a:chExt cx="230400" cy="244435"/>
            </a:xfrm>
          </p:grpSpPr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F8D8B74E-F492-4925-B3E0-3C6F9949949D}"/>
                  </a:ext>
                </a:extLst>
              </p:cNvPr>
              <p:cNvSpPr/>
              <p:nvPr/>
            </p:nvSpPr>
            <p:spPr>
              <a:xfrm>
                <a:off x="8507385" y="2859853"/>
                <a:ext cx="230400" cy="244435"/>
              </a:xfrm>
              <a:prstGeom prst="ellipse">
                <a:avLst/>
              </a:prstGeom>
              <a:solidFill>
                <a:srgbClr val="EC6570"/>
              </a:solidFill>
              <a:ln>
                <a:solidFill>
                  <a:schemeClr val="bg1"/>
                </a:solidFill>
              </a:ln>
              <a:effectLst>
                <a:outerShdw blurRad="76200" dist="50800" dir="5400000" sx="95000" sy="95000" algn="t" rotWithShape="0">
                  <a:srgbClr val="700E15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0E6BCE6-34AD-7092-3B6B-1A2F081881D5}"/>
                  </a:ext>
                </a:extLst>
              </p:cNvPr>
              <p:cNvSpPr txBox="1"/>
              <p:nvPr/>
            </p:nvSpPr>
            <p:spPr>
              <a:xfrm>
                <a:off x="8588441" y="2912821"/>
                <a:ext cx="6828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B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7CD9BF0C-9932-395A-727C-0C13E1E8CF39}"/>
                </a:ext>
              </a:extLst>
            </p:cNvPr>
            <p:cNvGrpSpPr/>
            <p:nvPr/>
          </p:nvGrpSpPr>
          <p:grpSpPr>
            <a:xfrm>
              <a:off x="4627704" y="4479792"/>
              <a:ext cx="230400" cy="225732"/>
              <a:chOff x="8507385" y="2859853"/>
              <a:chExt cx="230400" cy="244435"/>
            </a:xfrm>
          </p:grpSpPr>
          <p:sp>
            <p:nvSpPr>
              <p:cNvPr id="225" name="타원 224">
                <a:extLst>
                  <a:ext uri="{FF2B5EF4-FFF2-40B4-BE49-F238E27FC236}">
                    <a16:creationId xmlns:a16="http://schemas.microsoft.com/office/drawing/2014/main" id="{A1B04753-0150-A2B1-46FF-491E7827C9A5}"/>
                  </a:ext>
                </a:extLst>
              </p:cNvPr>
              <p:cNvSpPr/>
              <p:nvPr/>
            </p:nvSpPr>
            <p:spPr>
              <a:xfrm>
                <a:off x="8507385" y="2859853"/>
                <a:ext cx="230400" cy="244435"/>
              </a:xfrm>
              <a:prstGeom prst="ellipse">
                <a:avLst/>
              </a:prstGeom>
              <a:solidFill>
                <a:srgbClr val="EC6570"/>
              </a:solidFill>
              <a:ln>
                <a:solidFill>
                  <a:schemeClr val="bg1"/>
                </a:solidFill>
              </a:ln>
              <a:effectLst>
                <a:outerShdw blurRad="76200" dist="50800" dir="5400000" sx="95000" sy="95000" algn="t" rotWithShape="0">
                  <a:srgbClr val="700E15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715A617-6F3F-E35A-4EDD-32BB86128FC5}"/>
                  </a:ext>
                </a:extLst>
              </p:cNvPr>
              <p:cNvSpPr txBox="1"/>
              <p:nvPr/>
            </p:nvSpPr>
            <p:spPr>
              <a:xfrm>
                <a:off x="8583632" y="2912821"/>
                <a:ext cx="7790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C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2A7C7B39-4B7D-3C8C-CC74-070932EC08A6}"/>
              </a:ext>
            </a:extLst>
          </p:cNvPr>
          <p:cNvSpPr txBox="1"/>
          <p:nvPr/>
        </p:nvSpPr>
        <p:spPr>
          <a:xfrm>
            <a:off x="1673290" y="5930293"/>
            <a:ext cx="5797421" cy="12790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토대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픽미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공동연구 키워드 파이프라인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운영 실적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시계열 분석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v1 - 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맨바닥 아이디어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아닌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작동하는 자체기법의 고도화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BF316797-ED0D-ECAE-0551-090D1D4A49C4}"/>
              </a:ext>
            </a:extLst>
          </p:cNvPr>
          <p:cNvGrpSpPr/>
          <p:nvPr/>
        </p:nvGrpSpPr>
        <p:grpSpPr>
          <a:xfrm rot="16200000">
            <a:off x="2640731" y="3032321"/>
            <a:ext cx="153838" cy="166585"/>
            <a:chOff x="3061961" y="4042843"/>
            <a:chExt cx="221724" cy="221724"/>
          </a:xfrm>
        </p:grpSpPr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417FD38D-74A0-7408-69DA-D7D786F0645A}"/>
                </a:ext>
              </a:extLst>
            </p:cNvPr>
            <p:cNvSpPr/>
            <p:nvPr/>
          </p:nvSpPr>
          <p:spPr>
            <a:xfrm>
              <a:off x="3061961" y="4042843"/>
              <a:ext cx="221724" cy="221724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6E5D1F6-6ADA-7D9C-44B2-38084E5D00E7}"/>
                </a:ext>
              </a:extLst>
            </p:cNvPr>
            <p:cNvSpPr txBox="1"/>
            <p:nvPr/>
          </p:nvSpPr>
          <p:spPr>
            <a:xfrm>
              <a:off x="3110978" y="4082017"/>
              <a:ext cx="123692" cy="14337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↓</a:t>
              </a:r>
            </a:p>
          </p:txBody>
        </p:sp>
      </p:grpSp>
      <p:grpSp>
        <p:nvGrpSpPr>
          <p:cNvPr id="233" name="그룹 232">
            <a:extLst>
              <a:ext uri="{FF2B5EF4-FFF2-40B4-BE49-F238E27FC236}">
                <a16:creationId xmlns:a16="http://schemas.microsoft.com/office/drawing/2014/main" id="{ACB529BD-5902-6FC0-1C50-C14EB012DA7F}"/>
              </a:ext>
            </a:extLst>
          </p:cNvPr>
          <p:cNvGrpSpPr/>
          <p:nvPr/>
        </p:nvGrpSpPr>
        <p:grpSpPr>
          <a:xfrm>
            <a:off x="2353908" y="5397633"/>
            <a:ext cx="166585" cy="153838"/>
            <a:chOff x="3061961" y="4042843"/>
            <a:chExt cx="221724" cy="221724"/>
          </a:xfrm>
        </p:grpSpPr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BF6B21A9-8E98-CF3E-1886-E8C2B5515425}"/>
                </a:ext>
              </a:extLst>
            </p:cNvPr>
            <p:cNvSpPr/>
            <p:nvPr/>
          </p:nvSpPr>
          <p:spPr>
            <a:xfrm>
              <a:off x="3061961" y="4042843"/>
              <a:ext cx="221724" cy="221724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93ABD95-9F13-AA64-C6D2-CA89005B96D5}"/>
                </a:ext>
              </a:extLst>
            </p:cNvPr>
            <p:cNvSpPr txBox="1"/>
            <p:nvPr/>
          </p:nvSpPr>
          <p:spPr>
            <a:xfrm>
              <a:off x="3110976" y="4082017"/>
              <a:ext cx="123693" cy="1433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↓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B02906E-DD83-80A9-99D6-DB70AC73F4C9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2848812-3684-0AD6-B76F-CB11E7D628F7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2D32F35-2F6A-4A69-2402-1846BEAF6ED1}"/>
                </a:ext>
              </a:extLst>
            </p:cNvPr>
            <p:cNvGrpSpPr/>
            <p:nvPr/>
          </p:nvGrpSpPr>
          <p:grpSpPr>
            <a:xfrm>
              <a:off x="404618" y="922962"/>
              <a:ext cx="7921167" cy="523558"/>
              <a:chOff x="404618" y="928733"/>
              <a:chExt cx="7921167" cy="52355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44D401-9238-1B80-3048-D6DA9FE6543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16927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언급 총량이 커졌을 땐 이미 정점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증가율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 가속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(2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성장기 진입 직후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판정해 언론 보도보다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 먼저 알립니다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21BCE8-E798-62DF-C791-561C56DF9D61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5623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절대량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이 아니라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가속도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를 본다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 前에 잡는 조기 포착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사전에 없는 신조어까지</a:t>
                </a:r>
              </a:p>
            </p:txBody>
          </p:sp>
          <p:pic>
            <p:nvPicPr>
              <p:cNvPr id="10" name="Picture 2" descr="딸기로픽">
                <a:extLst>
                  <a:ext uri="{FF2B5EF4-FFF2-40B4-BE49-F238E27FC236}">
                    <a16:creationId xmlns:a16="http://schemas.microsoft.com/office/drawing/2014/main" id="{667C4BCA-EACC-8D81-4328-B74EA0B01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6D611A7-C2A2-892E-BD22-4900764F5A0F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핵심기술 ①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B7196D5-98A0-277E-DAFC-FAE492B3CD55}"/>
              </a:ext>
            </a:extLst>
          </p:cNvPr>
          <p:cNvCxnSpPr>
            <a:stCxn id="187" idx="2"/>
            <a:endCxn id="208" idx="0"/>
          </p:cNvCxnSpPr>
          <p:nvPr/>
        </p:nvCxnSpPr>
        <p:spPr>
          <a:xfrm>
            <a:off x="6705472" y="3723760"/>
            <a:ext cx="0" cy="92627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61D794B-D760-CDCF-6E0C-C3EA9672C4BB}"/>
              </a:ext>
            </a:extLst>
          </p:cNvPr>
          <p:cNvCxnSpPr>
            <a:cxnSpLocks/>
            <a:stCxn id="208" idx="2"/>
            <a:endCxn id="213" idx="0"/>
          </p:cNvCxnSpPr>
          <p:nvPr/>
        </p:nvCxnSpPr>
        <p:spPr>
          <a:xfrm>
            <a:off x="6705472" y="4440510"/>
            <a:ext cx="0" cy="92626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B9004C22-86B3-1D56-9BB6-916D32B8DF92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3956606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C0BA-4CEE-BFA1-FF1D-3A7B2239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9CDCBA-6CA3-11CD-CCF0-600B566A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A89ACF9B-9F20-B3C6-0517-F6A9317932BE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424B59DE-056E-CF9B-CE09-99EFBD3DDC05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94E7EC2C-AED4-89C9-D75C-093DDADA06F7}"/>
                </a:ext>
              </a:extLst>
            </p:cNvPr>
            <p:cNvGrpSpPr/>
            <p:nvPr/>
          </p:nvGrpSpPr>
          <p:grpSpPr>
            <a:xfrm>
              <a:off x="404618" y="922962"/>
              <a:ext cx="8287934" cy="523558"/>
              <a:chOff x="404618" y="928733"/>
              <a:chExt cx="8287934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650D1D38-633B-FD6C-2168-735CC960A172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9627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언제 뜨나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더해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진짜인가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얼마나 갈까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원래 그맘때인가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답해야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입점사의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발주 의사결정이 가능합니다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A8DCA876-941D-DDF4-EAAB-A7B77463D525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29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헛신호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거르는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중 정제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신뢰도 융합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수명 예측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계절성 보정으로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믿을 수 있는 신호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선별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E9D6803B-7E4D-A003-D3F7-3177845077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216F0A50-2FE1-26D4-8C46-7EB9086D143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핵심기술 ①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4F8ADFA-0DFD-AFD7-E365-AB86AE3CB3FE}"/>
              </a:ext>
            </a:extLst>
          </p:cNvPr>
          <p:cNvSpPr txBox="1"/>
          <p:nvPr/>
        </p:nvSpPr>
        <p:spPr>
          <a:xfrm>
            <a:off x="1219320" y="5924994"/>
            <a:ext cx="670536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심사용 요약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LLM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결과를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말로 설명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하는 부품일 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판단은 우리 고유의 가속 판정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곡선 대조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학습형 가중치가 합니다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숫자 계산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문장 생성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AI)</a:t>
            </a:r>
          </a:p>
        </p:txBody>
      </p: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5685C1CF-F696-86D4-511E-A2C7A5C973B9}"/>
              </a:ext>
            </a:extLst>
          </p:cNvPr>
          <p:cNvGrpSpPr/>
          <p:nvPr/>
        </p:nvGrpSpPr>
        <p:grpSpPr>
          <a:xfrm>
            <a:off x="432000" y="2252455"/>
            <a:ext cx="8280000" cy="3493210"/>
            <a:chOff x="432000" y="2252455"/>
            <a:chExt cx="8280000" cy="3493210"/>
          </a:xfrm>
        </p:grpSpPr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95D3B9F3-E602-46D8-5B39-17EE666E78FF}"/>
                </a:ext>
              </a:extLst>
            </p:cNvPr>
            <p:cNvSpPr/>
            <p:nvPr/>
          </p:nvSpPr>
          <p:spPr>
            <a:xfrm>
              <a:off x="432000" y="2754571"/>
              <a:ext cx="2602260" cy="2295392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0BBA02CE-4B03-C4BE-F3EB-1FB514AACFE0}"/>
                </a:ext>
              </a:extLst>
            </p:cNvPr>
            <p:cNvSpPr/>
            <p:nvPr/>
          </p:nvSpPr>
          <p:spPr>
            <a:xfrm>
              <a:off x="3270870" y="2754571"/>
              <a:ext cx="2602259" cy="2295392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64A7C627-2352-60A3-1771-E1DE53E9F106}"/>
                </a:ext>
              </a:extLst>
            </p:cNvPr>
            <p:cNvSpPr/>
            <p:nvPr/>
          </p:nvSpPr>
          <p:spPr>
            <a:xfrm>
              <a:off x="6109740" y="2754571"/>
              <a:ext cx="2602260" cy="2295392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D0AAE1F2-6DF6-EB5E-3006-94EEF6C5BFAE}"/>
                </a:ext>
              </a:extLst>
            </p:cNvPr>
            <p:cNvGrpSpPr/>
            <p:nvPr/>
          </p:nvGrpSpPr>
          <p:grpSpPr>
            <a:xfrm>
              <a:off x="432000" y="2252455"/>
              <a:ext cx="7605512" cy="418835"/>
              <a:chOff x="432000" y="2285267"/>
              <a:chExt cx="7605512" cy="418835"/>
            </a:xfrm>
          </p:grpSpPr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E5970820-E270-2493-76EC-68AF820DF8CD}"/>
                  </a:ext>
                </a:extLst>
              </p:cNvPr>
              <p:cNvGrpSpPr/>
              <p:nvPr/>
            </p:nvGrpSpPr>
            <p:grpSpPr>
              <a:xfrm>
                <a:off x="432000" y="2294872"/>
                <a:ext cx="1441171" cy="403223"/>
                <a:chOff x="740607" y="2587763"/>
                <a:chExt cx="1309153" cy="428028"/>
              </a:xfrm>
            </p:grpSpPr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3540BEC9-9ABF-DC93-55C8-2BE62C6D6AED}"/>
                    </a:ext>
                  </a:extLst>
                </p:cNvPr>
                <p:cNvSpPr txBox="1"/>
                <p:nvPr/>
              </p:nvSpPr>
              <p:spPr>
                <a:xfrm>
                  <a:off x="740607" y="2587763"/>
                  <a:ext cx="1309153" cy="2511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01.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멀티소스 융합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DC36892F-171E-6E15-9C6F-BEA2FA06D5FF}"/>
                    </a:ext>
                  </a:extLst>
                </p:cNvPr>
                <p:cNvSpPr txBox="1"/>
                <p:nvPr/>
              </p:nvSpPr>
              <p:spPr>
                <a:xfrm>
                  <a:off x="740607" y="2858810"/>
                  <a:ext cx="1269383" cy="1569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단순 합산은 노이즈만 키운다</a:t>
                  </a:r>
                </a:p>
              </p:txBody>
            </p:sp>
          </p:grp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3B013143-F223-9666-2F66-67D45D95C067}"/>
                  </a:ext>
                </a:extLst>
              </p:cNvPr>
              <p:cNvGrpSpPr/>
              <p:nvPr/>
            </p:nvGrpSpPr>
            <p:grpSpPr>
              <a:xfrm>
                <a:off x="3270870" y="2294873"/>
                <a:ext cx="1467709" cy="403222"/>
                <a:chOff x="740607" y="2587764"/>
                <a:chExt cx="1333260" cy="428027"/>
              </a:xfrm>
            </p:grpSpPr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D134D1D2-3185-B47D-657C-A8D5A2838273}"/>
                    </a:ext>
                  </a:extLst>
                </p:cNvPr>
                <p:cNvSpPr txBox="1"/>
                <p:nvPr/>
              </p:nvSpPr>
              <p:spPr>
                <a:xfrm>
                  <a:off x="740607" y="2587764"/>
                  <a:ext cx="984947" cy="2511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02.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수명 예측</a:t>
                  </a:r>
                </a:p>
              </p:txBody>
            </p:sp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BBB574A8-EF52-0648-E310-D64B114948E8}"/>
                    </a:ext>
                  </a:extLst>
                </p:cNvPr>
                <p:cNvSpPr txBox="1"/>
                <p:nvPr/>
              </p:nvSpPr>
              <p:spPr>
                <a:xfrm>
                  <a:off x="740607" y="2858810"/>
                  <a:ext cx="1333260" cy="1569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시작 신호만으론 </a:t>
                  </a:r>
                  <a:r>
                    <a:rPr kumimoji="0" lang="ko-KR" altLang="en-US" sz="10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절반짜리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정보</a:t>
                  </a:r>
                </a:p>
              </p:txBody>
            </p:sp>
          </p:grpSp>
          <p:grpSp>
            <p:nvGrpSpPr>
              <p:cNvPr id="291" name="그룹 290">
                <a:extLst>
                  <a:ext uri="{FF2B5EF4-FFF2-40B4-BE49-F238E27FC236}">
                    <a16:creationId xmlns:a16="http://schemas.microsoft.com/office/drawing/2014/main" id="{6F3A8E06-009B-AC0F-0EB9-60ED3DB26A4A}"/>
                  </a:ext>
                </a:extLst>
              </p:cNvPr>
              <p:cNvGrpSpPr/>
              <p:nvPr/>
            </p:nvGrpSpPr>
            <p:grpSpPr>
              <a:xfrm>
                <a:off x="6109740" y="2285267"/>
                <a:ext cx="1927772" cy="418835"/>
                <a:chOff x="740607" y="2577565"/>
                <a:chExt cx="1751178" cy="444600"/>
              </a:xfrm>
            </p:grpSpPr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25C0D0B0-F28D-53DE-3917-5F9B03BEA33F}"/>
                    </a:ext>
                  </a:extLst>
                </p:cNvPr>
                <p:cNvSpPr txBox="1"/>
                <p:nvPr/>
              </p:nvSpPr>
              <p:spPr>
                <a:xfrm>
                  <a:off x="740607" y="2577565"/>
                  <a:ext cx="1751178" cy="2613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03.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계절성 </a:t>
                  </a: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지역성 보정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0B6F7118-9691-B745-01BD-D859AD92D036}"/>
                    </a:ext>
                  </a:extLst>
                </p:cNvPr>
                <p:cNvSpPr txBox="1"/>
                <p:nvPr/>
              </p:nvSpPr>
              <p:spPr>
                <a:xfrm>
                  <a:off x="740607" y="2858810"/>
                  <a:ext cx="1313748" cy="1633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원래 그맘때</a:t>
                  </a: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는 뉴스가 아니다</a:t>
                  </a:r>
                </a:p>
              </p:txBody>
            </p:sp>
          </p:grpSp>
        </p:grpSp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D1D445EB-D192-1197-3966-08E1EC817685}"/>
                </a:ext>
              </a:extLst>
            </p:cNvPr>
            <p:cNvGrpSpPr/>
            <p:nvPr/>
          </p:nvGrpSpPr>
          <p:grpSpPr>
            <a:xfrm>
              <a:off x="591664" y="2903096"/>
              <a:ext cx="7836082" cy="466794"/>
              <a:chOff x="591664" y="2911032"/>
              <a:chExt cx="7836082" cy="466794"/>
            </a:xfrm>
          </p:grpSpPr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514DD147-A858-1571-F47B-6F04DE6C49BF}"/>
                  </a:ext>
                </a:extLst>
              </p:cNvPr>
              <p:cNvSpPr txBox="1"/>
              <p:nvPr/>
            </p:nvSpPr>
            <p:spPr>
              <a:xfrm>
                <a:off x="591664" y="2911032"/>
                <a:ext cx="32028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신뢰도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가중</a:t>
                </a: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992E9039-5E81-3F23-F772-4763998EF91B}"/>
                  </a:ext>
                </a:extLst>
              </p:cNvPr>
              <p:cNvSpPr txBox="1"/>
              <p:nvPr/>
            </p:nvSpPr>
            <p:spPr>
              <a:xfrm>
                <a:off x="1294480" y="2911032"/>
                <a:ext cx="1474763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실수요 반영하는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검색량은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무겁게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조작 쉬운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SNS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가볍게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과거 적중 성적표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계속 학습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D8962777-D3A7-D660-60C1-B3B8832C977A}"/>
                  </a:ext>
                </a:extLst>
              </p:cNvPr>
              <p:cNvSpPr txBox="1"/>
              <p:nvPr/>
            </p:nvSpPr>
            <p:spPr>
              <a:xfrm>
                <a:off x="3430534" y="2911032"/>
                <a:ext cx="49084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곡선 도감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(DB)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구축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C0F49CC-4AA6-1281-9183-7911CF69170A}"/>
                  </a:ext>
                </a:extLst>
              </p:cNvPr>
              <p:cNvSpPr txBox="1"/>
              <p:nvPr/>
            </p:nvSpPr>
            <p:spPr>
              <a:xfrm>
                <a:off x="4133349" y="2911032"/>
                <a:ext cx="1626407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과거 흥망곡선을 정점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반감기 라벨과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축적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탕후루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('23-08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반감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소금빵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 반례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19E8A63C-4925-BDCA-9474-244B9A6CC3F1}"/>
                  </a:ext>
                </a:extLst>
              </p:cNvPr>
              <p:cNvSpPr txBox="1"/>
              <p:nvPr/>
            </p:nvSpPr>
            <p:spPr>
              <a:xfrm>
                <a:off x="6269404" y="2911032"/>
                <a:ext cx="56041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예년 기준선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차감</a:t>
                </a: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C9F2046B-2E6D-8966-162E-18CA51572074}"/>
                  </a:ext>
                </a:extLst>
              </p:cNvPr>
              <p:cNvSpPr txBox="1"/>
              <p:nvPr/>
            </p:nvSpPr>
            <p:spPr>
              <a:xfrm>
                <a:off x="6972219" y="2911032"/>
                <a:ext cx="1455527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작년 같은 시기 수준을 빼면 매년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반복분은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상쇄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겨울 붕어빵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급증은 신호를 내지 않음</a:t>
                </a:r>
              </a:p>
            </p:txBody>
          </p:sp>
        </p:grp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024E7B7A-8FF3-1728-DEE5-3CBD237A8CAF}"/>
                </a:ext>
              </a:extLst>
            </p:cNvPr>
            <p:cNvGrpSpPr/>
            <p:nvPr/>
          </p:nvGrpSpPr>
          <p:grpSpPr>
            <a:xfrm>
              <a:off x="6109740" y="5049962"/>
              <a:ext cx="2602260" cy="695703"/>
              <a:chOff x="6109740" y="5170974"/>
              <a:chExt cx="2602260" cy="723952"/>
            </a:xfrm>
          </p:grpSpPr>
          <p:sp>
            <p:nvSpPr>
              <p:cNvPr id="303" name="직사각형 302">
                <a:extLst>
                  <a:ext uri="{FF2B5EF4-FFF2-40B4-BE49-F238E27FC236}">
                    <a16:creationId xmlns:a16="http://schemas.microsoft.com/office/drawing/2014/main" id="{82E25E12-34A3-0690-B047-19FE0C654B9A}"/>
                  </a:ext>
                </a:extLst>
              </p:cNvPr>
              <p:cNvSpPr/>
              <p:nvPr/>
            </p:nvSpPr>
            <p:spPr>
              <a:xfrm>
                <a:off x="6109740" y="5170974"/>
                <a:ext cx="2602260" cy="723952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04" name="그룹 303">
                <a:extLst>
                  <a:ext uri="{FF2B5EF4-FFF2-40B4-BE49-F238E27FC236}">
                    <a16:creationId xmlns:a16="http://schemas.microsoft.com/office/drawing/2014/main" id="{2DB65D79-1D39-FF39-35C0-81373031D062}"/>
                  </a:ext>
                </a:extLst>
              </p:cNvPr>
              <p:cNvGrpSpPr/>
              <p:nvPr/>
            </p:nvGrpSpPr>
            <p:grpSpPr>
              <a:xfrm>
                <a:off x="6390078" y="5269467"/>
                <a:ext cx="2041585" cy="520714"/>
                <a:chOff x="679254" y="4879259"/>
                <a:chExt cx="1988346" cy="541858"/>
              </a:xfrm>
            </p:grpSpPr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247FF4B5-65BB-2A54-ADC9-C9CA5002B0ED}"/>
                    </a:ext>
                  </a:extLst>
                </p:cNvPr>
                <p:cNvSpPr txBox="1"/>
                <p:nvPr/>
              </p:nvSpPr>
              <p:spPr>
                <a:xfrm>
                  <a:off x="679254" y="5073217"/>
                  <a:ext cx="1988346" cy="176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계절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지역 착시 </a:t>
                  </a:r>
                  <a:r>
                    <a:rPr kumimoji="0" lang="ko-KR" altLang="en-US" sz="11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오탐을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구조적으로 차단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6232FC5D-FD67-274A-0C53-CF435A127C00}"/>
                    </a:ext>
                  </a:extLst>
                </p:cNvPr>
                <p:cNvSpPr txBox="1"/>
                <p:nvPr/>
              </p:nvSpPr>
              <p:spPr>
                <a:xfrm>
                  <a:off x="1569451" y="4879259"/>
                  <a:ext cx="207952" cy="166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5000"/>
                        </a:prstClr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효과</a:t>
                  </a:r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9963BBD7-8839-59D3-6522-D8D7BE2B79D2}"/>
                    </a:ext>
                  </a:extLst>
                </p:cNvPr>
                <p:cNvSpPr txBox="1"/>
                <p:nvPr/>
              </p:nvSpPr>
              <p:spPr>
                <a:xfrm>
                  <a:off x="1040828" y="5276994"/>
                  <a:ext cx="1265198" cy="1441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lvl="0" algn="ctr">
                    <a:defRPr sz="1000" spc="-30">
                      <a:solidFill>
                        <a:prstClr val="white">
                          <a:alpha val="80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반짝유행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오탐률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≤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20%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장치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</p:grpSp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5FD19209-2149-9453-009B-EA105B6C2403}"/>
                </a:ext>
              </a:extLst>
            </p:cNvPr>
            <p:cNvGrpSpPr/>
            <p:nvPr/>
          </p:nvGrpSpPr>
          <p:grpSpPr>
            <a:xfrm>
              <a:off x="432000" y="2754571"/>
              <a:ext cx="8280000" cy="0"/>
              <a:chOff x="432000" y="2765081"/>
              <a:chExt cx="8280000" cy="0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168AB4BF-1915-F50D-358B-C1E4D63FE0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000" y="2765081"/>
                <a:ext cx="2602260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B56DDB9C-4FD6-5708-8287-AB54EA580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0870" y="2765081"/>
                <a:ext cx="2602259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직선 연결선 293">
                <a:extLst>
                  <a:ext uri="{FF2B5EF4-FFF2-40B4-BE49-F238E27FC236}">
                    <a16:creationId xmlns:a16="http://schemas.microsoft.com/office/drawing/2014/main" id="{CFAD290B-124B-255A-6CC9-027B75266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9740" y="2765081"/>
                <a:ext cx="2602260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0" name="그룹 339">
              <a:extLst>
                <a:ext uri="{FF2B5EF4-FFF2-40B4-BE49-F238E27FC236}">
                  <a16:creationId xmlns:a16="http://schemas.microsoft.com/office/drawing/2014/main" id="{6A5FB52F-DA2D-30A0-A50F-47CAE3ACDF7E}"/>
                </a:ext>
              </a:extLst>
            </p:cNvPr>
            <p:cNvGrpSpPr/>
            <p:nvPr/>
          </p:nvGrpSpPr>
          <p:grpSpPr>
            <a:xfrm>
              <a:off x="591664" y="3666940"/>
              <a:ext cx="7926492" cy="466794"/>
              <a:chOff x="591664" y="3676162"/>
              <a:chExt cx="7926492" cy="466794"/>
            </a:xfrm>
          </p:grpSpPr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10761AFC-4CCC-20C3-7805-2ED27DDBD20B}"/>
                  </a:ext>
                </a:extLst>
              </p:cNvPr>
              <p:cNvSpPr txBox="1"/>
              <p:nvPr/>
            </p:nvSpPr>
            <p:spPr>
              <a:xfrm>
                <a:off x="591664" y="3676162"/>
                <a:ext cx="45365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조작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광고 필터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24D5D3F8-37A8-895D-C6F5-538ED4D3493D}"/>
                  </a:ext>
                </a:extLst>
              </p:cNvPr>
              <p:cNvSpPr txBox="1"/>
              <p:nvPr/>
            </p:nvSpPr>
            <p:spPr>
              <a:xfrm>
                <a:off x="1294480" y="3676162"/>
                <a:ext cx="1588576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동일 문구 도배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봇 패턴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표기 등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부자연스러운 급등을 제외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감점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 방어선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D9AA91F-B91C-7E9B-BA9F-D03B3ED04D87}"/>
                  </a:ext>
                </a:extLst>
              </p:cNvPr>
              <p:cNvSpPr txBox="1"/>
              <p:nvPr/>
            </p:nvSpPr>
            <p:spPr>
              <a:xfrm>
                <a:off x="3430534" y="3676162"/>
                <a:ext cx="56041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곡선 닮은꼴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매칭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6A2323D-54B1-7BDD-EFB4-5C23D9ED736A}"/>
                  </a:ext>
                </a:extLst>
              </p:cNvPr>
              <p:cNvSpPr txBox="1"/>
              <p:nvPr/>
            </p:nvSpPr>
            <p:spPr>
              <a:xfrm>
                <a:off x="4133349" y="3676162"/>
                <a:ext cx="1596912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크기가 아닌 모양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기울기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가속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패턴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과거와 대조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지문 대조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’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처럼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남은 수명 추정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B1827590-4254-7056-43CE-D3004703732E}"/>
                  </a:ext>
                </a:extLst>
              </p:cNvPr>
              <p:cNvSpPr txBox="1"/>
              <p:nvPr/>
            </p:nvSpPr>
            <p:spPr>
              <a:xfrm>
                <a:off x="6269404" y="3676162"/>
                <a:ext cx="64056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신상트렌드만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잔존</a:t>
                </a:r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38342B83-BE32-6935-634F-437AAEA9389A}"/>
                  </a:ext>
                </a:extLst>
              </p:cNvPr>
              <p:cNvSpPr txBox="1"/>
              <p:nvPr/>
            </p:nvSpPr>
            <p:spPr>
              <a:xfrm>
                <a:off x="6972220" y="3676162"/>
                <a:ext cx="1545936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작년에 없던 아이템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뺄 기준선이 없어 상승분이 그대로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신호 발생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95FE9DC3-4751-9282-D64E-9C93ABA06550}"/>
                </a:ext>
              </a:extLst>
            </p:cNvPr>
            <p:cNvGrpSpPr/>
            <p:nvPr/>
          </p:nvGrpSpPr>
          <p:grpSpPr>
            <a:xfrm>
              <a:off x="591664" y="4430785"/>
              <a:ext cx="7775810" cy="466794"/>
              <a:chOff x="591664" y="4441295"/>
              <a:chExt cx="7775810" cy="466794"/>
            </a:xfrm>
          </p:grpSpPr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B24526A-FA3F-A172-58A0-BE2C189C931E}"/>
                  </a:ext>
                </a:extLst>
              </p:cNvPr>
              <p:cNvSpPr txBox="1"/>
              <p:nvPr/>
            </p:nvSpPr>
            <p:spPr>
              <a:xfrm>
                <a:off x="591664" y="4441295"/>
                <a:ext cx="21352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교차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</a:t>
                </a: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062A1ADC-995D-3C53-7890-BFACAF026AAE}"/>
                  </a:ext>
                </a:extLst>
              </p:cNvPr>
              <p:cNvSpPr txBox="1"/>
              <p:nvPr/>
            </p:nvSpPr>
            <p:spPr>
              <a:xfrm>
                <a:off x="1294480" y="4441295"/>
                <a:ext cx="1400383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·SNS·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재구매가 함께 오르면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진짜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SNS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터지면 보류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“ –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불일치 경보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691620C-5F3B-60CD-0F13-CD746C5C2255}"/>
                  </a:ext>
                </a:extLst>
              </p:cNvPr>
              <p:cNvSpPr txBox="1"/>
              <p:nvPr/>
            </p:nvSpPr>
            <p:spPr>
              <a:xfrm>
                <a:off x="3430534" y="4441295"/>
                <a:ext cx="56041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4유형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분류 → 운영 판단</a:t>
                </a: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DEEE3725-2C5C-5FD9-E5E0-2BB77243143D}"/>
                  </a:ext>
                </a:extLst>
              </p:cNvPr>
              <p:cNvSpPr txBox="1"/>
              <p:nvPr/>
            </p:nvSpPr>
            <p:spPr>
              <a:xfrm>
                <a:off x="4133349" y="4441295"/>
                <a:ext cx="1632178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반짝형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한정 드롭 (치고 빠지기)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지속형 →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정기구독 · B2B 상품군 편성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계절형 → 예년 대비 물량 · 지역형 → 커뮤니티 공구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00A70635-1557-20EE-BC68-A7FE678915A2}"/>
                  </a:ext>
                </a:extLst>
              </p:cNvPr>
              <p:cNvSpPr txBox="1"/>
              <p:nvPr/>
            </p:nvSpPr>
            <p:spPr>
              <a:xfrm>
                <a:off x="6269404" y="4441295"/>
                <a:ext cx="45365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지역 확산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추적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BDBF4FAF-26DC-DD6A-6F14-303559F07BCD}"/>
                  </a:ext>
                </a:extLst>
              </p:cNvPr>
              <p:cNvSpPr txBox="1"/>
              <p:nvPr/>
            </p:nvSpPr>
            <p:spPr>
              <a:xfrm>
                <a:off x="6972220" y="4441295"/>
                <a:ext cx="1395254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성수 → 옆 동네 → 전국이면 전국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 동네에 머물면 지역형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해당 지역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입점사에만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매칭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DDCAF93C-6945-7623-8819-73EEDEFFA3EE}"/>
                </a:ext>
              </a:extLst>
            </p:cNvPr>
            <p:cNvGrpSpPr/>
            <p:nvPr/>
          </p:nvGrpSpPr>
          <p:grpSpPr>
            <a:xfrm>
              <a:off x="591664" y="3518415"/>
              <a:ext cx="7960673" cy="0"/>
              <a:chOff x="591664" y="3530212"/>
              <a:chExt cx="7960673" cy="0"/>
            </a:xfrm>
          </p:grpSpPr>
          <p:cxnSp>
            <p:nvCxnSpPr>
              <p:cNvPr id="260" name="직선 연결선 259">
                <a:extLst>
                  <a:ext uri="{FF2B5EF4-FFF2-40B4-BE49-F238E27FC236}">
                    <a16:creationId xmlns:a16="http://schemas.microsoft.com/office/drawing/2014/main" id="{2DDC95C9-0310-95A0-381A-6BC625A65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664" y="353021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50E244A4-F946-FB5C-5F23-2F92CCF6F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0534" y="3530212"/>
                <a:ext cx="2282933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04FC593D-5498-6647-DFD5-CEF57B4F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9403" y="353021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A8A626B6-D527-EA34-BC4F-FC71679E0888}"/>
                </a:ext>
              </a:extLst>
            </p:cNvPr>
            <p:cNvGrpSpPr/>
            <p:nvPr/>
          </p:nvGrpSpPr>
          <p:grpSpPr>
            <a:xfrm>
              <a:off x="591664" y="4282259"/>
              <a:ext cx="7960674" cy="0"/>
              <a:chOff x="591664" y="4295342"/>
              <a:chExt cx="7960674" cy="0"/>
            </a:xfrm>
          </p:grpSpPr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88FE2B57-00B2-F096-B346-A7494C17D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664" y="429534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BC460516-AD4B-A89A-CF8F-DD8A7C812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0534" y="4295342"/>
                <a:ext cx="2282933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직선 연결선 297">
                <a:extLst>
                  <a:ext uri="{FF2B5EF4-FFF2-40B4-BE49-F238E27FC236}">
                    <a16:creationId xmlns:a16="http://schemas.microsoft.com/office/drawing/2014/main" id="{E3DFF5DE-7046-0D08-446F-DC0A04BDBC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9404" y="429534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A8E73C78-F673-B268-1624-2BB3DB385283}"/>
                </a:ext>
              </a:extLst>
            </p:cNvPr>
            <p:cNvGrpSpPr/>
            <p:nvPr/>
          </p:nvGrpSpPr>
          <p:grpSpPr>
            <a:xfrm>
              <a:off x="3270869" y="5049962"/>
              <a:ext cx="2602260" cy="695703"/>
              <a:chOff x="6109740" y="5170974"/>
              <a:chExt cx="2602260" cy="723952"/>
            </a:xfrm>
          </p:grpSpPr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52EA407-8D16-D9C8-6BE6-30D48AF7E7EF}"/>
                  </a:ext>
                </a:extLst>
              </p:cNvPr>
              <p:cNvSpPr/>
              <p:nvPr/>
            </p:nvSpPr>
            <p:spPr>
              <a:xfrm>
                <a:off x="6109740" y="5170974"/>
                <a:ext cx="2602260" cy="723952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0572CCBF-F0F6-E7B1-7A56-F68CF3B685B3}"/>
                  </a:ext>
                </a:extLst>
              </p:cNvPr>
              <p:cNvGrpSpPr/>
              <p:nvPr/>
            </p:nvGrpSpPr>
            <p:grpSpPr>
              <a:xfrm>
                <a:off x="6223685" y="5269470"/>
                <a:ext cx="2374369" cy="526338"/>
                <a:chOff x="517200" y="4879259"/>
                <a:chExt cx="2312453" cy="547710"/>
              </a:xfrm>
            </p:grpSpPr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40168EBD-EB95-9C29-3E40-726EE435DC68}"/>
                    </a:ext>
                  </a:extLst>
                </p:cNvPr>
                <p:cNvSpPr txBox="1"/>
                <p:nvPr/>
              </p:nvSpPr>
              <p:spPr>
                <a:xfrm>
                  <a:off x="1347292" y="5069640"/>
                  <a:ext cx="652270" cy="1833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얼마나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의 답</a:t>
                  </a:r>
                </a:p>
              </p:txBody>
            </p: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438284AA-37E8-AC22-FE83-8E1EBB2F43EE}"/>
                    </a:ext>
                  </a:extLst>
                </p:cNvPr>
                <p:cNvSpPr txBox="1"/>
                <p:nvPr/>
              </p:nvSpPr>
              <p:spPr>
                <a:xfrm>
                  <a:off x="1569451" y="4879259"/>
                  <a:ext cx="207952" cy="166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5000"/>
                        </a:prstClr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효과</a:t>
                  </a:r>
                </a:p>
              </p:txBody>
            </p:sp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E365A7AF-010C-1E13-7DF9-F4F0084FEB59}"/>
                    </a:ext>
                  </a:extLst>
                </p:cNvPr>
                <p:cNvSpPr txBox="1"/>
                <p:nvPr/>
              </p:nvSpPr>
              <p:spPr>
                <a:xfrm>
                  <a:off x="517200" y="5276994"/>
                  <a:ext cx="2312453" cy="149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lvl="0" algn="ctr">
                    <a:defRPr sz="1000" spc="-30">
                      <a:solidFill>
                        <a:prstClr val="white">
                          <a:alpha val="80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과다 발주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재고 폐기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도 과소 발주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품절 기회손실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도 방어</a:t>
                  </a:r>
                </a:p>
              </p:txBody>
            </p:sp>
          </p:grpSp>
        </p:grpSp>
        <p:grpSp>
          <p:nvGrpSpPr>
            <p:cNvPr id="331" name="그룹 330">
              <a:extLst>
                <a:ext uri="{FF2B5EF4-FFF2-40B4-BE49-F238E27FC236}">
                  <a16:creationId xmlns:a16="http://schemas.microsoft.com/office/drawing/2014/main" id="{03E286E3-7EE3-4C34-089D-C331DEACA3FF}"/>
                </a:ext>
              </a:extLst>
            </p:cNvPr>
            <p:cNvGrpSpPr/>
            <p:nvPr/>
          </p:nvGrpSpPr>
          <p:grpSpPr>
            <a:xfrm>
              <a:off x="432000" y="5049962"/>
              <a:ext cx="2602260" cy="695703"/>
              <a:chOff x="6109740" y="5170974"/>
              <a:chExt cx="2602260" cy="723952"/>
            </a:xfrm>
          </p:grpSpPr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F83B5E46-1662-0070-12F9-31BB83654A26}"/>
                  </a:ext>
                </a:extLst>
              </p:cNvPr>
              <p:cNvSpPr/>
              <p:nvPr/>
            </p:nvSpPr>
            <p:spPr>
              <a:xfrm>
                <a:off x="6109740" y="5170974"/>
                <a:ext cx="2602260" cy="723952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33" name="그룹 332">
                <a:extLst>
                  <a:ext uri="{FF2B5EF4-FFF2-40B4-BE49-F238E27FC236}">
                    <a16:creationId xmlns:a16="http://schemas.microsoft.com/office/drawing/2014/main" id="{5EDC48C4-2C32-9CD8-0C98-AA2115872AAC}"/>
                  </a:ext>
                </a:extLst>
              </p:cNvPr>
              <p:cNvGrpSpPr/>
              <p:nvPr/>
            </p:nvGrpSpPr>
            <p:grpSpPr>
              <a:xfrm>
                <a:off x="6473915" y="5275721"/>
                <a:ext cx="1873911" cy="520089"/>
                <a:chOff x="760905" y="4885762"/>
                <a:chExt cx="1825044" cy="541207"/>
              </a:xfrm>
            </p:grpSpPr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659C3951-584D-ED2E-6CD0-3F4D3B2D16C0}"/>
                    </a:ext>
                  </a:extLst>
                </p:cNvPr>
                <p:cNvSpPr txBox="1"/>
                <p:nvPr/>
              </p:nvSpPr>
              <p:spPr>
                <a:xfrm>
                  <a:off x="950435" y="5069640"/>
                  <a:ext cx="1445984" cy="1833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최량 단일 소스 대비 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+15%p</a:t>
                  </a:r>
                  <a:endPara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35" name="TextBox 334">
                  <a:extLst>
                    <a:ext uri="{FF2B5EF4-FFF2-40B4-BE49-F238E27FC236}">
                      <a16:creationId xmlns:a16="http://schemas.microsoft.com/office/drawing/2014/main" id="{9885D941-68CA-126F-08AF-18445C080842}"/>
                    </a:ext>
                  </a:extLst>
                </p:cNvPr>
                <p:cNvSpPr txBox="1"/>
                <p:nvPr/>
              </p:nvSpPr>
              <p:spPr>
                <a:xfrm>
                  <a:off x="1586935" y="4885762"/>
                  <a:ext cx="172981" cy="166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5000"/>
                        </a:prstClr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KPI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312D2CAD-5754-1813-5321-FF4793335A66}"/>
                    </a:ext>
                  </a:extLst>
                </p:cNvPr>
                <p:cNvSpPr txBox="1"/>
                <p:nvPr/>
              </p:nvSpPr>
              <p:spPr>
                <a:xfrm>
                  <a:off x="760905" y="5276994"/>
                  <a:ext cx="1825044" cy="149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lvl="0" algn="ctr">
                    <a:defRPr sz="1000" spc="-30">
                      <a:solidFill>
                        <a:prstClr val="white">
                          <a:alpha val="80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합치는 수고가 실제 이득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임을 정직하게 증명</a:t>
                  </a:r>
                </a:p>
              </p:txBody>
            </p:sp>
          </p:grpSp>
        </p:grp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FBEDCDCD-6492-627B-7736-4F96FDD7FF3B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60985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EBB7-354E-CAA5-0435-30D9987A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FE7569-190D-0CA2-509B-93A15BD3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2AE1E42E-45A6-55A2-DD5F-BC931166DC22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8CBEE2E5-9399-EA34-85A4-1BE01A65CD98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98A3A86-BE6F-C52A-4E50-5DC36B2A4A29}"/>
                </a:ext>
              </a:extLst>
            </p:cNvPr>
            <p:cNvGrpSpPr/>
            <p:nvPr/>
          </p:nvGrpSpPr>
          <p:grpSpPr>
            <a:xfrm>
              <a:off x="404618" y="922962"/>
              <a:ext cx="8554353" cy="523558"/>
              <a:chOff x="404618" y="928733"/>
              <a:chExt cx="8554353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8031E14-8C8C-9E7A-B344-610DCB43BF1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9778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guides/09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실제 구동 코드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(40·30·20·10)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상수가 아니라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백테스팅으로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재튜닝되는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파라미터입니다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 장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563D8289-49A4-2FFA-7C1F-FC84C8D33F6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1955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점수는 이렇게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계산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됩니다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 입력부터 단계 판정까지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LLM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없이 코드로 도는 스코어링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45F259D2-6B35-79B6-D604-77E93849D9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B86F5A6C-0D4A-66DF-00CA-D8BA235E59B7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트렌드 스코어 산출 플로우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0415B95-60DB-2E04-FD3C-8BA99AE762ED}"/>
              </a:ext>
            </a:extLst>
          </p:cNvPr>
          <p:cNvGrpSpPr/>
          <p:nvPr/>
        </p:nvGrpSpPr>
        <p:grpSpPr>
          <a:xfrm>
            <a:off x="4700272" y="2291098"/>
            <a:ext cx="4011728" cy="1720832"/>
            <a:chOff x="4700272" y="2291098"/>
            <a:chExt cx="4011728" cy="1720832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6B21EBDD-D3FA-7856-C03C-94F2D6358739}"/>
                </a:ext>
              </a:extLst>
            </p:cNvPr>
            <p:cNvSpPr/>
            <p:nvPr/>
          </p:nvSpPr>
          <p:spPr>
            <a:xfrm>
              <a:off x="4700272" y="2291098"/>
              <a:ext cx="4011728" cy="1720832"/>
            </a:xfrm>
            <a:prstGeom prst="roundRect">
              <a:avLst>
                <a:gd name="adj" fmla="val 4792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8A3FC7B-CBE4-411F-2666-B851F9658196}"/>
                </a:ext>
              </a:extLst>
            </p:cNvPr>
            <p:cNvSpPr txBox="1"/>
            <p:nvPr/>
          </p:nvSpPr>
          <p:spPr>
            <a:xfrm>
              <a:off x="4862940" y="2571659"/>
              <a:ext cx="2076851" cy="131317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src/analysis/scoring.py  (guides/09 -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실제 구동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def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(s):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recent = mean(s[-3:]); base = mean(s[-7:-3])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return (recent - base) / base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def momentum(s):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return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(s) -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(s[:-3])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def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trend_score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(m,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srch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sent,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n_src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return 40*clip(g) + 30*clip(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mo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+ 20*sent \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     + 10*min(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n_src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/4, 1)</a:t>
              </a:r>
            </a:p>
          </p:txBody>
        </p:sp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4EC5A755-4E8D-BCB6-0902-1EB7FB09B8EB}"/>
                </a:ext>
              </a:extLst>
            </p:cNvPr>
            <p:cNvSpPr/>
            <p:nvPr/>
          </p:nvSpPr>
          <p:spPr>
            <a:xfrm>
              <a:off x="4700272" y="2291099"/>
              <a:ext cx="4010400" cy="186512"/>
            </a:xfrm>
            <a:prstGeom prst="round2SameRect">
              <a:avLst/>
            </a:prstGeom>
            <a:gradFill>
              <a:gsLst>
                <a:gs pos="0">
                  <a:schemeClr val="bg1">
                    <a:alpha val="1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CBBB0D16-ACC7-C9AF-7919-5449ED990C56}"/>
                </a:ext>
              </a:extLst>
            </p:cNvPr>
            <p:cNvGrpSpPr/>
            <p:nvPr/>
          </p:nvGrpSpPr>
          <p:grpSpPr>
            <a:xfrm>
              <a:off x="4812084" y="2360184"/>
              <a:ext cx="247264" cy="48342"/>
              <a:chOff x="4812084" y="2360184"/>
              <a:chExt cx="247264" cy="48342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9C91AE5F-13CC-273C-B0BF-ABF0105DB7EE}"/>
                  </a:ext>
                </a:extLst>
              </p:cNvPr>
              <p:cNvSpPr/>
              <p:nvPr/>
            </p:nvSpPr>
            <p:spPr>
              <a:xfrm>
                <a:off x="4812084" y="2360184"/>
                <a:ext cx="46800" cy="48342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459C4FB5-24FA-BD46-B341-349BD1187C7E}"/>
                  </a:ext>
                </a:extLst>
              </p:cNvPr>
              <p:cNvSpPr/>
              <p:nvPr/>
            </p:nvSpPr>
            <p:spPr>
              <a:xfrm>
                <a:off x="4912316" y="2360184"/>
                <a:ext cx="46800" cy="48342"/>
              </a:xfrm>
              <a:prstGeom prst="ellipse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3D8F43A0-6476-B44A-3E39-E7C7C1772D2D}"/>
                  </a:ext>
                </a:extLst>
              </p:cNvPr>
              <p:cNvSpPr/>
              <p:nvPr/>
            </p:nvSpPr>
            <p:spPr>
              <a:xfrm>
                <a:off x="5012548" y="2360184"/>
                <a:ext cx="46800" cy="48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E8A5B433-CC20-3652-E60C-288EA34EE9D7}"/>
              </a:ext>
            </a:extLst>
          </p:cNvPr>
          <p:cNvSpPr/>
          <p:nvPr/>
        </p:nvSpPr>
        <p:spPr>
          <a:xfrm>
            <a:off x="433328" y="2291098"/>
            <a:ext cx="4010400" cy="593831"/>
          </a:xfrm>
          <a:prstGeom prst="roundRect">
            <a:avLst>
              <a:gd name="adj" fmla="val 7444"/>
            </a:avLst>
          </a:prstGeom>
          <a:solidFill>
            <a:srgbClr val="232323">
              <a:alpha val="7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8A8C780-A384-2C1B-66A0-0CE68C4983F5}"/>
              </a:ext>
            </a:extLst>
          </p:cNvPr>
          <p:cNvSpPr txBox="1"/>
          <p:nvPr/>
        </p:nvSpPr>
        <p:spPr>
          <a:xfrm>
            <a:off x="609077" y="2503375"/>
            <a:ext cx="50174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 신호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9B9E1D3-1771-DFEF-4A15-F2C09C483368}"/>
              </a:ext>
            </a:extLst>
          </p:cNvPr>
          <p:cNvSpPr txBox="1"/>
          <p:nvPr/>
        </p:nvSpPr>
        <p:spPr>
          <a:xfrm>
            <a:off x="1560909" y="2436690"/>
            <a:ext cx="2583079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daily_metrics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mention_count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search_ratio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(0~100)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sentiment_pos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(0~1)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 다양성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n_sources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393AB90E-D45C-CAA9-A5FE-7F2B3A17C5F0}"/>
              </a:ext>
            </a:extLst>
          </p:cNvPr>
          <p:cNvSpPr/>
          <p:nvPr/>
        </p:nvSpPr>
        <p:spPr>
          <a:xfrm>
            <a:off x="433328" y="3013678"/>
            <a:ext cx="4010400" cy="593831"/>
          </a:xfrm>
          <a:prstGeom prst="roundRect">
            <a:avLst>
              <a:gd name="adj" fmla="val 7444"/>
            </a:avLst>
          </a:prstGeom>
          <a:solidFill>
            <a:srgbClr val="232323">
              <a:alpha val="7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CB1A9D1-74AB-3638-A6D8-3CA8583AA528}"/>
              </a:ext>
            </a:extLst>
          </p:cNvPr>
          <p:cNvSpPr txBox="1"/>
          <p:nvPr/>
        </p:nvSpPr>
        <p:spPr>
          <a:xfrm>
            <a:off x="609077" y="3225955"/>
            <a:ext cx="55496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1·2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 미분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AD72828-59EC-1B27-083D-391AAC36C1DB}"/>
              </a:ext>
            </a:extLst>
          </p:cNvPr>
          <p:cNvSpPr txBox="1"/>
          <p:nvPr/>
        </p:nvSpPr>
        <p:spPr>
          <a:xfrm>
            <a:off x="1560909" y="3159270"/>
            <a:ext cx="2641429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growth_rate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g = 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3pt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평균 − 직전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4pt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/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직전 평균 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momentum m =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g_now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−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g_prev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가속 여부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18F8EAF1-E310-7FA5-3B66-3E12B8538B70}"/>
              </a:ext>
            </a:extLst>
          </p:cNvPr>
          <p:cNvSpPr/>
          <p:nvPr/>
        </p:nvSpPr>
        <p:spPr>
          <a:xfrm>
            <a:off x="433328" y="3736259"/>
            <a:ext cx="4010400" cy="593831"/>
          </a:xfrm>
          <a:prstGeom prst="roundRect">
            <a:avLst>
              <a:gd name="adj" fmla="val 7444"/>
            </a:avLst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ㅊ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CF78420-C9FE-E736-596F-80B4A45E73E8}"/>
              </a:ext>
            </a:extLst>
          </p:cNvPr>
          <p:cNvSpPr txBox="1"/>
          <p:nvPr/>
        </p:nvSpPr>
        <p:spPr>
          <a:xfrm>
            <a:off x="609077" y="3851073"/>
            <a:ext cx="501740" cy="3642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가중 융합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(0~100)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6082080-2807-58DC-4479-4F4CB5455660}"/>
              </a:ext>
            </a:extLst>
          </p:cNvPr>
          <p:cNvSpPr txBox="1"/>
          <p:nvPr/>
        </p:nvSpPr>
        <p:spPr>
          <a:xfrm>
            <a:off x="1560909" y="3881851"/>
            <a:ext cx="2161810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Score = 40·clip(g) + 30·clip(m) + 20·sentiment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+ 10·min(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n_src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/4, 1)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FBE5CE98-5562-7CB4-6DAB-C143389F398A}"/>
              </a:ext>
            </a:extLst>
          </p:cNvPr>
          <p:cNvSpPr/>
          <p:nvPr/>
        </p:nvSpPr>
        <p:spPr>
          <a:xfrm>
            <a:off x="433328" y="4458839"/>
            <a:ext cx="4010400" cy="593831"/>
          </a:xfrm>
          <a:prstGeom prst="roundRect">
            <a:avLst>
              <a:gd name="adj" fmla="val 7444"/>
            </a:avLst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A3CA564-D964-546C-B6AC-8881DD098AC7}"/>
              </a:ext>
            </a:extLst>
          </p:cNvPr>
          <p:cNvSpPr txBox="1"/>
          <p:nvPr/>
        </p:nvSpPr>
        <p:spPr>
          <a:xfrm>
            <a:off x="609077" y="4573653"/>
            <a:ext cx="501740" cy="3642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확산 단계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판정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498F422-4103-3715-F752-5C82939669E1}"/>
              </a:ext>
            </a:extLst>
          </p:cNvPr>
          <p:cNvSpPr txBox="1"/>
          <p:nvPr/>
        </p:nvSpPr>
        <p:spPr>
          <a:xfrm>
            <a:off x="1560909" y="4610335"/>
            <a:ext cx="2046714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g≤0.05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태동기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 g&gt;0.05 &amp; m&gt;0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성장기 ★추천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g&gt;0.3 &amp; m≤0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 외 쇠퇴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FC96340E-7159-8EE9-2FA3-F9689F65C716}"/>
              </a:ext>
            </a:extLst>
          </p:cNvPr>
          <p:cNvSpPr/>
          <p:nvPr/>
        </p:nvSpPr>
        <p:spPr>
          <a:xfrm>
            <a:off x="433328" y="5181420"/>
            <a:ext cx="4010400" cy="593831"/>
          </a:xfrm>
          <a:prstGeom prst="roundRect">
            <a:avLst>
              <a:gd name="adj" fmla="val 7444"/>
            </a:avLst>
          </a:prstGeom>
          <a:solidFill>
            <a:srgbClr val="232323">
              <a:alpha val="7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CA7173F-1586-1E91-0901-6D3FBC026640}"/>
              </a:ext>
            </a:extLst>
          </p:cNvPr>
          <p:cNvSpPr txBox="1"/>
          <p:nvPr/>
        </p:nvSpPr>
        <p:spPr>
          <a:xfrm>
            <a:off x="609077" y="5296234"/>
            <a:ext cx="504946" cy="3642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1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보정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다중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시간창</a:t>
            </a:r>
            <a:endParaRPr kumimoji="0" lang="ko-KR" altLang="en-US" sz="11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BA10C6E-0687-5977-E9BE-591006C2C47A}"/>
              </a:ext>
            </a:extLst>
          </p:cNvPr>
          <p:cNvSpPr txBox="1"/>
          <p:nvPr/>
        </p:nvSpPr>
        <p:spPr>
          <a:xfrm>
            <a:off x="1560909" y="5327012"/>
            <a:ext cx="1912062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24h·7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개월 병렬 판정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계절성 예년 차감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수명 곡선 매칭 → 최종 신호</a:t>
            </a: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280D9819-1D2D-1048-0300-17765AB3B8BA}"/>
              </a:ext>
            </a:extLst>
          </p:cNvPr>
          <p:cNvGrpSpPr/>
          <p:nvPr/>
        </p:nvGrpSpPr>
        <p:grpSpPr>
          <a:xfrm>
            <a:off x="330588" y="2239728"/>
            <a:ext cx="230400" cy="230269"/>
            <a:chOff x="8507385" y="2859853"/>
            <a:chExt cx="230400" cy="244435"/>
          </a:xfrm>
        </p:grpSpPr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DA33DBE0-6749-7202-C085-FAF0651F50E2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232323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81F7198C-B271-9422-6714-324C7295B694}"/>
                </a:ext>
              </a:extLst>
            </p:cNvPr>
            <p:cNvSpPr txBox="1"/>
            <p:nvPr/>
          </p:nvSpPr>
          <p:spPr>
            <a:xfrm>
              <a:off x="8598861" y="2908561"/>
              <a:ext cx="47449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0E0A51B2-CF5A-C5E0-2AFC-DFA05CC73E94}"/>
              </a:ext>
            </a:extLst>
          </p:cNvPr>
          <p:cNvGrpSpPr/>
          <p:nvPr/>
        </p:nvGrpSpPr>
        <p:grpSpPr>
          <a:xfrm>
            <a:off x="330588" y="2962308"/>
            <a:ext cx="230400" cy="230269"/>
            <a:chOff x="8507385" y="2859853"/>
            <a:chExt cx="230400" cy="244435"/>
          </a:xfrm>
        </p:grpSpPr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CF998BD5-3D26-2AB4-EA3C-F3242E5E65B7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232323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8E137F59-D52F-DB0E-0D5A-DBD9C73B712C}"/>
                </a:ext>
              </a:extLst>
            </p:cNvPr>
            <p:cNvSpPr txBox="1"/>
            <p:nvPr/>
          </p:nvSpPr>
          <p:spPr>
            <a:xfrm>
              <a:off x="8590045" y="2908561"/>
              <a:ext cx="65081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561E825F-227C-2C3A-9962-84BF0AF6A94C}"/>
              </a:ext>
            </a:extLst>
          </p:cNvPr>
          <p:cNvGrpSpPr/>
          <p:nvPr/>
        </p:nvGrpSpPr>
        <p:grpSpPr>
          <a:xfrm>
            <a:off x="330588" y="3684889"/>
            <a:ext cx="230400" cy="230269"/>
            <a:chOff x="8507385" y="2859853"/>
            <a:chExt cx="230400" cy="244435"/>
          </a:xfrm>
        </p:grpSpPr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F4ACEFA7-3EF8-0422-CF68-8F861624FADC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B627FCC-6F8B-1EBD-D1C4-727447C132E6}"/>
                </a:ext>
              </a:extLst>
            </p:cNvPr>
            <p:cNvSpPr txBox="1"/>
            <p:nvPr/>
          </p:nvSpPr>
          <p:spPr>
            <a:xfrm>
              <a:off x="8588441" y="2908561"/>
              <a:ext cx="68288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225F35E7-B3C9-5938-80EA-ECA6172E670F}"/>
              </a:ext>
            </a:extLst>
          </p:cNvPr>
          <p:cNvGrpSpPr/>
          <p:nvPr/>
        </p:nvGrpSpPr>
        <p:grpSpPr>
          <a:xfrm>
            <a:off x="330588" y="4442818"/>
            <a:ext cx="230400" cy="230269"/>
            <a:chOff x="8507385" y="2859853"/>
            <a:chExt cx="230400" cy="244435"/>
          </a:xfrm>
        </p:grpSpPr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28141BEB-EBCD-DC35-16BE-B1D2229706A5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7962DE3A-0250-152A-C5DA-0E2FBCF98531}"/>
                </a:ext>
              </a:extLst>
            </p:cNvPr>
            <p:cNvSpPr txBox="1"/>
            <p:nvPr/>
          </p:nvSpPr>
          <p:spPr>
            <a:xfrm>
              <a:off x="8587640" y="2908561"/>
              <a:ext cx="69891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67CD4FA-939A-C064-2962-235F8473C2C3}"/>
              </a:ext>
            </a:extLst>
          </p:cNvPr>
          <p:cNvGrpSpPr/>
          <p:nvPr/>
        </p:nvGrpSpPr>
        <p:grpSpPr>
          <a:xfrm>
            <a:off x="330588" y="5130050"/>
            <a:ext cx="230400" cy="230269"/>
            <a:chOff x="8507385" y="2859853"/>
            <a:chExt cx="230400" cy="244435"/>
          </a:xfrm>
        </p:grpSpPr>
        <p:sp>
          <p:nvSpPr>
            <p:cNvPr id="225" name="타원 224">
              <a:extLst>
                <a:ext uri="{FF2B5EF4-FFF2-40B4-BE49-F238E27FC236}">
                  <a16:creationId xmlns:a16="http://schemas.microsoft.com/office/drawing/2014/main" id="{1584CD11-2EA4-1002-30D2-95B12BD25C51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232323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63B5BC8-D1D9-BD81-4740-57923019203B}"/>
                </a:ext>
              </a:extLst>
            </p:cNvPr>
            <p:cNvSpPr txBox="1"/>
            <p:nvPr/>
          </p:nvSpPr>
          <p:spPr>
            <a:xfrm>
              <a:off x="8589243" y="2908561"/>
              <a:ext cx="66685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1EB0D458-A401-1C5A-A9D1-8DEA86FA9DA6}"/>
              </a:ext>
            </a:extLst>
          </p:cNvPr>
          <p:cNvCxnSpPr>
            <a:cxnSpLocks/>
          </p:cNvCxnSpPr>
          <p:nvPr/>
        </p:nvCxnSpPr>
        <p:spPr>
          <a:xfrm>
            <a:off x="1448656" y="2421964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11FC8305-0FE0-0C8C-D659-4387DA9611F8}"/>
              </a:ext>
            </a:extLst>
          </p:cNvPr>
          <p:cNvCxnSpPr>
            <a:cxnSpLocks/>
          </p:cNvCxnSpPr>
          <p:nvPr/>
        </p:nvCxnSpPr>
        <p:spPr>
          <a:xfrm>
            <a:off x="1448656" y="3144544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EF8D38F6-1C41-87A2-5EC4-A0C85B2C8549}"/>
              </a:ext>
            </a:extLst>
          </p:cNvPr>
          <p:cNvCxnSpPr>
            <a:cxnSpLocks/>
          </p:cNvCxnSpPr>
          <p:nvPr/>
        </p:nvCxnSpPr>
        <p:spPr>
          <a:xfrm>
            <a:off x="1448656" y="3867125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F7BFD29C-7D47-28B3-3546-8D821EE079D4}"/>
              </a:ext>
            </a:extLst>
          </p:cNvPr>
          <p:cNvCxnSpPr>
            <a:cxnSpLocks/>
          </p:cNvCxnSpPr>
          <p:nvPr/>
        </p:nvCxnSpPr>
        <p:spPr>
          <a:xfrm>
            <a:off x="1448656" y="4589705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3FAFDC59-2B0E-BD00-04B7-9F5BD40322FA}"/>
              </a:ext>
            </a:extLst>
          </p:cNvPr>
          <p:cNvCxnSpPr>
            <a:cxnSpLocks/>
          </p:cNvCxnSpPr>
          <p:nvPr/>
        </p:nvCxnSpPr>
        <p:spPr>
          <a:xfrm>
            <a:off x="1448656" y="5312286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6079E951-DD3D-D544-894C-021FE46A1C80}"/>
              </a:ext>
            </a:extLst>
          </p:cNvPr>
          <p:cNvSpPr txBox="1"/>
          <p:nvPr/>
        </p:nvSpPr>
        <p:spPr>
          <a:xfrm>
            <a:off x="1766745" y="5924994"/>
            <a:ext cx="561051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책임 분리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페이지의 모든 숫자는 코드가 계산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LLM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그 결과의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문장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담당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환각 통제 구조는 공통 신뢰성 설계 장 참조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cxnSp>
        <p:nvCxnSpPr>
          <p:cNvPr id="289" name="직선 연결선 288">
            <a:extLst>
              <a:ext uri="{FF2B5EF4-FFF2-40B4-BE49-F238E27FC236}">
                <a16:creationId xmlns:a16="http://schemas.microsoft.com/office/drawing/2014/main" id="{F8BE9C74-36C0-3C1E-FE50-F9EF344AD21C}"/>
              </a:ext>
            </a:extLst>
          </p:cNvPr>
          <p:cNvCxnSpPr>
            <a:cxnSpLocks/>
          </p:cNvCxnSpPr>
          <p:nvPr/>
        </p:nvCxnSpPr>
        <p:spPr>
          <a:xfrm>
            <a:off x="4700272" y="4160807"/>
            <a:ext cx="401040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F15993AF-2AF3-B64E-3D45-103C3D119AAA}"/>
              </a:ext>
            </a:extLst>
          </p:cNvPr>
          <p:cNvGrpSpPr/>
          <p:nvPr/>
        </p:nvGrpSpPr>
        <p:grpSpPr>
          <a:xfrm>
            <a:off x="4752266" y="4995517"/>
            <a:ext cx="3202800" cy="670174"/>
            <a:chOff x="12197196" y="-107731"/>
            <a:chExt cx="3202800" cy="670174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4895F1B8-2537-9697-E1B2-5BC75A082359}"/>
                </a:ext>
              </a:extLst>
            </p:cNvPr>
            <p:cNvSpPr txBox="1"/>
            <p:nvPr/>
          </p:nvSpPr>
          <p:spPr>
            <a:xfrm>
              <a:off x="12197196" y="-107731"/>
              <a:ext cx="940643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정직한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두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v1'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구분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FCD07F52-187C-1E67-DEB6-074CF2B686D2}"/>
                </a:ext>
              </a:extLst>
            </p:cNvPr>
            <p:cNvSpPr txBox="1"/>
            <p:nvPr/>
          </p:nvSpPr>
          <p:spPr>
            <a:xfrm>
              <a:off x="12197196" y="95649"/>
              <a:ext cx="3202800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900" spc="-30"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휴리스틱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(40·30·20·10)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은 공개 데이터 전용 제로베이스 구현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픽미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PoC v1(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30·SNS 25·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감성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재구매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15·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인구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과는 별개 모델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둘 다 고도화 출발점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백테스트 비교군은 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이동평균 임계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 공정 설정</a:t>
              </a:r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C2476090-9B2C-B261-DFED-5AF0A051FA96}"/>
              </a:ext>
            </a:extLst>
          </p:cNvPr>
          <p:cNvGrpSpPr/>
          <p:nvPr/>
        </p:nvGrpSpPr>
        <p:grpSpPr>
          <a:xfrm>
            <a:off x="4752266" y="4270368"/>
            <a:ext cx="3643305" cy="506027"/>
            <a:chOff x="12197196" y="-107731"/>
            <a:chExt cx="3643305" cy="506027"/>
          </a:xfrm>
        </p:grpSpPr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ECE98AC4-0ED5-0C94-AB3F-876DB64BCA09}"/>
                </a:ext>
              </a:extLst>
            </p:cNvPr>
            <p:cNvSpPr txBox="1"/>
            <p:nvPr/>
          </p:nvSpPr>
          <p:spPr>
            <a:xfrm>
              <a:off x="12197196" y="-107731"/>
              <a:ext cx="856966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출력 예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일 배치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C4846FE5-D5A1-3D79-BBB5-B728346F3392}"/>
                </a:ext>
              </a:extLst>
            </p:cNvPr>
            <p:cNvSpPr txBox="1"/>
            <p:nvPr/>
          </p:nvSpPr>
          <p:spPr>
            <a:xfrm>
              <a:off x="12197196" y="95649"/>
              <a:ext cx="3643305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900" spc="-30"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{ item: 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두바이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쫀득쿠키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", score: 78.4, stage: 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성장기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", window: "7d", sources: 4 }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 스코어 → 입점사 추천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상품화 우선순위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랭킹 가산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(w₄)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신호</a:t>
              </a:r>
            </a:p>
          </p:txBody>
        </p:sp>
      </p:grp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83B4310E-AA49-7AE6-CBEB-5848CED5AA5F}"/>
              </a:ext>
            </a:extLst>
          </p:cNvPr>
          <p:cNvCxnSpPr>
            <a:cxnSpLocks/>
          </p:cNvCxnSpPr>
          <p:nvPr/>
        </p:nvCxnSpPr>
        <p:spPr>
          <a:xfrm>
            <a:off x="4700272" y="4885956"/>
            <a:ext cx="4010400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18728285-4D10-FBAD-9CC7-D42E2A06AEA9}"/>
              </a:ext>
            </a:extLst>
          </p:cNvPr>
          <p:cNvCxnSpPr>
            <a:cxnSpLocks/>
          </p:cNvCxnSpPr>
          <p:nvPr/>
        </p:nvCxnSpPr>
        <p:spPr>
          <a:xfrm>
            <a:off x="4700272" y="5775251"/>
            <a:ext cx="401040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F3B1811-2BA1-006C-7FC9-B421C5C1FDE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964711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93CC-18FC-A57B-D410-138FD504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8">
            <a:extLst>
              <a:ext uri="{FF2B5EF4-FFF2-40B4-BE49-F238E27FC236}">
                <a16:creationId xmlns:a16="http://schemas.microsoft.com/office/drawing/2014/main" id="{E689EF4C-D98A-9D43-C0C3-87935611FDC6}"/>
              </a:ext>
            </a:extLst>
          </p:cNvPr>
          <p:cNvSpPr/>
          <p:nvPr/>
        </p:nvSpPr>
        <p:spPr>
          <a:xfrm>
            <a:off x="460478" y="3750489"/>
            <a:ext cx="403044" cy="36093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1DD287-2067-E5E8-A04B-1C38E948C622}"/>
              </a:ext>
            </a:extLst>
          </p:cNvPr>
          <p:cNvSpPr/>
          <p:nvPr/>
        </p:nvSpPr>
        <p:spPr>
          <a:xfrm>
            <a:off x="920478" y="3738459"/>
            <a:ext cx="403044" cy="48123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9803C58-4B82-C126-383E-6DF24F5812B6}"/>
              </a:ext>
            </a:extLst>
          </p:cNvPr>
          <p:cNvSpPr/>
          <p:nvPr/>
        </p:nvSpPr>
        <p:spPr>
          <a:xfrm>
            <a:off x="1380478" y="3726427"/>
            <a:ext cx="403044" cy="6015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0158A56-C534-961C-4A0A-4B9B72D9ACE6}"/>
              </a:ext>
            </a:extLst>
          </p:cNvPr>
          <p:cNvSpPr/>
          <p:nvPr/>
        </p:nvSpPr>
        <p:spPr>
          <a:xfrm>
            <a:off x="1840478" y="3702365"/>
            <a:ext cx="403044" cy="84217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39ECA72-7F66-E580-9BDD-3DB9584705B6}"/>
              </a:ext>
            </a:extLst>
          </p:cNvPr>
          <p:cNvSpPr/>
          <p:nvPr/>
        </p:nvSpPr>
        <p:spPr>
          <a:xfrm>
            <a:off x="2300478" y="3666273"/>
            <a:ext cx="403044" cy="120309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0561011-630E-3B0F-08DE-2462DCFF6642}"/>
              </a:ext>
            </a:extLst>
          </p:cNvPr>
          <p:cNvSpPr/>
          <p:nvPr/>
        </p:nvSpPr>
        <p:spPr>
          <a:xfrm>
            <a:off x="2760478" y="3606118"/>
            <a:ext cx="403044" cy="180464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C25BF62B-3967-CCFE-C534-EF153D69A9F1}"/>
              </a:ext>
            </a:extLst>
          </p:cNvPr>
          <p:cNvSpPr/>
          <p:nvPr/>
        </p:nvSpPr>
        <p:spPr>
          <a:xfrm>
            <a:off x="3220478" y="3497841"/>
            <a:ext cx="403044" cy="288741"/>
          </a:xfrm>
          <a:prstGeom prst="rect">
            <a:avLst/>
          </a:prstGeom>
          <a:solidFill>
            <a:srgbClr val="EC6570"/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2C0342B5-6D58-AA62-5BAE-F6CE416E5A2F}"/>
              </a:ext>
            </a:extLst>
          </p:cNvPr>
          <p:cNvSpPr/>
          <p:nvPr/>
        </p:nvSpPr>
        <p:spPr>
          <a:xfrm>
            <a:off x="3680478" y="3329407"/>
            <a:ext cx="403044" cy="45717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173B6D8-4F10-4A50-2DAC-60D08ADC6D11}"/>
              </a:ext>
            </a:extLst>
          </p:cNvPr>
          <p:cNvSpPr/>
          <p:nvPr/>
        </p:nvSpPr>
        <p:spPr>
          <a:xfrm>
            <a:off x="4140478" y="3112852"/>
            <a:ext cx="403044" cy="673731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F02F126-2ED6-E8BE-1248-EF2B4FC82195}"/>
              </a:ext>
            </a:extLst>
          </p:cNvPr>
          <p:cNvSpPr/>
          <p:nvPr/>
        </p:nvSpPr>
        <p:spPr>
          <a:xfrm>
            <a:off x="4600478" y="2872233"/>
            <a:ext cx="403044" cy="914350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A24D3CC-117F-F00C-6829-B8ECB2569A58}"/>
              </a:ext>
            </a:extLst>
          </p:cNvPr>
          <p:cNvSpPr/>
          <p:nvPr/>
        </p:nvSpPr>
        <p:spPr>
          <a:xfrm>
            <a:off x="5060478" y="2679737"/>
            <a:ext cx="403044" cy="110684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B34E411-C5F6-BB8C-F31D-0C741C183D4E}"/>
              </a:ext>
            </a:extLst>
          </p:cNvPr>
          <p:cNvSpPr/>
          <p:nvPr/>
        </p:nvSpPr>
        <p:spPr>
          <a:xfrm>
            <a:off x="5520478" y="2478483"/>
            <a:ext cx="403044" cy="1308100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981C2B8D-AF07-285D-119D-BEEAFD4BFAE7}"/>
              </a:ext>
            </a:extLst>
          </p:cNvPr>
          <p:cNvSpPr/>
          <p:nvPr/>
        </p:nvSpPr>
        <p:spPr>
          <a:xfrm>
            <a:off x="5980478" y="2727862"/>
            <a:ext cx="403044" cy="1058720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B579910-4197-4645-A915-9C2F8D122C45}"/>
              </a:ext>
            </a:extLst>
          </p:cNvPr>
          <p:cNvSpPr/>
          <p:nvPr/>
        </p:nvSpPr>
        <p:spPr>
          <a:xfrm>
            <a:off x="6440478" y="2968480"/>
            <a:ext cx="403044" cy="818102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FF2892D0-3255-4D5D-C273-5CFBFB66155B}"/>
              </a:ext>
            </a:extLst>
          </p:cNvPr>
          <p:cNvSpPr/>
          <p:nvPr/>
        </p:nvSpPr>
        <p:spPr>
          <a:xfrm>
            <a:off x="6900478" y="3185036"/>
            <a:ext cx="403044" cy="60154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4A554F54-EB6C-6589-FEC0-2E09E2E2F7C4}"/>
              </a:ext>
            </a:extLst>
          </p:cNvPr>
          <p:cNvSpPr/>
          <p:nvPr/>
        </p:nvSpPr>
        <p:spPr>
          <a:xfrm>
            <a:off x="7360478" y="3329407"/>
            <a:ext cx="403044" cy="45717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297F329D-316B-5479-65E2-915CBECE3F77}"/>
              </a:ext>
            </a:extLst>
          </p:cNvPr>
          <p:cNvSpPr/>
          <p:nvPr/>
        </p:nvSpPr>
        <p:spPr>
          <a:xfrm>
            <a:off x="7820478" y="3425655"/>
            <a:ext cx="403044" cy="360927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F5558B21-5CF6-6FC4-393D-A7D68B391CE0}"/>
              </a:ext>
            </a:extLst>
          </p:cNvPr>
          <p:cNvSpPr/>
          <p:nvPr/>
        </p:nvSpPr>
        <p:spPr>
          <a:xfrm>
            <a:off x="8280478" y="3485809"/>
            <a:ext cx="403044" cy="300773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F14C7B7E-D54C-78C9-202C-12868BC69C17}"/>
              </a:ext>
            </a:extLst>
          </p:cNvPr>
          <p:cNvSpPr/>
          <p:nvPr/>
        </p:nvSpPr>
        <p:spPr>
          <a:xfrm>
            <a:off x="432000" y="3786582"/>
            <a:ext cx="8280000" cy="0"/>
          </a:xfrm>
          <a:prstGeom prst="line">
            <a:avLst/>
          </a:prstGeom>
          <a:noFill/>
          <a:ln w="6350">
            <a:solidFill>
              <a:srgbClr val="232323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9CF17050-DC3F-23E2-0F0D-56F1EED23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 t="10943" b="27323"/>
          <a:stretch>
            <a:fillRect/>
          </a:stretch>
        </p:blipFill>
        <p:spPr>
          <a:xfrm>
            <a:off x="0" y="4155948"/>
            <a:ext cx="9144000" cy="2702052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C044A1-3C6C-C120-1EF6-1B912B58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2FD90D23-D501-12F7-0CEF-F2EA5E1CFE7F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0FFF0DB9-A0F5-7517-BDDC-80B9E5F5D2D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EED65762-367A-3DA7-3A33-F340BE18CE5A}"/>
                </a:ext>
              </a:extLst>
            </p:cNvPr>
            <p:cNvGrpSpPr/>
            <p:nvPr/>
          </p:nvGrpSpPr>
          <p:grpSpPr>
            <a:xfrm>
              <a:off x="404618" y="922962"/>
              <a:ext cx="8426754" cy="523558"/>
              <a:chOff x="404618" y="928733"/>
              <a:chExt cx="8426754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16B5DF1-0A23-4B40-5788-0597ED657E41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2285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날짜를 하루씩 진행하며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그날까지의 데이터만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stage()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호출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미래 정보 누설을 차단한 시뮬레이션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데이터 불필요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32480ED-A06D-290F-EA24-21F2A6E9F641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679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며칠 앞서 잡았는가를 재현 가능하게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흥망곡선 위 신호시점을 실측하는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콜드스타트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15DEA9A7-62B4-7143-A220-D7424CF703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D491E898-517B-FD91-D037-EBADAC53115E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백테스팅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프로토콜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검증의 실체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4" name="Table 0">
            <a:extLst>
              <a:ext uri="{FF2B5EF4-FFF2-40B4-BE49-F238E27FC236}">
                <a16:creationId xmlns:a16="http://schemas.microsoft.com/office/drawing/2014/main" id="{2C37654F-F605-B177-ACF2-13AFC035E0FD}"/>
              </a:ext>
            </a:extLst>
          </p:cNvPr>
          <p:cNvGraphicFramePr>
            <a:graphicFrameLocks noGrp="1"/>
          </p:cNvGraphicFramePr>
          <p:nvPr/>
        </p:nvGraphicFramePr>
        <p:xfrm>
          <a:off x="432000" y="4395730"/>
          <a:ext cx="4801601" cy="1260001"/>
        </p:xfrm>
        <a:graphic>
          <a:graphicData uri="http://schemas.openxmlformats.org/drawingml/2006/table">
            <a:tbl>
              <a:tblPr/>
              <a:tblGrid>
                <a:gridCol w="237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10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검증셋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정점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라벨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=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보도·검색량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교차확인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정점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유형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탕후루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반감기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54일 · '23-10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전월비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- 43%)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'23-08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급등급락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두바이초콜릿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요아정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두쫀쿠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('26-01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최신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'24-07/-08 · '26-01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급등급락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할매니얼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-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안착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'23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상반기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중기형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소금빵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베이글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-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정점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라벨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None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지속형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반례</a:t>
                      </a:r>
                      <a:endParaRPr lang="en-US" sz="900" kern="1200" spc="-3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C510FFF6-2408-E6F3-538B-F59F236D325A}"/>
              </a:ext>
            </a:extLst>
          </p:cNvPr>
          <p:cNvSpPr txBox="1"/>
          <p:nvPr/>
        </p:nvSpPr>
        <p:spPr>
          <a:xfrm>
            <a:off x="2001425" y="5924994"/>
            <a:ext cx="514115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데이터랩은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기간 내 최댓값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=100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상대비율 → 아이템별 자체 기간 수집 시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아이템의 정점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곡선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모양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비교에 적합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6450440-AC96-0D36-3651-F8F0FD9F535F}"/>
              </a:ext>
            </a:extLst>
          </p:cNvPr>
          <p:cNvGrpSpPr/>
          <p:nvPr/>
        </p:nvGrpSpPr>
        <p:grpSpPr>
          <a:xfrm>
            <a:off x="5370760" y="4394807"/>
            <a:ext cx="3341240" cy="1260924"/>
            <a:chOff x="5387301" y="4339052"/>
            <a:chExt cx="3341240" cy="1260924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AD0931A-130A-AA7D-0A6E-79418AB8F7F3}"/>
                </a:ext>
              </a:extLst>
            </p:cNvPr>
            <p:cNvGrpSpPr/>
            <p:nvPr/>
          </p:nvGrpSpPr>
          <p:grpSpPr>
            <a:xfrm>
              <a:off x="5456095" y="4463901"/>
              <a:ext cx="2868734" cy="1011226"/>
              <a:chOff x="12197196" y="-131965"/>
              <a:chExt cx="3480666" cy="1011226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008E06D-8008-51AD-E05B-BFC82B27CE1A}"/>
                  </a:ext>
                </a:extLst>
              </p:cNvPr>
              <p:cNvSpPr txBox="1"/>
              <p:nvPr/>
            </p:nvSpPr>
            <p:spPr>
              <a:xfrm>
                <a:off x="12197196" y="-131965"/>
                <a:ext cx="1967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시뮬레이션 규칙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재현 가능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3E1640C-E62B-1590-82EC-C09B42F8BE9D}"/>
                  </a:ext>
                </a:extLst>
              </p:cNvPr>
              <p:cNvSpPr txBox="1"/>
              <p:nvPr/>
            </p:nvSpPr>
            <p:spPr>
              <a:xfrm>
                <a:off x="12197196" y="95649"/>
                <a:ext cx="3480666" cy="7836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900" spc="-30">
                    <a:solidFill>
                      <a:schemeClr val="tx1">
                        <a:lumMod val="85000"/>
                        <a:lumOff val="15000"/>
                        <a:alpha val="80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77788" marR="0" lvl="0" indent="-77788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first_growth_signal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() 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하루씩 전진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처음 성장기 판정한 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’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기록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그날까지 데이터만 사용</a:t>
                </a:r>
              </a:p>
              <a:p>
                <a:pPr marL="77788" marR="0" lvl="0" indent="-77788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lead_time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=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정점일 − 신호일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양수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선행 포착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종은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헛신호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유무만 검증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오탐률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77788" marR="0" lvl="0" indent="-77788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데이터셋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결과표 재현 보관 → 발표 근거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 공인 대비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61C3607E-19A1-9A94-4CD1-BF189055DE56}"/>
                </a:ext>
              </a:extLst>
            </p:cNvPr>
            <p:cNvGrpSpPr/>
            <p:nvPr/>
          </p:nvGrpSpPr>
          <p:grpSpPr>
            <a:xfrm>
              <a:off x="5387301" y="4339052"/>
              <a:ext cx="3341240" cy="1260924"/>
              <a:chOff x="5406664" y="4326745"/>
              <a:chExt cx="3305337" cy="1174659"/>
            </a:xfrm>
          </p:grpSpPr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B4100C47-590B-5A96-BE69-D2B8F1A26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6664" y="4326745"/>
                <a:ext cx="3305336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0683D229-A879-4AD6-39F6-831DAF0EC7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6665" y="5501404"/>
                <a:ext cx="3305336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5230485C-B2F6-BF71-487D-ADC6BFB87639}"/>
              </a:ext>
            </a:extLst>
          </p:cNvPr>
          <p:cNvSpPr txBox="1"/>
          <p:nvPr/>
        </p:nvSpPr>
        <p:spPr>
          <a:xfrm>
            <a:off x="432000" y="2287407"/>
            <a:ext cx="213520" cy="15388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896C3DA-6A1F-B27C-4C5B-9892B7C36D42}"/>
              </a:ext>
            </a:extLst>
          </p:cNvPr>
          <p:cNvSpPr txBox="1"/>
          <p:nvPr/>
        </p:nvSpPr>
        <p:spPr>
          <a:xfrm>
            <a:off x="432000" y="2487535"/>
            <a:ext cx="2466060" cy="5180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두바이 초콜릿 </a:t>
            </a:r>
            <a:r>
              <a:rPr kumimoji="0" lang="ko-KR" altLang="en-US" sz="16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검색량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곡선</a:t>
            </a:r>
            <a:endParaRPr kumimoji="0" lang="en-US" altLang="ko-KR" sz="16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kumimoji="0" lang="ko-KR" altLang="en-US" sz="16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데이터랩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모식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위의 판정 시점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CFFECAA-F638-5E1E-390E-1FDDD3BBFC7E}"/>
              </a:ext>
            </a:extLst>
          </p:cNvPr>
          <p:cNvSpPr txBox="1"/>
          <p:nvPr/>
        </p:nvSpPr>
        <p:spPr>
          <a:xfrm>
            <a:off x="432000" y="3854194"/>
            <a:ext cx="198644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'23-12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글로벌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틱톡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발원 →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'24-04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 부상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4344464-6918-1C3E-20FF-FA2CD4E63773}"/>
              </a:ext>
            </a:extLst>
          </p:cNvPr>
          <p:cNvSpPr txBox="1"/>
          <p:nvPr/>
        </p:nvSpPr>
        <p:spPr>
          <a:xfrm>
            <a:off x="3344623" y="3854194"/>
            <a:ext cx="245419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리드타임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신호→정점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목표 ≥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왜 14일인가 : 원재료 확보 → 레시피 준비 → 생산 테스트 → 사전수요 모집의 최소 리드타임</a:t>
            </a:r>
          </a:p>
        </p:txBody>
      </p:sp>
      <p:sp>
        <p:nvSpPr>
          <p:cNvPr id="150" name="Shape 26">
            <a:extLst>
              <a:ext uri="{FF2B5EF4-FFF2-40B4-BE49-F238E27FC236}">
                <a16:creationId xmlns:a16="http://schemas.microsoft.com/office/drawing/2014/main" id="{C229F72F-113F-9D26-836B-D628BD191E96}"/>
              </a:ext>
            </a:extLst>
          </p:cNvPr>
          <p:cNvSpPr/>
          <p:nvPr/>
        </p:nvSpPr>
        <p:spPr>
          <a:xfrm>
            <a:off x="3219922" y="3786581"/>
            <a:ext cx="2703600" cy="0"/>
          </a:xfrm>
          <a:prstGeom prst="line">
            <a:avLst/>
          </a:prstGeom>
          <a:noFill/>
          <a:ln w="12700">
            <a:gradFill>
              <a:gsLst>
                <a:gs pos="0">
                  <a:srgbClr val="EC6570"/>
                </a:gs>
                <a:gs pos="100000">
                  <a:srgbClr val="232323"/>
                </a:gs>
              </a:gsLst>
              <a:lin ang="0" scaled="0"/>
            </a:gra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105D7F-1673-98F7-3075-2440D8393731}"/>
              </a:ext>
            </a:extLst>
          </p:cNvPr>
          <p:cNvSpPr txBox="1"/>
          <p:nvPr/>
        </p:nvSpPr>
        <p:spPr>
          <a:xfrm>
            <a:off x="3516884" y="2505642"/>
            <a:ext cx="886140" cy="364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성장기 판정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(g&gt;0.05, m&gt;0)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C448342A-2327-7313-BEAA-CE5581D4414E}"/>
              </a:ext>
            </a:extLst>
          </p:cNvPr>
          <p:cNvGrpSpPr/>
          <p:nvPr/>
        </p:nvGrpSpPr>
        <p:grpSpPr>
          <a:xfrm>
            <a:off x="3382102" y="2479782"/>
            <a:ext cx="79797" cy="1306800"/>
            <a:chOff x="3382102" y="2583491"/>
            <a:chExt cx="79797" cy="1203091"/>
          </a:xfrm>
        </p:grpSpPr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F2334310-C538-588B-948A-E1FB506E2069}"/>
                </a:ext>
              </a:extLst>
            </p:cNvPr>
            <p:cNvCxnSpPr>
              <a:cxnSpLocks/>
            </p:cNvCxnSpPr>
            <p:nvPr/>
          </p:nvCxnSpPr>
          <p:spPr>
            <a:xfrm>
              <a:off x="3422000" y="2584182"/>
              <a:ext cx="0" cy="1202400"/>
            </a:xfrm>
            <a:prstGeom prst="line">
              <a:avLst/>
            </a:prstGeom>
            <a:ln>
              <a:solidFill>
                <a:srgbClr val="EC65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B3B54EED-080B-0093-9856-C88B62F0CF83}"/>
                </a:ext>
              </a:extLst>
            </p:cNvPr>
            <p:cNvCxnSpPr>
              <a:cxnSpLocks/>
            </p:cNvCxnSpPr>
            <p:nvPr/>
          </p:nvCxnSpPr>
          <p:spPr>
            <a:xfrm>
              <a:off x="3382102" y="2583491"/>
              <a:ext cx="79797" cy="0"/>
            </a:xfrm>
            <a:prstGeom prst="line">
              <a:avLst/>
            </a:prstGeom>
            <a:ln>
              <a:solidFill>
                <a:srgbClr val="EC657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87FE40C4-DCBA-9C62-3F8B-4BC3B621E766}"/>
              </a:ext>
            </a:extLst>
          </p:cNvPr>
          <p:cNvSpPr txBox="1"/>
          <p:nvPr/>
        </p:nvSpPr>
        <p:spPr>
          <a:xfrm>
            <a:off x="5978875" y="2505642"/>
            <a:ext cx="82618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'24-07 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라벨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80EFDAC-5AB6-5F81-F58D-100D578E30B3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20028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6FA7-FDE1-9A82-FEF0-1F7D90F6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9DE4B3-3D87-C59D-A09F-852191E0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B872EA7E-581E-E167-D80A-F29549DB6A9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AFA71278-9BB7-0906-C34B-AF766C8F9CD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9CC5B11-E3F8-1895-FE27-74FF02678BBD}"/>
                </a:ext>
              </a:extLst>
            </p:cNvPr>
            <p:cNvGrpSpPr/>
            <p:nvPr/>
          </p:nvGrpSpPr>
          <p:grpSpPr>
            <a:xfrm>
              <a:off x="404618" y="922962"/>
              <a:ext cx="8485745" cy="523558"/>
              <a:chOff x="404618" y="928733"/>
              <a:chExt cx="8485745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F4A01305-211D-BABE-C764-F5C9D5EF62C9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15800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요청조건 이해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(NLU) →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 제약 필터·하이브리드 검색 →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다신호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매칭·랭킹 → 견적·제안 생성의 파이프라인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견적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주문 전환 피드백으로 학습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4E0927AA-1CC6-A392-09BA-66DA8738FAA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126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단체주문 요청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in 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공급 가능 브랜드·견적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out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B2B/B2B2C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매칭·랭킹 시스템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 발견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겸용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0B5E8258-EF75-2694-8684-F297D2AC6F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3EC2FE86-5217-127E-AF2E-526D924B3E80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— B2B/B2B2C 단체주문 매칭·랭킹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 </a:t>
            </a: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6E67D8A-194E-CAAB-1285-68B049879A81}"/>
              </a:ext>
            </a:extLst>
          </p:cNvPr>
          <p:cNvGrpSpPr/>
          <p:nvPr/>
        </p:nvGrpSpPr>
        <p:grpSpPr>
          <a:xfrm>
            <a:off x="0" y="5347484"/>
            <a:ext cx="9144000" cy="837922"/>
            <a:chOff x="0" y="5410937"/>
            <a:chExt cx="9144000" cy="837922"/>
          </a:xfrm>
        </p:grpSpPr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EA6B93AB-C99A-E907-8C90-F6C00BDEB35C}"/>
                </a:ext>
              </a:extLst>
            </p:cNvPr>
            <p:cNvSpPr/>
            <p:nvPr/>
          </p:nvSpPr>
          <p:spPr>
            <a:xfrm>
              <a:off x="0" y="5410937"/>
              <a:ext cx="9144000" cy="837922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C0BC281-581A-82BE-DFC2-46E68028C8FC}"/>
                </a:ext>
              </a:extLst>
            </p:cNvPr>
            <p:cNvGrpSpPr/>
            <p:nvPr/>
          </p:nvGrpSpPr>
          <p:grpSpPr>
            <a:xfrm>
              <a:off x="431999" y="5573978"/>
              <a:ext cx="7633354" cy="333425"/>
              <a:chOff x="431999" y="5604560"/>
              <a:chExt cx="7633354" cy="333425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C59B3B-7926-C890-AE07-333F537C173E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65274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설계 제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원칙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2D5F8D8-582E-9DC2-1CB5-5ED2F834B452}"/>
                  </a:ext>
                </a:extLst>
              </p:cNvPr>
              <p:cNvSpPr txBox="1"/>
              <p:nvPr/>
            </p:nvSpPr>
            <p:spPr>
              <a:xfrm>
                <a:off x="1343641" y="5604560"/>
                <a:ext cx="6721712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랭킹의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 정렬은 항상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적합도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신뢰의 근간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상업적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부스트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별도 레이어에서 상한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라벨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감사로그와 함께 투명하게 가산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적합도를 훼손하는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부스트는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장기 신뢰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깔때기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해자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파괴하므로 금지</a:t>
                </a:r>
              </a:p>
            </p:txBody>
          </p:sp>
        </p:grp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29C96AE-237D-63C3-2FA2-0D406D99836B}"/>
              </a:ext>
            </a:extLst>
          </p:cNvPr>
          <p:cNvSpPr txBox="1"/>
          <p:nvPr/>
        </p:nvSpPr>
        <p:spPr>
          <a:xfrm>
            <a:off x="431999" y="3530629"/>
            <a:ext cx="2997937" cy="22643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전국 디저트 업체 카탈로그 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(Supply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C85AD86-A85C-19A4-C6F4-967D04086390}"/>
              </a:ext>
            </a:extLst>
          </p:cNvPr>
          <p:cNvSpPr txBox="1"/>
          <p:nvPr/>
        </p:nvSpPr>
        <p:spPr>
          <a:xfrm>
            <a:off x="4664933" y="3530628"/>
            <a:ext cx="3208892" cy="22643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추천 대상 정책 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"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왜 </a:t>
            </a:r>
            <a:r>
              <a:rPr kumimoji="0" lang="ko-KR" altLang="en-US" sz="14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비입점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업체까지 추천하나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F64E4E92-A793-EF8A-8754-D7F44ADDCAE7}"/>
              </a:ext>
            </a:extLst>
          </p:cNvPr>
          <p:cNvCxnSpPr>
            <a:cxnSpLocks/>
          </p:cNvCxnSpPr>
          <p:nvPr/>
        </p:nvCxnSpPr>
        <p:spPr>
          <a:xfrm>
            <a:off x="431999" y="3841804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988738DF-E345-DE75-5BE1-28B433985EF7}"/>
              </a:ext>
            </a:extLst>
          </p:cNvPr>
          <p:cNvSpPr txBox="1"/>
          <p:nvPr/>
        </p:nvSpPr>
        <p:spPr>
          <a:xfrm>
            <a:off x="480639" y="3919045"/>
            <a:ext cx="2969083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입점사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 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 수집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비입점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업체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플레이스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공공데이터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식품위생업소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업체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SNS·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배달앱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0D8FD7A-E888-73E0-999C-97EB8CC1A9EF}"/>
              </a:ext>
            </a:extLst>
          </p:cNvPr>
          <p:cNvSpPr txBox="1"/>
          <p:nvPr/>
        </p:nvSpPr>
        <p:spPr>
          <a:xfrm>
            <a:off x="480639" y="4340320"/>
            <a:ext cx="3526286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식이 태그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글루텐프리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저당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LLM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공통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택소노미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정규화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벡터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적재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8FF74ED-DD23-CD7D-E4C1-92FD6C26AB36}"/>
              </a:ext>
            </a:extLst>
          </p:cNvPr>
          <p:cNvSpPr txBox="1"/>
          <p:nvPr/>
        </p:nvSpPr>
        <p:spPr>
          <a:xfrm>
            <a:off x="480639" y="4761594"/>
            <a:ext cx="3253135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신선도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(freshness)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 핵심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KPI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공공데이터 인허가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폐업 대조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주기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재검증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갔더니 망한 집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원천 차단</a:t>
            </a: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728B9537-C631-68D4-68ED-FD870C043DE8}"/>
              </a:ext>
            </a:extLst>
          </p:cNvPr>
          <p:cNvCxnSpPr>
            <a:cxnSpLocks/>
          </p:cNvCxnSpPr>
          <p:nvPr/>
        </p:nvCxnSpPr>
        <p:spPr>
          <a:xfrm>
            <a:off x="431999" y="4281006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30CF3A70-5EC6-0427-0656-8C09B089CD41}"/>
              </a:ext>
            </a:extLst>
          </p:cNvPr>
          <p:cNvCxnSpPr>
            <a:cxnSpLocks/>
          </p:cNvCxnSpPr>
          <p:nvPr/>
        </p:nvCxnSpPr>
        <p:spPr>
          <a:xfrm>
            <a:off x="431999" y="4702281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DADE544C-1A32-27C9-1578-671F26B59068}"/>
              </a:ext>
            </a:extLst>
          </p:cNvPr>
          <p:cNvCxnSpPr>
            <a:cxnSpLocks/>
          </p:cNvCxnSpPr>
          <p:nvPr/>
        </p:nvCxnSpPr>
        <p:spPr>
          <a:xfrm>
            <a:off x="4664933" y="3841804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826FBC9D-81BE-1F05-7C41-FD6365AA4ED1}"/>
              </a:ext>
            </a:extLst>
          </p:cNvPr>
          <p:cNvCxnSpPr>
            <a:cxnSpLocks/>
          </p:cNvCxnSpPr>
          <p:nvPr/>
        </p:nvCxnSpPr>
        <p:spPr>
          <a:xfrm>
            <a:off x="4678981" y="4323279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962A1182-6B2C-3FAD-EEF3-2D5ED093BE69}"/>
              </a:ext>
            </a:extLst>
          </p:cNvPr>
          <p:cNvCxnSpPr>
            <a:cxnSpLocks/>
          </p:cNvCxnSpPr>
          <p:nvPr/>
        </p:nvCxnSpPr>
        <p:spPr>
          <a:xfrm>
            <a:off x="4664933" y="4853756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A3A20289-5A13-C303-0D19-D3DC1A902008}"/>
              </a:ext>
            </a:extLst>
          </p:cNvPr>
          <p:cNvGrpSpPr/>
          <p:nvPr/>
        </p:nvGrpSpPr>
        <p:grpSpPr>
          <a:xfrm>
            <a:off x="4713573" y="3920543"/>
            <a:ext cx="3299336" cy="299651"/>
            <a:chOff x="4710198" y="3949537"/>
            <a:chExt cx="3299336" cy="302647"/>
          </a:xfrm>
        </p:grpSpPr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F6F9A8E-BD8A-F416-9F06-4C8A1E170771}"/>
                </a:ext>
              </a:extLst>
            </p:cNvPr>
            <p:cNvSpPr txBox="1"/>
            <p:nvPr/>
          </p:nvSpPr>
          <p:spPr>
            <a:xfrm>
              <a:off x="4710198" y="3949537"/>
              <a:ext cx="84093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신뢰 → 전환 깔때기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5FD5255F-1588-DC72-BB76-8F87313016E4}"/>
                </a:ext>
              </a:extLst>
            </p:cNvPr>
            <p:cNvSpPr txBox="1"/>
            <p:nvPr/>
          </p:nvSpPr>
          <p:spPr>
            <a:xfrm>
              <a:off x="5685500" y="3949537"/>
              <a:ext cx="2324034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정직한 전국 최적 추천으로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검색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딸기로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우수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비입점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업체는 입점 영업 리드로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89A583A8-671C-2204-8207-0C00C5FB1D95}"/>
              </a:ext>
            </a:extLst>
          </p:cNvPr>
          <p:cNvGrpSpPr/>
          <p:nvPr/>
        </p:nvGrpSpPr>
        <p:grpSpPr>
          <a:xfrm>
            <a:off x="4713573" y="4363916"/>
            <a:ext cx="2769704" cy="137128"/>
            <a:chOff x="4710198" y="4375024"/>
            <a:chExt cx="2769704" cy="138499"/>
          </a:xfrm>
        </p:grpSpPr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11F5DEC3-5DEF-1C52-D2BB-E1AF0FA1EAA5}"/>
                </a:ext>
              </a:extLst>
            </p:cNvPr>
            <p:cNvSpPr txBox="1"/>
            <p:nvPr/>
          </p:nvSpPr>
          <p:spPr>
            <a:xfrm>
              <a:off x="4710198" y="4375024"/>
              <a:ext cx="286617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수익화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955E53D0-3959-32E1-AE5B-46FCF1DED46F}"/>
                </a:ext>
              </a:extLst>
            </p:cNvPr>
            <p:cNvSpPr txBox="1"/>
            <p:nvPr/>
          </p:nvSpPr>
          <p:spPr>
            <a:xfrm>
              <a:off x="5685500" y="4375024"/>
              <a:ext cx="179440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비입점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노출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연결 시 중개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예약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리퍼럴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9C28B09-EAE9-2A6B-D2A5-553FFEEEB2A8}"/>
              </a:ext>
            </a:extLst>
          </p:cNvPr>
          <p:cNvGrpSpPr/>
          <p:nvPr/>
        </p:nvGrpSpPr>
        <p:grpSpPr>
          <a:xfrm>
            <a:off x="4713573" y="4925615"/>
            <a:ext cx="2877426" cy="137128"/>
            <a:chOff x="4710198" y="3949537"/>
            <a:chExt cx="2877426" cy="138499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19ED0E71-65BE-0F56-3130-D8860F7AB37A}"/>
                </a:ext>
              </a:extLst>
            </p:cNvPr>
            <p:cNvSpPr txBox="1"/>
            <p:nvPr/>
          </p:nvSpPr>
          <p:spPr>
            <a:xfrm>
              <a:off x="4710198" y="3949537"/>
              <a:ext cx="72039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입점사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우선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투명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61BE33EB-D221-85DD-49B5-95A7E38D0214}"/>
                </a:ext>
              </a:extLst>
            </p:cNvPr>
            <p:cNvSpPr txBox="1"/>
            <p:nvPr/>
          </p:nvSpPr>
          <p:spPr>
            <a:xfrm>
              <a:off x="5685500" y="3949537"/>
              <a:ext cx="19021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적합도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차 고정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부스트는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상한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배지로 분리</a:t>
              </a:r>
            </a:p>
          </p:txBody>
        </p:sp>
      </p:grp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BF34F93C-F77B-4DF1-1275-ED53F00830D7}"/>
              </a:ext>
            </a:extLst>
          </p:cNvPr>
          <p:cNvCxnSpPr>
            <a:cxnSpLocks/>
          </p:cNvCxnSpPr>
          <p:nvPr/>
        </p:nvCxnSpPr>
        <p:spPr>
          <a:xfrm>
            <a:off x="4664933" y="4572905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1147FD4B-AED8-8B4F-8CD8-33DBF559B868}"/>
              </a:ext>
            </a:extLst>
          </p:cNvPr>
          <p:cNvGrpSpPr/>
          <p:nvPr/>
        </p:nvGrpSpPr>
        <p:grpSpPr>
          <a:xfrm>
            <a:off x="4713573" y="4644767"/>
            <a:ext cx="2678974" cy="137128"/>
            <a:chOff x="4710198" y="4375024"/>
            <a:chExt cx="2678974" cy="138499"/>
          </a:xfrm>
        </p:grpSpPr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30830797-315E-8595-520F-0AF5E9984CF9}"/>
                </a:ext>
              </a:extLst>
            </p:cNvPr>
            <p:cNvSpPr txBox="1"/>
            <p:nvPr/>
          </p:nvSpPr>
          <p:spPr>
            <a:xfrm>
              <a:off x="4710198" y="4375024"/>
              <a:ext cx="693138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커버리지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=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해자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C71D7181-A80E-0FBB-C9FA-67AA922EF7C3}"/>
                </a:ext>
              </a:extLst>
            </p:cNvPr>
            <p:cNvSpPr txBox="1"/>
            <p:nvPr/>
          </p:nvSpPr>
          <p:spPr>
            <a:xfrm>
              <a:off x="5685500" y="4375024"/>
              <a:ext cx="170367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질의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)×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업체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양면 데이터 축적</a:t>
              </a: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1AD8122F-2D37-1A98-9B8C-D8996EBE1A12}"/>
              </a:ext>
            </a:extLst>
          </p:cNvPr>
          <p:cNvGrpSpPr/>
          <p:nvPr/>
        </p:nvGrpSpPr>
        <p:grpSpPr>
          <a:xfrm>
            <a:off x="431999" y="2238402"/>
            <a:ext cx="1565500" cy="1141614"/>
            <a:chOff x="431999" y="2284122"/>
            <a:chExt cx="1565500" cy="1141614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4632E3A6-FC2C-898B-F87A-725DAE5536A2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66E635B3-8727-A3AB-B3EE-D3650BF63ACB}"/>
                </a:ext>
              </a:extLst>
            </p:cNvPr>
            <p:cNvGrpSpPr/>
            <p:nvPr/>
          </p:nvGrpSpPr>
          <p:grpSpPr>
            <a:xfrm>
              <a:off x="580064" y="2618573"/>
              <a:ext cx="1229824" cy="593361"/>
              <a:chOff x="580064" y="2499567"/>
              <a:chExt cx="1229824" cy="593361"/>
            </a:xfrm>
          </p:grpSpPr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52605F0B-F579-F346-29D3-ABBF3D4AC143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107818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단체주문 자연어 요청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536856E2-DEBF-C74D-BCCF-52497F71C89E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229824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임직원 200명 행사 간식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1인 8천원·개별포장·금요일 판교 수령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(B2B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기업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B2B2C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커뮤니티 · B2C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1D2B8E55-2971-02F9-C050-6CF19E58D637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292" name="타원 291">
                <a:extLst>
                  <a:ext uri="{FF2B5EF4-FFF2-40B4-BE49-F238E27FC236}">
                    <a16:creationId xmlns:a16="http://schemas.microsoft.com/office/drawing/2014/main" id="{1B441D74-B33F-2B4D-2328-72BAC5B165EA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3A8CC63-24D0-D6C5-C7BC-2E839384F495}"/>
                  </a:ext>
                </a:extLst>
              </p:cNvPr>
              <p:cNvSpPr txBox="1"/>
              <p:nvPr/>
            </p:nvSpPr>
            <p:spPr>
              <a:xfrm>
                <a:off x="1750930" y="2434834"/>
                <a:ext cx="39851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E09E4641-F5FA-99ED-48BB-D33FF04CEFA7}"/>
              </a:ext>
            </a:extLst>
          </p:cNvPr>
          <p:cNvGrpSpPr/>
          <p:nvPr/>
        </p:nvGrpSpPr>
        <p:grpSpPr>
          <a:xfrm>
            <a:off x="2110624" y="2238402"/>
            <a:ext cx="1565500" cy="1141614"/>
            <a:chOff x="431999" y="2284122"/>
            <a:chExt cx="1565500" cy="1141614"/>
          </a:xfrm>
        </p:grpSpPr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81C512D3-F5E0-3F4B-C4BF-DFC36BE3D2F6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349FFD5E-E425-1311-9F5E-76A54B121F3E}"/>
                </a:ext>
              </a:extLst>
            </p:cNvPr>
            <p:cNvGrpSpPr/>
            <p:nvPr/>
          </p:nvGrpSpPr>
          <p:grpSpPr>
            <a:xfrm>
              <a:off x="580064" y="2618573"/>
              <a:ext cx="1381468" cy="593361"/>
              <a:chOff x="580064" y="2499567"/>
              <a:chExt cx="1381468" cy="593361"/>
            </a:xfrm>
          </p:grpSpPr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BB545A80-7E53-DEDD-5759-1A46B82191E5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85215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>
                  <a:spcBef>
                    <a:spcPts val="200"/>
                  </a:spcBef>
                  <a:defRPr sz="1200" spc="-3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질의 이해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(NLU)</a:t>
                </a:r>
                <a:endPara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C50D4233-B37A-707D-C3DF-40CDEE473308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381468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en-US"/>
                </a:defPPr>
                <a:lvl1pPr>
                  <a:spcBef>
                    <a:spcPts val="200"/>
                  </a:spcBef>
                  <a:defRPr sz="900" spc="-30">
                    <a:solidFill>
                      <a:schemeClr val="bg1">
                        <a:alpha val="80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목적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인원·예산 구조화 슬롯 추출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수령일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배송지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포장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보관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MOQ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세금계산서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모호하면 능동 되묻기</a:t>
                </a:r>
              </a:p>
            </p:txBody>
          </p:sp>
        </p:grpSp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65F28882-BAFF-33CE-59F8-CE45E9C08615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B7A8C113-BC35-951F-8347-A9CD8EE0FAB9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CCA7DD5A-3CB0-8998-B35F-4D41D587386B}"/>
                  </a:ext>
                </a:extLst>
              </p:cNvPr>
              <p:cNvSpPr txBox="1"/>
              <p:nvPr/>
            </p:nvSpPr>
            <p:spPr>
              <a:xfrm>
                <a:off x="1743878" y="2434835"/>
                <a:ext cx="53956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ED96A34A-FFA9-DE70-D998-79379EE1D852}"/>
              </a:ext>
            </a:extLst>
          </p:cNvPr>
          <p:cNvGrpSpPr/>
          <p:nvPr/>
        </p:nvGrpSpPr>
        <p:grpSpPr>
          <a:xfrm>
            <a:off x="3789249" y="2238402"/>
            <a:ext cx="1565500" cy="1141614"/>
            <a:chOff x="431999" y="2284122"/>
            <a:chExt cx="1565500" cy="1141614"/>
          </a:xfrm>
        </p:grpSpPr>
        <p:sp>
          <p:nvSpPr>
            <p:cNvPr id="305" name="사각형: 둥근 모서리 304">
              <a:extLst>
                <a:ext uri="{FF2B5EF4-FFF2-40B4-BE49-F238E27FC236}">
                  <a16:creationId xmlns:a16="http://schemas.microsoft.com/office/drawing/2014/main" id="{3A057A08-05E4-5A14-CDF5-4C9C5BFE1515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06" name="그룹 305">
              <a:extLst>
                <a:ext uri="{FF2B5EF4-FFF2-40B4-BE49-F238E27FC236}">
                  <a16:creationId xmlns:a16="http://schemas.microsoft.com/office/drawing/2014/main" id="{0AA4CC2D-DF45-EA2D-314C-57AAAEA0B33C}"/>
                </a:ext>
              </a:extLst>
            </p:cNvPr>
            <p:cNvGrpSpPr/>
            <p:nvPr/>
          </p:nvGrpSpPr>
          <p:grpSpPr>
            <a:xfrm>
              <a:off x="580064" y="2618573"/>
              <a:ext cx="692818" cy="593361"/>
              <a:chOff x="580064" y="2499567"/>
              <a:chExt cx="692818" cy="593361"/>
            </a:xfrm>
          </p:grpSpPr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E4FC6941-0785-1BBB-0250-B7638C986B43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482504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후보 탐색</a:t>
                </a: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ACBBEB07-5B01-7579-5AAE-6A302D79A91A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692818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하이브리드 검색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의미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벡터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하드제약 정확 필터</a:t>
                </a:r>
              </a:p>
            </p:txBody>
          </p:sp>
        </p:grpSp>
        <p:grpSp>
          <p:nvGrpSpPr>
            <p:cNvPr id="307" name="그룹 306">
              <a:extLst>
                <a:ext uri="{FF2B5EF4-FFF2-40B4-BE49-F238E27FC236}">
                  <a16:creationId xmlns:a16="http://schemas.microsoft.com/office/drawing/2014/main" id="{1DE077C1-E70A-65EC-B741-54E62DF2EDBA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08" name="타원 307">
                <a:extLst>
                  <a:ext uri="{FF2B5EF4-FFF2-40B4-BE49-F238E27FC236}">
                    <a16:creationId xmlns:a16="http://schemas.microsoft.com/office/drawing/2014/main" id="{E5DADBFA-C2ED-290B-6A71-25DC80D33FAA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48539834-0367-8BDA-5F41-AD57B6634851}"/>
                  </a:ext>
                </a:extLst>
              </p:cNvPr>
              <p:cNvSpPr txBox="1"/>
              <p:nvPr/>
            </p:nvSpPr>
            <p:spPr>
              <a:xfrm>
                <a:off x="1742115" y="2434835"/>
                <a:ext cx="57483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B8D259A9-3DDA-9656-1783-B4AD1376D17F}"/>
              </a:ext>
            </a:extLst>
          </p:cNvPr>
          <p:cNvGrpSpPr/>
          <p:nvPr/>
        </p:nvGrpSpPr>
        <p:grpSpPr>
          <a:xfrm>
            <a:off x="5467874" y="2238402"/>
            <a:ext cx="1565500" cy="1141614"/>
            <a:chOff x="431999" y="2284122"/>
            <a:chExt cx="1565500" cy="1141614"/>
          </a:xfrm>
        </p:grpSpPr>
        <p:sp>
          <p:nvSpPr>
            <p:cNvPr id="321" name="사각형: 둥근 모서리 320">
              <a:extLst>
                <a:ext uri="{FF2B5EF4-FFF2-40B4-BE49-F238E27FC236}">
                  <a16:creationId xmlns:a16="http://schemas.microsoft.com/office/drawing/2014/main" id="{0E125303-DB25-A79F-7745-BD8966186B38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0274817C-28C8-D2E7-F3BD-D232406EFC31}"/>
                </a:ext>
              </a:extLst>
            </p:cNvPr>
            <p:cNvGrpSpPr/>
            <p:nvPr/>
          </p:nvGrpSpPr>
          <p:grpSpPr>
            <a:xfrm>
              <a:off x="580064" y="2618573"/>
              <a:ext cx="1075615" cy="593361"/>
              <a:chOff x="580064" y="2499567"/>
              <a:chExt cx="1075615" cy="593361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3DC394F9-21FD-D4BF-5BF1-82AB443C93C6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482504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랭킹 엔진</a:t>
                </a: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77C3D668-FA6C-0261-2CBB-DEA01CBCA7C8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075615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적합도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공급능력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품질·지역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1)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가산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부스트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상한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분리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91867452-0DD2-3FDC-A0E0-6074CB9882F0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9CFCA726-6A7F-1CB5-A60A-D7D4E5CDB292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582BB302-CCE2-EC06-17F8-03615811A096}"/>
                  </a:ext>
                </a:extLst>
              </p:cNvPr>
              <p:cNvSpPr txBox="1"/>
              <p:nvPr/>
            </p:nvSpPr>
            <p:spPr>
              <a:xfrm>
                <a:off x="1742115" y="2434835"/>
                <a:ext cx="57483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81C6B321-06D1-D15C-C910-26B0CC735171}"/>
              </a:ext>
            </a:extLst>
          </p:cNvPr>
          <p:cNvGrpSpPr/>
          <p:nvPr/>
        </p:nvGrpSpPr>
        <p:grpSpPr>
          <a:xfrm>
            <a:off x="7146499" y="2238402"/>
            <a:ext cx="1565500" cy="1141614"/>
            <a:chOff x="431999" y="2284122"/>
            <a:chExt cx="1565500" cy="1141614"/>
          </a:xfrm>
        </p:grpSpPr>
        <p:sp>
          <p:nvSpPr>
            <p:cNvPr id="329" name="사각형: 둥근 모서리 328">
              <a:extLst>
                <a:ext uri="{FF2B5EF4-FFF2-40B4-BE49-F238E27FC236}">
                  <a16:creationId xmlns:a16="http://schemas.microsoft.com/office/drawing/2014/main" id="{05951862-D812-A1FF-E284-36610687D59D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D1AEE820-22EB-42FA-C596-68F4D0550FC4}"/>
                </a:ext>
              </a:extLst>
            </p:cNvPr>
            <p:cNvGrpSpPr/>
            <p:nvPr/>
          </p:nvGrpSpPr>
          <p:grpSpPr>
            <a:xfrm>
              <a:off x="580064" y="2618573"/>
              <a:ext cx="1184299" cy="593361"/>
              <a:chOff x="580064" y="2499567"/>
              <a:chExt cx="1184299" cy="593361"/>
            </a:xfrm>
          </p:grpSpPr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8B2BA05-1445-09DF-9AE8-BC9CE7CE4F50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99803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견적·제안 생성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전환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0799743D-B50B-1C64-4058-581B9BAEDD09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184299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왜 이 브랜드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 LLM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제안자료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출처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주문 확정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정산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연결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재주문·입점 전환 리드</a:t>
                </a:r>
                <a:endParaRPr kumimoji="0" lang="en-US" altLang="ko-KR" sz="7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331" name="그룹 330">
              <a:extLst>
                <a:ext uri="{FF2B5EF4-FFF2-40B4-BE49-F238E27FC236}">
                  <a16:creationId xmlns:a16="http://schemas.microsoft.com/office/drawing/2014/main" id="{C7313808-B5CA-DB14-936D-CB78AC823C76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FF12A110-C013-A127-F2C6-4266DA149FBE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ABC75E9D-E638-9B23-8665-40CD1C646512}"/>
                  </a:ext>
                </a:extLst>
              </p:cNvPr>
              <p:cNvSpPr txBox="1"/>
              <p:nvPr/>
            </p:nvSpPr>
            <p:spPr>
              <a:xfrm>
                <a:off x="1743878" y="2434835"/>
                <a:ext cx="53956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5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41" name="그룹 340">
            <a:extLst>
              <a:ext uri="{FF2B5EF4-FFF2-40B4-BE49-F238E27FC236}">
                <a16:creationId xmlns:a16="http://schemas.microsoft.com/office/drawing/2014/main" id="{86B1852D-EA0B-63F5-9B8C-979CF15BCACA}"/>
              </a:ext>
            </a:extLst>
          </p:cNvPr>
          <p:cNvGrpSpPr/>
          <p:nvPr/>
        </p:nvGrpSpPr>
        <p:grpSpPr>
          <a:xfrm>
            <a:off x="1937062" y="2692064"/>
            <a:ext cx="234000" cy="234290"/>
            <a:chOff x="7104117" y="5693251"/>
            <a:chExt cx="461133" cy="456565"/>
          </a:xfrm>
        </p:grpSpPr>
        <p:sp>
          <p:nvSpPr>
            <p:cNvPr id="342" name="타원 341">
              <a:extLst>
                <a:ext uri="{FF2B5EF4-FFF2-40B4-BE49-F238E27FC236}">
                  <a16:creationId xmlns:a16="http://schemas.microsoft.com/office/drawing/2014/main" id="{C81E5F40-2AC5-9231-BED6-B4930AA09B85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3" name="화살표: 아래쪽 342">
              <a:extLst>
                <a:ext uri="{FF2B5EF4-FFF2-40B4-BE49-F238E27FC236}">
                  <a16:creationId xmlns:a16="http://schemas.microsoft.com/office/drawing/2014/main" id="{3B566789-11DB-49D1-0F93-BCC71A576E3D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4AE3DA2E-4502-6B70-2B88-27DE37EADA46}"/>
              </a:ext>
            </a:extLst>
          </p:cNvPr>
          <p:cNvGrpSpPr/>
          <p:nvPr/>
        </p:nvGrpSpPr>
        <p:grpSpPr>
          <a:xfrm>
            <a:off x="3615687" y="2692064"/>
            <a:ext cx="234000" cy="234290"/>
            <a:chOff x="7104117" y="5693251"/>
            <a:chExt cx="461133" cy="456565"/>
          </a:xfrm>
        </p:grpSpPr>
        <p:sp>
          <p:nvSpPr>
            <p:cNvPr id="345" name="타원 344">
              <a:extLst>
                <a:ext uri="{FF2B5EF4-FFF2-40B4-BE49-F238E27FC236}">
                  <a16:creationId xmlns:a16="http://schemas.microsoft.com/office/drawing/2014/main" id="{C64B332E-F2CB-622A-B36C-18E3578FEC72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6" name="화살표: 아래쪽 345">
              <a:extLst>
                <a:ext uri="{FF2B5EF4-FFF2-40B4-BE49-F238E27FC236}">
                  <a16:creationId xmlns:a16="http://schemas.microsoft.com/office/drawing/2014/main" id="{615F4BE5-8C6E-228C-FDE1-1BA0A3DD8EA0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4AC12590-DD67-DEDC-FA4C-514A7E26C357}"/>
              </a:ext>
            </a:extLst>
          </p:cNvPr>
          <p:cNvGrpSpPr/>
          <p:nvPr/>
        </p:nvGrpSpPr>
        <p:grpSpPr>
          <a:xfrm>
            <a:off x="5294311" y="2692064"/>
            <a:ext cx="234000" cy="234290"/>
            <a:chOff x="7104117" y="5693251"/>
            <a:chExt cx="461133" cy="456565"/>
          </a:xfrm>
        </p:grpSpPr>
        <p:sp>
          <p:nvSpPr>
            <p:cNvPr id="348" name="타원 347">
              <a:extLst>
                <a:ext uri="{FF2B5EF4-FFF2-40B4-BE49-F238E27FC236}">
                  <a16:creationId xmlns:a16="http://schemas.microsoft.com/office/drawing/2014/main" id="{E952A837-C655-A68B-75C3-F01C13E66338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9" name="화살표: 아래쪽 348">
              <a:extLst>
                <a:ext uri="{FF2B5EF4-FFF2-40B4-BE49-F238E27FC236}">
                  <a16:creationId xmlns:a16="http://schemas.microsoft.com/office/drawing/2014/main" id="{C1D0E676-7B44-3AAA-E787-0E86E5379CDE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4AB5256A-1E13-1C02-1A40-19CD6E03CEFB}"/>
              </a:ext>
            </a:extLst>
          </p:cNvPr>
          <p:cNvGrpSpPr/>
          <p:nvPr/>
        </p:nvGrpSpPr>
        <p:grpSpPr>
          <a:xfrm>
            <a:off x="6972937" y="2692064"/>
            <a:ext cx="234000" cy="234290"/>
            <a:chOff x="7104117" y="5693251"/>
            <a:chExt cx="461133" cy="456565"/>
          </a:xfrm>
        </p:grpSpPr>
        <p:sp>
          <p:nvSpPr>
            <p:cNvPr id="351" name="타원 350">
              <a:extLst>
                <a:ext uri="{FF2B5EF4-FFF2-40B4-BE49-F238E27FC236}">
                  <a16:creationId xmlns:a16="http://schemas.microsoft.com/office/drawing/2014/main" id="{9C0C4A26-3CB5-9543-5DDC-1B028B7FF38E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2" name="화살표: 아래쪽 351">
              <a:extLst>
                <a:ext uri="{FF2B5EF4-FFF2-40B4-BE49-F238E27FC236}">
                  <a16:creationId xmlns:a16="http://schemas.microsoft.com/office/drawing/2014/main" id="{05199BB5-790C-A9BD-088E-FA1B95CE0797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C07833D2-B102-3BEB-E2FC-88E603E28A98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436152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D187-851B-E7B9-DA38-9ED1CF33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그림 143">
            <a:extLst>
              <a:ext uri="{FF2B5EF4-FFF2-40B4-BE49-F238E27FC236}">
                <a16:creationId xmlns:a16="http://schemas.microsoft.com/office/drawing/2014/main" id="{8893CE97-65B6-BBFD-FF5F-99BE42DF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 t="10943" b="32789"/>
          <a:stretch>
            <a:fillRect/>
          </a:stretch>
        </p:blipFill>
        <p:spPr>
          <a:xfrm>
            <a:off x="0" y="2054505"/>
            <a:ext cx="9144000" cy="2462795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7A98F2A-3769-D9AF-84AD-5D35D877F961}"/>
              </a:ext>
            </a:extLst>
          </p:cNvPr>
          <p:cNvSpPr/>
          <p:nvPr/>
        </p:nvSpPr>
        <p:spPr>
          <a:xfrm>
            <a:off x="3076047" y="2568072"/>
            <a:ext cx="4718621" cy="160488"/>
          </a:xfrm>
          <a:prstGeom prst="rightArrow">
            <a:avLst/>
          </a:prstGeom>
          <a:solidFill>
            <a:srgbClr val="23232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93E12B-2024-5D47-1167-1BE6658F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FB362E8A-8AFB-4035-A18B-619B6463BB5A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328DD6B0-0CCB-5539-D50B-08FB9634D4B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59E9A98-A80C-1821-B28B-C05612160CFE}"/>
                </a:ext>
              </a:extLst>
            </p:cNvPr>
            <p:cNvGrpSpPr/>
            <p:nvPr/>
          </p:nvGrpSpPr>
          <p:grpSpPr>
            <a:xfrm>
              <a:off x="404618" y="922962"/>
              <a:ext cx="8242730" cy="523558"/>
              <a:chOff x="404618" y="928733"/>
              <a:chExt cx="8242730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85924F8-8990-A9D4-9DB1-6986DBA60C39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50654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guides/10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실제 그래프 정의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조건 분기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(route)·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재검색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루프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(check)·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근거 생성이 노드 단위로 분리돼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단계별로 실측합니다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2B601D86-BA45-6D59-F147-DD3F42CFE1B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8838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선형 파이프라인이 못 하는 두 가지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되묻기와 자기수정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사이클이 있는 상태 그래프로 구현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0858DF6C-D865-D456-D6BF-4FC418AA8D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11CFACBA-ACF0-315B-8FA6-697B5189611D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LangGraph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상태 그래프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2)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50EE5541-D378-1441-6F89-C12A975A7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50693"/>
              </p:ext>
            </p:extLst>
          </p:nvPr>
        </p:nvGraphicFramePr>
        <p:xfrm>
          <a:off x="432001" y="4687374"/>
          <a:ext cx="8279999" cy="763341"/>
        </p:xfrm>
        <a:graphic>
          <a:graphicData uri="http://schemas.openxmlformats.org/drawingml/2006/table">
            <a:tbl>
              <a:tblPr/>
              <a:tblGrid>
                <a:gridCol w="100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94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그래프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노드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Understand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Retrieve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Rank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Answer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0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책임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주체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출력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스키마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의미벡터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하드필터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지어낼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수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없음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근거만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0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단계별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KPI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F1 ≥ 0.85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되묻기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 0.80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후보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재현율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하드제약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위반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nDCG@10 +20%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보존율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≥95%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오류율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≤1%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3" name="그룹 62">
            <a:extLst>
              <a:ext uri="{FF2B5EF4-FFF2-40B4-BE49-F238E27FC236}">
                <a16:creationId xmlns:a16="http://schemas.microsoft.com/office/drawing/2014/main" id="{1E0A7A46-B51C-049A-2903-A9A7AFFAF40F}"/>
              </a:ext>
            </a:extLst>
          </p:cNvPr>
          <p:cNvGrpSpPr/>
          <p:nvPr/>
        </p:nvGrpSpPr>
        <p:grpSpPr>
          <a:xfrm>
            <a:off x="1588972" y="5616985"/>
            <a:ext cx="5966057" cy="413756"/>
            <a:chOff x="-184525" y="5777435"/>
            <a:chExt cx="5966057" cy="41375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7A8805-89C1-C4B5-99C6-1CCAF3C6300F}"/>
                </a:ext>
              </a:extLst>
            </p:cNvPr>
            <p:cNvSpPr txBox="1"/>
            <p:nvPr/>
          </p:nvSpPr>
          <p:spPr>
            <a:xfrm>
              <a:off x="-184525" y="5777435"/>
              <a:ext cx="5966057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노드 단위 로깅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재시도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부분실패 격리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en-US" altLang="ko-KR" sz="14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LangGraph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→ "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어느 단계에서 몇 점인지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"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실측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E2677D0-963A-0C47-ACEB-F6EF39BEDA49}"/>
                </a:ext>
              </a:extLst>
            </p:cNvPr>
            <p:cNvSpPr txBox="1"/>
            <p:nvPr/>
          </p:nvSpPr>
          <p:spPr>
            <a:xfrm>
              <a:off x="882113" y="6037303"/>
              <a:ext cx="3832781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단순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API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통합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반박의 구조적 근거 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 LTR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도입 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rank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노드만 교체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그래프 불변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2AC1EB9-B8D4-3B41-F58F-80A6F0C6FEB6}"/>
              </a:ext>
            </a:extLst>
          </p:cNvPr>
          <p:cNvCxnSpPr>
            <a:cxnSpLocks/>
          </p:cNvCxnSpPr>
          <p:nvPr/>
        </p:nvCxnSpPr>
        <p:spPr>
          <a:xfrm>
            <a:off x="432001" y="2629559"/>
            <a:ext cx="243459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E0E6EB9-E22A-9811-3892-DF3C604C6F77}"/>
              </a:ext>
            </a:extLst>
          </p:cNvPr>
          <p:cNvSpPr/>
          <p:nvPr/>
        </p:nvSpPr>
        <p:spPr>
          <a:xfrm>
            <a:off x="432001" y="3174870"/>
            <a:ext cx="2434590" cy="1073727"/>
          </a:xfrm>
          <a:prstGeom prst="roundRect">
            <a:avLst>
              <a:gd name="adj" fmla="val 4792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사각형: 둥근 위쪽 모서리 49">
            <a:extLst>
              <a:ext uri="{FF2B5EF4-FFF2-40B4-BE49-F238E27FC236}">
                <a16:creationId xmlns:a16="http://schemas.microsoft.com/office/drawing/2014/main" id="{178AD4E6-2570-BEE9-4C5D-ABB7DA0A5115}"/>
              </a:ext>
            </a:extLst>
          </p:cNvPr>
          <p:cNvSpPr/>
          <p:nvPr/>
        </p:nvSpPr>
        <p:spPr>
          <a:xfrm>
            <a:off x="432001" y="3174871"/>
            <a:ext cx="2433783" cy="186512"/>
          </a:xfrm>
          <a:prstGeom prst="round2SameRect">
            <a:avLst/>
          </a:prstGeom>
          <a:gradFill>
            <a:gsLst>
              <a:gs pos="0">
                <a:schemeClr val="bg1">
                  <a:alpha val="17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BB2867-C0FA-66A3-1D88-B7CE8C588F81}"/>
              </a:ext>
            </a:extLst>
          </p:cNvPr>
          <p:cNvSpPr txBox="1"/>
          <p:nvPr/>
        </p:nvSpPr>
        <p:spPr>
          <a:xfrm>
            <a:off x="594670" y="3492502"/>
            <a:ext cx="1207703" cy="5693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{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행사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인원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1인예산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≤8,000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총예산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≤160만,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수령일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금요일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배송지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판교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포장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 · 세금계산서: 필요,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74AAD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missing: [보관조건] }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593D9AF-4591-D76B-173F-04C83257811D}"/>
              </a:ext>
            </a:extLst>
          </p:cNvPr>
          <p:cNvGrpSpPr/>
          <p:nvPr/>
        </p:nvGrpSpPr>
        <p:grpSpPr>
          <a:xfrm>
            <a:off x="543814" y="3243956"/>
            <a:ext cx="247264" cy="48342"/>
            <a:chOff x="4812084" y="2360184"/>
            <a:chExt cx="247264" cy="48342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95344F1-49F0-C2EB-E2BD-ACD10490C29A}"/>
                </a:ext>
              </a:extLst>
            </p:cNvPr>
            <p:cNvSpPr/>
            <p:nvPr/>
          </p:nvSpPr>
          <p:spPr>
            <a:xfrm>
              <a:off x="4812084" y="2360184"/>
              <a:ext cx="46800" cy="48342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B4BC5C9B-C96B-9D79-8E30-13D57B117487}"/>
                </a:ext>
              </a:extLst>
            </p:cNvPr>
            <p:cNvSpPr/>
            <p:nvPr/>
          </p:nvSpPr>
          <p:spPr>
            <a:xfrm>
              <a:off x="4912316" y="2360184"/>
              <a:ext cx="46800" cy="48342"/>
            </a:xfrm>
            <a:prstGeom prst="ellipse">
              <a:avLst/>
            </a:prstGeom>
            <a:solidFill>
              <a:srgbClr val="74AA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1EAC950-06D1-9AA6-0F80-1C7B0126DF97}"/>
                </a:ext>
              </a:extLst>
            </p:cNvPr>
            <p:cNvSpPr/>
            <p:nvPr/>
          </p:nvSpPr>
          <p:spPr>
            <a:xfrm>
              <a:off x="5012548" y="2360184"/>
              <a:ext cx="46800" cy="483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8620454-8D48-DF5C-5846-03C67D132778}"/>
              </a:ext>
            </a:extLst>
          </p:cNvPr>
          <p:cNvSpPr txBox="1"/>
          <p:nvPr/>
        </p:nvSpPr>
        <p:spPr>
          <a:xfrm>
            <a:off x="469072" y="2323208"/>
            <a:ext cx="1901161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 → 조건 카드 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슬롯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71FF8E-8A96-7A2D-EE4F-29D8FBA57F47}"/>
              </a:ext>
            </a:extLst>
          </p:cNvPr>
          <p:cNvSpPr txBox="1"/>
          <p:nvPr/>
        </p:nvSpPr>
        <p:spPr>
          <a:xfrm>
            <a:off x="469072" y="2716959"/>
            <a:ext cx="1479892" cy="3488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다음주 금요일 임직원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200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 간식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1인 8천원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개별포장 · 판교 수령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endParaRPr kumimoji="0" lang="ko-KR" altLang="en-US" sz="105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7DD4CB0-4C89-3AED-4189-887FC5337CF0}"/>
              </a:ext>
            </a:extLst>
          </p:cNvPr>
          <p:cNvSpPr/>
          <p:nvPr/>
        </p:nvSpPr>
        <p:spPr>
          <a:xfrm>
            <a:off x="3285506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D972CA81-5679-4BAB-EA75-0E4F161A0669}"/>
              </a:ext>
            </a:extLst>
          </p:cNvPr>
          <p:cNvSpPr/>
          <p:nvPr/>
        </p:nvSpPr>
        <p:spPr>
          <a:xfrm>
            <a:off x="5018695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0ABC3B3-84DA-EB66-B06F-E2B8E4BD5A43}"/>
              </a:ext>
            </a:extLst>
          </p:cNvPr>
          <p:cNvSpPr/>
          <p:nvPr/>
        </p:nvSpPr>
        <p:spPr>
          <a:xfrm>
            <a:off x="6751883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89DC8DE7-5708-5B15-B9A7-8295BD4A44A3}"/>
              </a:ext>
            </a:extLst>
          </p:cNvPr>
          <p:cNvSpPr/>
          <p:nvPr/>
        </p:nvSpPr>
        <p:spPr>
          <a:xfrm>
            <a:off x="7794671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9A23E33E-3623-7C78-28F2-2BFF9021501D}"/>
              </a:ext>
            </a:extLst>
          </p:cNvPr>
          <p:cNvSpPr/>
          <p:nvPr/>
        </p:nvSpPr>
        <p:spPr>
          <a:xfrm>
            <a:off x="4328294" y="2349029"/>
            <a:ext cx="564943" cy="565608"/>
          </a:xfrm>
          <a:prstGeom prst="ellipse">
            <a:avLst/>
          </a:prstGeom>
          <a:solidFill>
            <a:srgbClr val="EC6570"/>
          </a:solidFill>
          <a:ln w="6350">
            <a:noFill/>
          </a:ln>
          <a:effectLst>
            <a:innerShdw blurRad="63500" dist="50800" dir="13500000">
              <a:schemeClr val="bg1">
                <a:alpha val="1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A61BC79-55E1-3D91-525D-68926287E213}"/>
              </a:ext>
            </a:extLst>
          </p:cNvPr>
          <p:cNvGrpSpPr/>
          <p:nvPr/>
        </p:nvGrpSpPr>
        <p:grpSpPr>
          <a:xfrm>
            <a:off x="3762550" y="3461835"/>
            <a:ext cx="1696428" cy="786762"/>
            <a:chOff x="3675190" y="3461835"/>
            <a:chExt cx="1696428" cy="786762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13EB9F1B-E76E-A5CB-97CB-581874783458}"/>
                </a:ext>
              </a:extLst>
            </p:cNvPr>
            <p:cNvSpPr/>
            <p:nvPr/>
          </p:nvSpPr>
          <p:spPr>
            <a:xfrm>
              <a:off x="3675190" y="3461835"/>
              <a:ext cx="1696428" cy="786762"/>
            </a:xfrm>
            <a:prstGeom prst="roundRect">
              <a:avLst>
                <a:gd name="adj" fmla="val 6886"/>
              </a:avLst>
            </a:prstGeom>
            <a:solidFill>
              <a:srgbClr val="232323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AB4E75-C0C6-F89B-CFAE-14FF6E41721A}"/>
                </a:ext>
              </a:extLst>
            </p:cNvPr>
            <p:cNvGrpSpPr/>
            <p:nvPr/>
          </p:nvGrpSpPr>
          <p:grpSpPr>
            <a:xfrm>
              <a:off x="3806862" y="3595555"/>
              <a:ext cx="1433085" cy="457767"/>
              <a:chOff x="9809638" y="22727"/>
              <a:chExt cx="1433085" cy="457767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3966D63-AC21-DAB6-89EA-9C67733B43AB}"/>
                  </a:ext>
                </a:extLst>
              </p:cNvPr>
              <p:cNvSpPr txBox="1"/>
              <p:nvPr/>
            </p:nvSpPr>
            <p:spPr>
              <a:xfrm>
                <a:off x="10041913" y="22727"/>
                <a:ext cx="96853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Ask -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능동 되묻기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E53BB3B-E979-A58B-A007-8FF268F50429}"/>
                  </a:ext>
                </a:extLst>
              </p:cNvPr>
              <p:cNvSpPr txBox="1"/>
              <p:nvPr/>
            </p:nvSpPr>
            <p:spPr>
              <a:xfrm>
                <a:off x="9809638" y="239402"/>
                <a:ext cx="1433085" cy="2410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상온 보관인가요, 냉장 보관이 가능한가요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?“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사용자 답 재진입</a:t>
                </a:r>
              </a:p>
            </p:txBody>
          </p:sp>
        </p:grp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B3EA8A60-8368-1437-B9D8-189212CC2F4D}"/>
              </a:ext>
            </a:extLst>
          </p:cNvPr>
          <p:cNvCxnSpPr>
            <a:cxnSpLocks/>
          </p:cNvCxnSpPr>
          <p:nvPr/>
        </p:nvCxnSpPr>
        <p:spPr>
          <a:xfrm>
            <a:off x="3076048" y="2054702"/>
            <a:ext cx="0" cy="24624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448F886E-F0CE-18F9-A7E3-1FE71F2D0FF9}"/>
              </a:ext>
            </a:extLst>
          </p:cNvPr>
          <p:cNvGrpSpPr/>
          <p:nvPr/>
        </p:nvGrpSpPr>
        <p:grpSpPr>
          <a:xfrm>
            <a:off x="3418761" y="2425137"/>
            <a:ext cx="650819" cy="446358"/>
            <a:chOff x="4350395" y="3774886"/>
            <a:chExt cx="650819" cy="446358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4CE5E02-D8D9-7AB6-FB1D-3F4FBD6F0C3B}"/>
                </a:ext>
              </a:extLst>
            </p:cNvPr>
            <p:cNvSpPr txBox="1"/>
            <p:nvPr/>
          </p:nvSpPr>
          <p:spPr>
            <a:xfrm>
              <a:off x="4350395" y="3774886"/>
              <a:ext cx="65081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Understand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C00647B-613B-F836-6786-739C31BFDC9E}"/>
                </a:ext>
              </a:extLst>
            </p:cNvPr>
            <p:cNvSpPr txBox="1"/>
            <p:nvPr/>
          </p:nvSpPr>
          <p:spPr>
            <a:xfrm>
              <a:off x="4417400" y="3949375"/>
              <a:ext cx="516808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추출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(LLM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구조화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8C12C626-78FA-3CBD-A883-F8D4C7641E98}"/>
              </a:ext>
            </a:extLst>
          </p:cNvPr>
          <p:cNvGrpSpPr/>
          <p:nvPr/>
        </p:nvGrpSpPr>
        <p:grpSpPr>
          <a:xfrm>
            <a:off x="5162048" y="2425137"/>
            <a:ext cx="630622" cy="446358"/>
            <a:chOff x="4360493" y="3774886"/>
            <a:chExt cx="630622" cy="446358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840D74E-3D5E-4C9C-0ABF-BA30DE7D1C14}"/>
                </a:ext>
              </a:extLst>
            </p:cNvPr>
            <p:cNvSpPr txBox="1"/>
            <p:nvPr/>
          </p:nvSpPr>
          <p:spPr>
            <a:xfrm>
              <a:off x="4448338" y="3774886"/>
              <a:ext cx="45493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Retrieve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353E0396-B3BA-09D3-3363-73F24D5B3351}"/>
                </a:ext>
              </a:extLst>
            </p:cNvPr>
            <p:cNvSpPr txBox="1"/>
            <p:nvPr/>
          </p:nvSpPr>
          <p:spPr>
            <a:xfrm>
              <a:off x="4360493" y="3949375"/>
              <a:ext cx="630622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하이브리드 검색 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(RAG)</a:t>
              </a: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FE682E85-C9A2-6EF9-4F9E-11BF4CAE175D}"/>
              </a:ext>
            </a:extLst>
          </p:cNvPr>
          <p:cNvGrpSpPr/>
          <p:nvPr/>
        </p:nvGrpSpPr>
        <p:grpSpPr>
          <a:xfrm>
            <a:off x="7024118" y="2425137"/>
            <a:ext cx="372858" cy="446358"/>
            <a:chOff x="4489375" y="3774886"/>
            <a:chExt cx="372858" cy="446358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92F8210-921B-DF10-B9F1-E82029AFD269}"/>
                </a:ext>
              </a:extLst>
            </p:cNvPr>
            <p:cNvSpPr txBox="1"/>
            <p:nvPr/>
          </p:nvSpPr>
          <p:spPr>
            <a:xfrm>
              <a:off x="4539228" y="3774886"/>
              <a:ext cx="27315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Rank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DE3F97A-1CED-74A0-C05B-8E1D07B28925}"/>
                </a:ext>
              </a:extLst>
            </p:cNvPr>
            <p:cNvSpPr txBox="1"/>
            <p:nvPr/>
          </p:nvSpPr>
          <p:spPr>
            <a:xfrm>
              <a:off x="4489375" y="3949375"/>
              <a:ext cx="372858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코드 랭킹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LLM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아님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5708E04-7F4F-21BA-E29F-C88EBD45C03D}"/>
              </a:ext>
            </a:extLst>
          </p:cNvPr>
          <p:cNvGrpSpPr/>
          <p:nvPr/>
        </p:nvGrpSpPr>
        <p:grpSpPr>
          <a:xfrm>
            <a:off x="8042059" y="2425137"/>
            <a:ext cx="422553" cy="446358"/>
            <a:chOff x="4464528" y="3774886"/>
            <a:chExt cx="422553" cy="44635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802C57DD-96D5-DA39-95C2-050AC570B75D}"/>
                </a:ext>
              </a:extLst>
            </p:cNvPr>
            <p:cNvSpPr txBox="1"/>
            <p:nvPr/>
          </p:nvSpPr>
          <p:spPr>
            <a:xfrm>
              <a:off x="4464528" y="3774886"/>
              <a:ext cx="42255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Answer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0F5F3A5-42BD-1C98-A080-45765BA06612}"/>
                </a:ext>
              </a:extLst>
            </p:cNvPr>
            <p:cNvSpPr txBox="1"/>
            <p:nvPr/>
          </p:nvSpPr>
          <p:spPr>
            <a:xfrm>
              <a:off x="4483443" y="3949375"/>
              <a:ext cx="384721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생성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citation</a:t>
              </a:r>
            </a:p>
          </p:txBody>
        </p:sp>
      </p:grpSp>
      <p:sp>
        <p:nvSpPr>
          <p:cNvPr id="142" name="타원 141">
            <a:extLst>
              <a:ext uri="{FF2B5EF4-FFF2-40B4-BE49-F238E27FC236}">
                <a16:creationId xmlns:a16="http://schemas.microsoft.com/office/drawing/2014/main" id="{FEFDE8EF-A614-FF41-2AF9-435526D568EF}"/>
              </a:ext>
            </a:extLst>
          </p:cNvPr>
          <p:cNvSpPr/>
          <p:nvPr/>
        </p:nvSpPr>
        <p:spPr>
          <a:xfrm>
            <a:off x="6061481" y="2349029"/>
            <a:ext cx="564943" cy="565608"/>
          </a:xfrm>
          <a:prstGeom prst="ellipse">
            <a:avLst/>
          </a:prstGeom>
          <a:solidFill>
            <a:srgbClr val="EC6570"/>
          </a:solidFill>
          <a:ln w="6350">
            <a:noFill/>
          </a:ln>
          <a:effectLst>
            <a:innerShdw blurRad="63500" dist="50800" dir="13500000">
              <a:schemeClr val="bg1">
                <a:alpha val="1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F56C8F4-163C-394C-6C3F-F37E42721FE9}"/>
              </a:ext>
            </a:extLst>
          </p:cNvPr>
          <p:cNvSpPr txBox="1"/>
          <p:nvPr/>
        </p:nvSpPr>
        <p:spPr>
          <a:xfrm>
            <a:off x="6167621" y="2554889"/>
            <a:ext cx="35266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Check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21327E4-5FF6-A8AE-5093-7B3A9B8A69B1}"/>
              </a:ext>
            </a:extLst>
          </p:cNvPr>
          <p:cNvSpPr txBox="1"/>
          <p:nvPr/>
        </p:nvSpPr>
        <p:spPr>
          <a:xfrm>
            <a:off x="4449663" y="2554889"/>
            <a:ext cx="32220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Route</a:t>
            </a:r>
            <a:endParaRPr kumimoji="0" lang="ko-KR" altLang="en-US" sz="1000" b="0" i="0" u="none" strike="noStrike" kern="1200" cap="none" spc="-3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77EFFE-F9E2-997C-CA6A-87B074FEA476}"/>
              </a:ext>
            </a:extLst>
          </p:cNvPr>
          <p:cNvSpPr txBox="1"/>
          <p:nvPr/>
        </p:nvSpPr>
        <p:spPr>
          <a:xfrm>
            <a:off x="4692860" y="3075125"/>
            <a:ext cx="319318" cy="1231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Missing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A619CB3-833C-C294-F02B-EEE810CFC6D2}"/>
              </a:ext>
            </a:extLst>
          </p:cNvPr>
          <p:cNvSpPr txBox="1"/>
          <p:nvPr/>
        </p:nvSpPr>
        <p:spPr>
          <a:xfrm>
            <a:off x="3285506" y="3075125"/>
            <a:ext cx="849592" cy="2718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답변 후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Understand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재진입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68EA423-76E8-0F19-209F-171899E0C9DB}"/>
              </a:ext>
            </a:extLst>
          </p:cNvPr>
          <p:cNvCxnSpPr>
            <a:cxnSpLocks/>
            <a:stCxn id="141" idx="4"/>
          </p:cNvCxnSpPr>
          <p:nvPr/>
        </p:nvCxnSpPr>
        <p:spPr>
          <a:xfrm>
            <a:off x="4610766" y="2914637"/>
            <a:ext cx="0" cy="481706"/>
          </a:xfrm>
          <a:prstGeom prst="line">
            <a:avLst/>
          </a:prstGeom>
          <a:ln>
            <a:solidFill>
              <a:srgbClr val="EC657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자유형: 도형 257">
            <a:extLst>
              <a:ext uri="{FF2B5EF4-FFF2-40B4-BE49-F238E27FC236}">
                <a16:creationId xmlns:a16="http://schemas.microsoft.com/office/drawing/2014/main" id="{3F9E8631-5C5B-75CD-4B07-FA3F0D7722C2}"/>
              </a:ext>
            </a:extLst>
          </p:cNvPr>
          <p:cNvSpPr/>
          <p:nvPr/>
        </p:nvSpPr>
        <p:spPr>
          <a:xfrm>
            <a:off x="3366160" y="3455102"/>
            <a:ext cx="418190" cy="396974"/>
          </a:xfrm>
          <a:custGeom>
            <a:avLst/>
            <a:gdLst>
              <a:gd name="csX0" fmla="*/ 353086 w 353086"/>
              <a:gd name="csY0" fmla="*/ 398353 h 398353"/>
              <a:gd name="csX1" fmla="*/ 0 w 353086"/>
              <a:gd name="csY1" fmla="*/ 398353 h 398353"/>
              <a:gd name="csX2" fmla="*/ 0 w 353086"/>
              <a:gd name="csY2" fmla="*/ 0 h 398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3086" h="398353">
                <a:moveTo>
                  <a:pt x="353086" y="398353"/>
                </a:moveTo>
                <a:lnTo>
                  <a:pt x="0" y="398353"/>
                </a:lnTo>
                <a:lnTo>
                  <a:pt x="0" y="0"/>
                </a:lnTo>
              </a:path>
            </a:pathLst>
          </a:custGeom>
          <a:ln>
            <a:solidFill>
              <a:srgbClr val="23232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F605423-C6A1-1F6C-114F-9DD39E40D1E1}"/>
              </a:ext>
            </a:extLst>
          </p:cNvPr>
          <p:cNvSpPr txBox="1"/>
          <p:nvPr/>
        </p:nvSpPr>
        <p:spPr>
          <a:xfrm>
            <a:off x="5973979" y="3461835"/>
            <a:ext cx="739946" cy="2718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후보 부족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srgbClr val="EC6570">
                  <a:alpha val="80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조건 완화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재검색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srgbClr val="EC6570">
                  <a:alpha val="80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C27CE18-A4C0-0FE2-F278-FA27A6036F11}"/>
              </a:ext>
            </a:extLst>
          </p:cNvPr>
          <p:cNvCxnSpPr>
            <a:cxnSpLocks/>
          </p:cNvCxnSpPr>
          <p:nvPr/>
        </p:nvCxnSpPr>
        <p:spPr>
          <a:xfrm>
            <a:off x="6343952" y="2914637"/>
            <a:ext cx="0" cy="481706"/>
          </a:xfrm>
          <a:prstGeom prst="line">
            <a:avLst/>
          </a:prstGeom>
          <a:ln>
            <a:solidFill>
              <a:srgbClr val="EC657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8ECF902F-A2C3-4A34-A1BF-16A9D1CBCE0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714235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E6F7-EB15-2BD0-B1E8-60349C9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5B7D4C-0947-E03C-C20C-7D82645C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5594AFC1-915A-B49A-2887-BBE0921E9BEB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72E21A68-54D8-2366-930A-FAF9CA6643E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2748BE76-21DA-93AE-2613-8D34458F2A84}"/>
                </a:ext>
              </a:extLst>
            </p:cNvPr>
            <p:cNvGrpSpPr/>
            <p:nvPr/>
          </p:nvGrpSpPr>
          <p:grpSpPr>
            <a:xfrm>
              <a:off x="404618" y="922962"/>
              <a:ext cx="8708883" cy="523558"/>
              <a:chOff x="404618" y="928733"/>
              <a:chExt cx="8708883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1C01F37-E02C-D316-8E38-91FACEBC46BC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16322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 단 비건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부정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암묵 제약을 놓치지 않고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같은 가게를 하나로 묶고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광고를 얹어도 진짜 맛집이 위에 남게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B104A3A9-C9DC-FC48-2838-D2AE5725EA0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3500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복합 의도를 하드제약까지 충족시키는 랭킹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단순 검색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연동으로 나오지 않는 정확도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F96AF01E-5D82-0508-5372-68AF92688E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D9583239-AF85-4FCB-12CA-C3D99086B07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핵심기술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2)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3594D76-F9F2-7D5D-660F-B86697CF2C7F}"/>
              </a:ext>
            </a:extLst>
          </p:cNvPr>
          <p:cNvSpPr txBox="1"/>
          <p:nvPr/>
        </p:nvSpPr>
        <p:spPr>
          <a:xfrm>
            <a:off x="1461533" y="5924994"/>
            <a:ext cx="62209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픽미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공동연구 가게 등급 산식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(S~D)·VOC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항목별 감성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×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디저트 인기도 점수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v1  |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추천은 특허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10-2025-0060354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출원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4C03937-86B9-BFA6-F0E0-7B24320AC5DD}"/>
              </a:ext>
            </a:extLst>
          </p:cNvPr>
          <p:cNvSpPr/>
          <p:nvPr/>
        </p:nvSpPr>
        <p:spPr>
          <a:xfrm>
            <a:off x="431999" y="2292401"/>
            <a:ext cx="4057460" cy="1607531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2F6EE6D8-F63D-361A-3C5E-55E9F5169824}"/>
              </a:ext>
            </a:extLst>
          </p:cNvPr>
          <p:cNvSpPr/>
          <p:nvPr/>
        </p:nvSpPr>
        <p:spPr>
          <a:xfrm>
            <a:off x="4654539" y="2307682"/>
            <a:ext cx="4057460" cy="1591615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FB015683-8EAB-124B-F8BE-03DEA6262F2A}"/>
              </a:ext>
            </a:extLst>
          </p:cNvPr>
          <p:cNvSpPr/>
          <p:nvPr/>
        </p:nvSpPr>
        <p:spPr>
          <a:xfrm>
            <a:off x="431999" y="4074778"/>
            <a:ext cx="4057460" cy="1591615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DB15E684-EFC2-DD9C-A1B3-73007D7BED3E}"/>
              </a:ext>
            </a:extLst>
          </p:cNvPr>
          <p:cNvSpPr/>
          <p:nvPr/>
        </p:nvSpPr>
        <p:spPr>
          <a:xfrm>
            <a:off x="4654539" y="4074778"/>
            <a:ext cx="4057460" cy="1591615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221413B1-A6C0-5F21-11C8-00E8A3DE19B3}"/>
              </a:ext>
            </a:extLst>
          </p:cNvPr>
          <p:cNvGrpSpPr/>
          <p:nvPr/>
        </p:nvGrpSpPr>
        <p:grpSpPr>
          <a:xfrm>
            <a:off x="4832524" y="2461025"/>
            <a:ext cx="3084790" cy="215444"/>
            <a:chOff x="4805454" y="2469255"/>
            <a:chExt cx="3084790" cy="215444"/>
          </a:xfrm>
        </p:grpSpPr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C58313B-FD30-0B24-CB0F-2F330D723589}"/>
                </a:ext>
              </a:extLst>
            </p:cNvPr>
            <p:cNvSpPr txBox="1"/>
            <p:nvPr/>
          </p:nvSpPr>
          <p:spPr>
            <a:xfrm>
              <a:off x="4805454" y="2469255"/>
              <a:ext cx="174470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엔티티 </a:t>
              </a:r>
              <a:r>
                <a:rPr kumimoji="0" lang="ko-KR" altLang="en-US" sz="14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레졸루션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신선도</a:t>
              </a:r>
              <a:endPara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C5EBB29C-351D-3D25-B5D3-3997B7E29665}"/>
                </a:ext>
              </a:extLst>
            </p:cNvPr>
            <p:cNvSpPr txBox="1"/>
            <p:nvPr/>
          </p:nvSpPr>
          <p:spPr>
            <a:xfrm>
              <a:off x="6602712" y="2515807"/>
              <a:ext cx="128753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algn="r">
                <a:spcBef>
                  <a:spcPts val="200"/>
                </a:spcBef>
                <a:defRPr sz="1000" spc="-30">
                  <a:solidFill>
                    <a:srgbClr val="EC657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[병목② 전국 카탈로그 신뢰성]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4C187FC4-B9DB-50B7-DB87-FD4B91E8B420}"/>
              </a:ext>
            </a:extLst>
          </p:cNvPr>
          <p:cNvSpPr txBox="1"/>
          <p:nvPr/>
        </p:nvSpPr>
        <p:spPr>
          <a:xfrm>
            <a:off x="4832524" y="2803066"/>
            <a:ext cx="3608039" cy="942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이름만 보면 반드시 틀림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동명 가게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오병합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↔ 표기 차이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("○○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제과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"↔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"○○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베이커리 본점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병합 누락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지도 좌표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다축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대조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같은 자리면 병합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이름 같아도 동네 다르면 분리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병합 정확도 ≥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0.95)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공공데이터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인허가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폐업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주기 대조 → 폐업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오추천율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≤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1% - 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신선도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카탈로그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핵심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KPI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관리</a:t>
            </a:r>
          </a:p>
        </p:txBody>
      </p: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64C755CD-69FE-E2FF-2E14-702AD9FDBA0A}"/>
              </a:ext>
            </a:extLst>
          </p:cNvPr>
          <p:cNvCxnSpPr>
            <a:cxnSpLocks/>
          </p:cNvCxnSpPr>
          <p:nvPr/>
        </p:nvCxnSpPr>
        <p:spPr>
          <a:xfrm>
            <a:off x="4832524" y="2717338"/>
            <a:ext cx="3685586" cy="0"/>
          </a:xfrm>
          <a:prstGeom prst="line">
            <a:avLst/>
          </a:prstGeom>
          <a:ln>
            <a:solidFill>
              <a:srgbClr val="2323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35091EC3-D7CF-18FC-0B29-1E9A818340CB}"/>
              </a:ext>
            </a:extLst>
          </p:cNvPr>
          <p:cNvGrpSpPr/>
          <p:nvPr/>
        </p:nvGrpSpPr>
        <p:grpSpPr>
          <a:xfrm>
            <a:off x="609984" y="4228121"/>
            <a:ext cx="3685586" cy="1284928"/>
            <a:chOff x="609984" y="4236351"/>
            <a:chExt cx="3685586" cy="1284928"/>
          </a:xfrm>
        </p:grpSpPr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5C488498-D00E-22BA-A41E-8FD5778D9012}"/>
                </a:ext>
              </a:extLst>
            </p:cNvPr>
            <p:cNvGrpSpPr/>
            <p:nvPr/>
          </p:nvGrpSpPr>
          <p:grpSpPr>
            <a:xfrm>
              <a:off x="609984" y="4236351"/>
              <a:ext cx="3402826" cy="215444"/>
              <a:chOff x="200758" y="4236351"/>
              <a:chExt cx="3402826" cy="215444"/>
            </a:xfrm>
          </p:grpSpPr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AAC2D7B2-8A80-7809-5DA2-CB542628C0FE}"/>
                  </a:ext>
                </a:extLst>
              </p:cNvPr>
              <p:cNvSpPr txBox="1"/>
              <p:nvPr/>
            </p:nvSpPr>
            <p:spPr>
              <a:xfrm>
                <a:off x="200758" y="4236351"/>
                <a:ext cx="21268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다신호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랭킹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+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상업 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부스트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분리</a:t>
                </a:r>
                <a:endPara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98007A2-B110-1B0D-8453-86B647957D6D}"/>
                  </a:ext>
                </a:extLst>
              </p:cNvPr>
              <p:cNvSpPr txBox="1"/>
              <p:nvPr/>
            </p:nvSpPr>
            <p:spPr>
              <a:xfrm>
                <a:off x="2380172" y="4277796"/>
                <a:ext cx="122341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en-US"/>
                </a:defPPr>
                <a:lvl1pPr algn="r">
                  <a:spcBef>
                    <a:spcPts val="200"/>
                  </a:spcBef>
                  <a:defRPr sz="1000" spc="-30">
                    <a:solidFill>
                      <a:srgbClr val="EC657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/>
                  <a:t>[병목③·⑥ 추천·전환율 개선]</a:t>
                </a:r>
              </a:p>
            </p:txBody>
          </p:sp>
        </p:grp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1FE85EF1-A9BF-7D4C-10A5-B4B5DDF4D4FC}"/>
                </a:ext>
              </a:extLst>
            </p:cNvPr>
            <p:cNvSpPr txBox="1"/>
            <p:nvPr/>
          </p:nvSpPr>
          <p:spPr>
            <a:xfrm>
              <a:off x="609984" y="4578392"/>
              <a:ext cx="3390672" cy="9428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Score = w₁·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적합도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w₂·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품질평판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w₃·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지역배송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w₄·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1)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(+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cap)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가중치는 사용자 유형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용도별 프로파일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(B2B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대량 → 지역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생산능력↑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선물 →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품질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평판↑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→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클릭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전환 피드백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LTR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학습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광고는 별도 슬롯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라벨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감사로그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후에도 적합도 상위 결과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보존율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95%</a:t>
              </a:r>
            </a:p>
          </p:txBody>
        </p:sp>
        <p:cxnSp>
          <p:nvCxnSpPr>
            <p:cNvPr id="276" name="직선 연결선 275">
              <a:extLst>
                <a:ext uri="{FF2B5EF4-FFF2-40B4-BE49-F238E27FC236}">
                  <a16:creationId xmlns:a16="http://schemas.microsoft.com/office/drawing/2014/main" id="{9FBFD046-49EC-C63E-59F5-2EF65B657970}"/>
                </a:ext>
              </a:extLst>
            </p:cNvPr>
            <p:cNvCxnSpPr>
              <a:cxnSpLocks/>
            </p:cNvCxnSpPr>
            <p:nvPr/>
          </p:nvCxnSpPr>
          <p:spPr>
            <a:xfrm>
              <a:off x="609984" y="4492664"/>
              <a:ext cx="3685586" cy="0"/>
            </a:xfrm>
            <a:prstGeom prst="line">
              <a:avLst/>
            </a:prstGeom>
            <a:ln>
              <a:solidFill>
                <a:srgbClr val="232323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C263C1B2-DAAA-5D11-EA99-E144E67472D0}"/>
              </a:ext>
            </a:extLst>
          </p:cNvPr>
          <p:cNvGrpSpPr/>
          <p:nvPr/>
        </p:nvGrpSpPr>
        <p:grpSpPr>
          <a:xfrm>
            <a:off x="4832524" y="4228122"/>
            <a:ext cx="3685586" cy="1284927"/>
            <a:chOff x="4832524" y="4236351"/>
            <a:chExt cx="3685586" cy="1284927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200E2DFD-E384-435E-EC8C-8C8263980732}"/>
                </a:ext>
              </a:extLst>
            </p:cNvPr>
            <p:cNvSpPr txBox="1"/>
            <p:nvPr/>
          </p:nvSpPr>
          <p:spPr>
            <a:xfrm>
              <a:off x="4832524" y="4236351"/>
              <a:ext cx="2402243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근거 생성 환각 통제 </a:t>
              </a:r>
              <a:r>
                <a:rPr lang="ko-KR" altLang="en-US" sz="900" spc="-30">
                  <a:solidFill>
                    <a:srgbClr val="EC657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[병목④ 제안자료 신뢰성]</a:t>
              </a:r>
              <a:endParaRPr lang="en-US" altLang="ko-KR" sz="900" spc="-30">
                <a:solidFill>
                  <a:srgbClr val="EC657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3E37C5D1-37C3-8F21-A506-DC354503B9E4}"/>
                </a:ext>
              </a:extLst>
            </p:cNvPr>
            <p:cNvSpPr txBox="1"/>
            <p:nvPr/>
          </p:nvSpPr>
          <p:spPr>
            <a:xfrm>
              <a:off x="4832524" y="4578392"/>
              <a:ext cx="3639458" cy="9428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영업상태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메뉴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가격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DB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에서 그대로 읽고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LLM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은 자연스러운 문장으로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옮기는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역할만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지어낼 여지 제거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RAG 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검색된 근거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메뉴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영업상태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 주입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밖 사실 금지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문장마다 출처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“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프롬프트 강제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사실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오류율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1% 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출처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추적률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100% 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심사에서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어디냐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 즉답하는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검증 장치</a:t>
              </a:r>
            </a:p>
          </p:txBody>
        </p: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FC8D7FE0-EEB2-6E6C-6927-53A7846A59BB}"/>
                </a:ext>
              </a:extLst>
            </p:cNvPr>
            <p:cNvCxnSpPr>
              <a:cxnSpLocks/>
            </p:cNvCxnSpPr>
            <p:nvPr/>
          </p:nvCxnSpPr>
          <p:spPr>
            <a:xfrm>
              <a:off x="4832524" y="4492664"/>
              <a:ext cx="3685586" cy="0"/>
            </a:xfrm>
            <a:prstGeom prst="line">
              <a:avLst/>
            </a:prstGeom>
            <a:ln>
              <a:solidFill>
                <a:srgbClr val="232323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6" name="TextBox 255">
            <a:extLst>
              <a:ext uri="{FF2B5EF4-FFF2-40B4-BE49-F238E27FC236}">
                <a16:creationId xmlns:a16="http://schemas.microsoft.com/office/drawing/2014/main" id="{75A3B296-9DFA-3446-0353-500A0F2BC185}"/>
              </a:ext>
            </a:extLst>
          </p:cNvPr>
          <p:cNvSpPr txBox="1"/>
          <p:nvPr/>
        </p:nvSpPr>
        <p:spPr>
          <a:xfrm>
            <a:off x="609984" y="2802004"/>
            <a:ext cx="3628557" cy="942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 단 비건 케이크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만원 이하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→ 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맛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저당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〉〈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계란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X)〉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케이크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〉〈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가격≤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〉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숨은 제약까지 펼쳐 추출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스키마 검증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빠짐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모순 자동 점검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→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핵심 칸이 비면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단맛은 어느 정도가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좋으세요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?“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되묻기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LangGraph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사이클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키워드 검색은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케이크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알아듣고 부정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암묵 조건의 절반을 흘림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우리는 조건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중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8~9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개를 정확히 이해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(F1 ≥ 0.85)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EC7EB882-E81F-7F85-B024-D1F30A5646E2}"/>
              </a:ext>
            </a:extLst>
          </p:cNvPr>
          <p:cNvCxnSpPr>
            <a:cxnSpLocks/>
          </p:cNvCxnSpPr>
          <p:nvPr/>
        </p:nvCxnSpPr>
        <p:spPr>
          <a:xfrm>
            <a:off x="609984" y="2716277"/>
            <a:ext cx="3685586" cy="0"/>
          </a:xfrm>
          <a:prstGeom prst="line">
            <a:avLst/>
          </a:prstGeom>
          <a:ln>
            <a:solidFill>
              <a:srgbClr val="2323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08E403A4-EDD4-4B03-1362-4250E9274BE3}"/>
              </a:ext>
            </a:extLst>
          </p:cNvPr>
          <p:cNvSpPr txBox="1"/>
          <p:nvPr/>
        </p:nvSpPr>
        <p:spPr>
          <a:xfrm>
            <a:off x="609983" y="2459965"/>
            <a:ext cx="2982521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자연어 의도 → 조건 카드 </a:t>
            </a:r>
            <a:r>
              <a:rPr lang="ko-KR" altLang="en-US" sz="900" spc="-30">
                <a:solidFill>
                  <a:srgbClr val="EC657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[병목① 고객 상담 자동화]</a:t>
            </a:r>
            <a:endParaRPr lang="en-US" altLang="ko-KR" sz="900" spc="-30">
              <a:solidFill>
                <a:srgbClr val="EC657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CE3B9F96-6B59-5392-7AC7-FB87138D2C76}"/>
              </a:ext>
            </a:extLst>
          </p:cNvPr>
          <p:cNvGrpSpPr/>
          <p:nvPr/>
        </p:nvGrpSpPr>
        <p:grpSpPr>
          <a:xfrm>
            <a:off x="4287258" y="2247846"/>
            <a:ext cx="258535" cy="258387"/>
            <a:chOff x="8507385" y="2859853"/>
            <a:chExt cx="230400" cy="244435"/>
          </a:xfrm>
        </p:grpSpPr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FE16E9BD-B215-A973-DCBE-FD56F29A9A4C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A0F290D-55D9-31A8-9E1C-156795003570}"/>
                </a:ext>
              </a:extLst>
            </p:cNvPr>
            <p:cNvSpPr txBox="1"/>
            <p:nvPr/>
          </p:nvSpPr>
          <p:spPr>
            <a:xfrm>
              <a:off x="8596441" y="2902002"/>
              <a:ext cx="52284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66C3F613-0541-6E94-CA20-B39B5110CAAC}"/>
              </a:ext>
            </a:extLst>
          </p:cNvPr>
          <p:cNvGrpSpPr/>
          <p:nvPr/>
        </p:nvGrpSpPr>
        <p:grpSpPr>
          <a:xfrm>
            <a:off x="8509798" y="2247846"/>
            <a:ext cx="258535" cy="258387"/>
            <a:chOff x="8507385" y="2859853"/>
            <a:chExt cx="230400" cy="244435"/>
          </a:xfrm>
        </p:grpSpPr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F0BD7C81-5445-FBA2-6EB4-85C981A580FF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AE726FFD-F7EB-85E7-6FA2-E546F356A495}"/>
                </a:ext>
              </a:extLst>
            </p:cNvPr>
            <p:cNvSpPr txBox="1"/>
            <p:nvPr/>
          </p:nvSpPr>
          <p:spPr>
            <a:xfrm>
              <a:off x="8587155" y="2902002"/>
              <a:ext cx="70856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AFD9AC36-D787-FEE9-2912-617F754CBE80}"/>
              </a:ext>
            </a:extLst>
          </p:cNvPr>
          <p:cNvGrpSpPr/>
          <p:nvPr/>
        </p:nvGrpSpPr>
        <p:grpSpPr>
          <a:xfrm>
            <a:off x="4287258" y="4014942"/>
            <a:ext cx="258535" cy="258387"/>
            <a:chOff x="8507385" y="2859853"/>
            <a:chExt cx="230400" cy="244435"/>
          </a:xfrm>
        </p:grpSpPr>
        <p:sp>
          <p:nvSpPr>
            <p:cNvPr id="296" name="타원 295">
              <a:extLst>
                <a:ext uri="{FF2B5EF4-FFF2-40B4-BE49-F238E27FC236}">
                  <a16:creationId xmlns:a16="http://schemas.microsoft.com/office/drawing/2014/main" id="{6AA46665-9327-3744-254F-BE092722C40F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4D5BA555-C4C3-DFAB-6179-0AAB68C94659}"/>
                </a:ext>
              </a:extLst>
            </p:cNvPr>
            <p:cNvSpPr txBox="1"/>
            <p:nvPr/>
          </p:nvSpPr>
          <p:spPr>
            <a:xfrm>
              <a:off x="8585013" y="2902002"/>
              <a:ext cx="75142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5C25FDE5-865D-43C9-E94A-E460ABBB237F}"/>
              </a:ext>
            </a:extLst>
          </p:cNvPr>
          <p:cNvGrpSpPr/>
          <p:nvPr/>
        </p:nvGrpSpPr>
        <p:grpSpPr>
          <a:xfrm>
            <a:off x="8509798" y="4014942"/>
            <a:ext cx="258535" cy="258387"/>
            <a:chOff x="8507385" y="2859853"/>
            <a:chExt cx="230400" cy="244435"/>
          </a:xfrm>
        </p:grpSpPr>
        <p:sp>
          <p:nvSpPr>
            <p:cNvPr id="299" name="타원 298">
              <a:extLst>
                <a:ext uri="{FF2B5EF4-FFF2-40B4-BE49-F238E27FC236}">
                  <a16:creationId xmlns:a16="http://schemas.microsoft.com/office/drawing/2014/main" id="{51FC08F5-F4C3-98F1-F10E-1D91A99EFBBE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BE7899A-529A-5B00-D377-E08A2492D54D}"/>
                </a:ext>
              </a:extLst>
            </p:cNvPr>
            <p:cNvSpPr txBox="1"/>
            <p:nvPr/>
          </p:nvSpPr>
          <p:spPr>
            <a:xfrm>
              <a:off x="8584298" y="2902002"/>
              <a:ext cx="76572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7FB14027-5240-DC54-7109-500A7ACD8877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44429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472E-3AB2-28D3-3C1B-896DECD0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AD19E8-EF10-39A4-1CA2-EBD0412F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A0704CF9-E97C-B55C-0B80-2893E283DAFA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899C7272-8BD1-1C63-BEE0-C2AD68A2AC7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858F23EA-A049-E65E-79DF-E3F72210522B}"/>
                </a:ext>
              </a:extLst>
            </p:cNvPr>
            <p:cNvGrpSpPr/>
            <p:nvPr/>
          </p:nvGrpSpPr>
          <p:grpSpPr>
            <a:xfrm>
              <a:off x="404618" y="922962"/>
              <a:ext cx="8388282" cy="523558"/>
              <a:chOff x="404618" y="928733"/>
              <a:chExt cx="8388282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3EA9ECD4-77A1-B583-9B6E-057492555E4C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8226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의미검색만으로는 하드제약 위반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비건인데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유제품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못 막고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키워드만으로는 의도를 못 읽습니다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둘을 병렬로 돌려 교집합 위에서 랭킹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6698B046-4D88-67AC-9657-D36959EB4BAE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294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의미와 조건을 동시에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광고는 별도 레인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병렬 검색 → 하드필터 → 가중 스코어 →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LTR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환류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D9D43C0B-1238-BEE0-F407-5A5AC2BA85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4966384D-E9FF-383A-069E-46BDA477F57A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하이브리드 검색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랭킹 상세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</a:t>
            </a:r>
          </a:p>
        </p:txBody>
      </p: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009BADAB-58BD-3FF7-46E2-111E86511543}"/>
              </a:ext>
            </a:extLst>
          </p:cNvPr>
          <p:cNvGrpSpPr/>
          <p:nvPr/>
        </p:nvGrpSpPr>
        <p:grpSpPr>
          <a:xfrm>
            <a:off x="0" y="3164231"/>
            <a:ext cx="9144000" cy="705480"/>
            <a:chOff x="0" y="3203143"/>
            <a:chExt cx="9144000" cy="70548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A55A105-AD4B-78D8-15CD-37F307966A26}"/>
                </a:ext>
              </a:extLst>
            </p:cNvPr>
            <p:cNvSpPr/>
            <p:nvPr/>
          </p:nvSpPr>
          <p:spPr>
            <a:xfrm>
              <a:off x="0" y="3203143"/>
              <a:ext cx="9144000" cy="705480"/>
            </a:xfrm>
            <a:prstGeom prst="rect">
              <a:avLst/>
            </a:prstGeom>
            <a:solidFill>
              <a:srgbClr val="74AADD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9F47FFC-4BE4-6FF4-6337-6E3D21337C24}"/>
                </a:ext>
              </a:extLst>
            </p:cNvPr>
            <p:cNvGrpSpPr/>
            <p:nvPr/>
          </p:nvGrpSpPr>
          <p:grpSpPr>
            <a:xfrm>
              <a:off x="431999" y="3389171"/>
              <a:ext cx="8027175" cy="333425"/>
              <a:chOff x="431999" y="5604560"/>
              <a:chExt cx="8027175" cy="36676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DB7FC4-8979-B232-D92C-AB031762EFC0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1603003" cy="3667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하드 제약 필터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위반율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≤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1%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가 신뢰의 마지노선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3EE87F-943F-AABE-CD5E-2A78712C98E1}"/>
                  </a:ext>
                </a:extLst>
              </p:cNvPr>
              <p:cNvSpPr txBox="1"/>
              <p:nvPr/>
            </p:nvSpPr>
            <p:spPr>
              <a:xfrm>
                <a:off x="2344680" y="5604560"/>
                <a:ext cx="6114494" cy="332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하드 제약 필터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위반율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1%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신뢰의 마지노선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 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식이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 → 우유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꿀 함유 제외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배송권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운영상태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폐업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휴업 제외 공공데이터 대조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: MOQ·최대 생산량·리드타임·수령일 가능 여부 · 개별/선물포장 · 보관조건 · 배송지역 · 세금계산서 · 가격 상한  →  의미점수가 높아도 위반이면 탈락</a:t>
                </a: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8036631-C0FF-A64D-09D5-101CC8A3E3A7}"/>
              </a:ext>
            </a:extLst>
          </p:cNvPr>
          <p:cNvSpPr txBox="1"/>
          <p:nvPr/>
        </p:nvSpPr>
        <p:spPr>
          <a:xfrm>
            <a:off x="432000" y="4073463"/>
            <a:ext cx="849271" cy="4257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다신호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가중</a:t>
            </a:r>
            <a:endParaRPr kumimoji="0" lang="en-US" altLang="ko-KR" sz="13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스코어 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286FA75C-2BE2-659D-F773-10981BD6F795}"/>
              </a:ext>
            </a:extLst>
          </p:cNvPr>
          <p:cNvGrpSpPr/>
          <p:nvPr/>
        </p:nvGrpSpPr>
        <p:grpSpPr>
          <a:xfrm>
            <a:off x="1892757" y="4073463"/>
            <a:ext cx="2596441" cy="699128"/>
            <a:chOff x="1249166" y="4396366"/>
            <a:chExt cx="2596441" cy="699128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F7669A2-A547-B63C-C425-D2603F6C9B8E}"/>
                </a:ext>
              </a:extLst>
            </p:cNvPr>
            <p:cNvSpPr/>
            <p:nvPr/>
          </p:nvSpPr>
          <p:spPr>
            <a:xfrm>
              <a:off x="1249166" y="4396366"/>
              <a:ext cx="2596441" cy="699128"/>
            </a:xfrm>
            <a:prstGeom prst="roundRect">
              <a:avLst>
                <a:gd name="adj" fmla="val 4792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사각형: 둥근 위쪽 모서리 51">
              <a:extLst>
                <a:ext uri="{FF2B5EF4-FFF2-40B4-BE49-F238E27FC236}">
                  <a16:creationId xmlns:a16="http://schemas.microsoft.com/office/drawing/2014/main" id="{BC163CD5-05A0-58C6-31D7-7ECF6E6C977D}"/>
                </a:ext>
              </a:extLst>
            </p:cNvPr>
            <p:cNvSpPr/>
            <p:nvPr/>
          </p:nvSpPr>
          <p:spPr>
            <a:xfrm>
              <a:off x="1249168" y="4396367"/>
              <a:ext cx="2596439" cy="186512"/>
            </a:xfrm>
            <a:prstGeom prst="round2SameRect">
              <a:avLst/>
            </a:prstGeom>
            <a:gradFill>
              <a:gsLst>
                <a:gs pos="0">
                  <a:schemeClr val="bg1">
                    <a:alpha val="1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135644-6C2F-E481-8D64-CB461983DE29}"/>
                </a:ext>
              </a:extLst>
            </p:cNvPr>
            <p:cNvSpPr txBox="1"/>
            <p:nvPr/>
          </p:nvSpPr>
          <p:spPr>
            <a:xfrm>
              <a:off x="1399119" y="4695178"/>
              <a:ext cx="1678023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Score = w₁·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적합도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 w₂·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품질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(S~D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산식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+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w₃·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지역배송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 w₄·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트렌드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안건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1)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BB93C75-EEE8-8512-C058-46C986804209}"/>
                </a:ext>
              </a:extLst>
            </p:cNvPr>
            <p:cNvGrpSpPr/>
            <p:nvPr/>
          </p:nvGrpSpPr>
          <p:grpSpPr>
            <a:xfrm>
              <a:off x="1360981" y="4465452"/>
              <a:ext cx="247264" cy="48342"/>
              <a:chOff x="4812084" y="2360184"/>
              <a:chExt cx="247264" cy="48342"/>
            </a:xfrm>
          </p:grpSpPr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9B0C019F-76A6-17DD-7A1F-8D3D2EDED95B}"/>
                  </a:ext>
                </a:extLst>
              </p:cNvPr>
              <p:cNvSpPr/>
              <p:nvPr/>
            </p:nvSpPr>
            <p:spPr>
              <a:xfrm>
                <a:off x="4812084" y="2360184"/>
                <a:ext cx="46800" cy="48342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06A863E9-39D6-40EA-BAC3-022FE3BB5542}"/>
                  </a:ext>
                </a:extLst>
              </p:cNvPr>
              <p:cNvSpPr/>
              <p:nvPr/>
            </p:nvSpPr>
            <p:spPr>
              <a:xfrm>
                <a:off x="4912316" y="2360184"/>
                <a:ext cx="46800" cy="48342"/>
              </a:xfrm>
              <a:prstGeom prst="ellipse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E77E1A39-3406-A91F-60AB-EBCCD0D0356B}"/>
                  </a:ext>
                </a:extLst>
              </p:cNvPr>
              <p:cNvSpPr/>
              <p:nvPr/>
            </p:nvSpPr>
            <p:spPr>
              <a:xfrm>
                <a:off x="5012548" y="2360184"/>
                <a:ext cx="46800" cy="48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aphicFrame>
        <p:nvGraphicFramePr>
          <p:cNvPr id="58" name="Table 0">
            <a:extLst>
              <a:ext uri="{FF2B5EF4-FFF2-40B4-BE49-F238E27FC236}">
                <a16:creationId xmlns:a16="http://schemas.microsoft.com/office/drawing/2014/main" id="{C77CDFC6-1107-7C66-EEF0-1C19828F6665}"/>
              </a:ext>
            </a:extLst>
          </p:cNvPr>
          <p:cNvGraphicFramePr>
            <a:graphicFrameLocks noGrp="1"/>
          </p:cNvGraphicFramePr>
          <p:nvPr/>
        </p:nvGraphicFramePr>
        <p:xfrm>
          <a:off x="431999" y="4860128"/>
          <a:ext cx="4057200" cy="563613"/>
        </p:xfrm>
        <a:graphic>
          <a:graphicData uri="http://schemas.openxmlformats.org/drawingml/2006/table">
            <a:tbl>
              <a:tblPr/>
              <a:tblGrid>
                <a:gridCol w="97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87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맥락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w₁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적합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w₂ 품질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w₃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지역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w₄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트렌드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7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대량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발주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↑↑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생산·배송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7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선물·기념일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 1차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↑↑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평판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5313588-4C88-9451-2AD6-21D4BE3FC2B1}"/>
              </a:ext>
            </a:extLst>
          </p:cNvPr>
          <p:cNvSpPr/>
          <p:nvPr/>
        </p:nvSpPr>
        <p:spPr>
          <a:xfrm>
            <a:off x="4650650" y="4073464"/>
            <a:ext cx="4057460" cy="1350277"/>
          </a:xfrm>
          <a:prstGeom prst="roundRect">
            <a:avLst>
              <a:gd name="adj" fmla="val 5101"/>
            </a:avLst>
          </a:prstGeom>
          <a:gradFill>
            <a:gsLst>
              <a:gs pos="63000">
                <a:srgbClr val="EC6570"/>
              </a:gs>
              <a:gs pos="0">
                <a:srgbClr val="EC6570">
                  <a:alpha val="80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81387940-E329-CCF1-FD92-EFFA9E203B89}"/>
              </a:ext>
            </a:extLst>
          </p:cNvPr>
          <p:cNvGrpSpPr/>
          <p:nvPr/>
        </p:nvGrpSpPr>
        <p:grpSpPr>
          <a:xfrm>
            <a:off x="4835049" y="4462432"/>
            <a:ext cx="2674450" cy="778300"/>
            <a:chOff x="4839566" y="4284127"/>
            <a:chExt cx="2674450" cy="77830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F08410D-B533-C9BB-5E60-3565734CB253}"/>
                </a:ext>
              </a:extLst>
            </p:cNvPr>
            <p:cNvSpPr txBox="1"/>
            <p:nvPr/>
          </p:nvSpPr>
          <p:spPr>
            <a:xfrm>
              <a:off x="4839566" y="4284127"/>
              <a:ext cx="1478610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defPPr>
                <a:defRPr lang="en-US"/>
              </a:defPPr>
              <a:lvl1pPr marL="157163" indent="-157163">
                <a:spcBef>
                  <a:spcPts val="200"/>
                </a:spcBef>
                <a:buClr>
                  <a:srgbClr val="EC6570"/>
                </a:buClr>
                <a:buFont typeface="Arial" panose="020B0604020202020204" pitchFamily="34" charset="0"/>
                <a:buChar char="•"/>
                <a:defRPr sz="14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상업 </a:t>
              </a:r>
              <a:r>
                <a:rPr kumimoji="0" lang="ko-KR" altLang="en-US" sz="13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부스트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별도 레인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134809-A025-F78E-C27C-DC37794E8AFC}"/>
                </a:ext>
              </a:extLst>
            </p:cNvPr>
            <p:cNvSpPr txBox="1"/>
            <p:nvPr/>
          </p:nvSpPr>
          <p:spPr>
            <a:xfrm>
              <a:off x="4839566" y="4549466"/>
              <a:ext cx="2674450" cy="51296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≤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cap : </a:t>
              </a: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오가닉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순위를 뒤집지 못하는 상한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광고는 별도 슬롯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"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라벨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감사로그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후 적합도 상위 </a:t>
              </a: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보존율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≥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95%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상시 측정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8049FA5A-49BB-BC42-62A1-99A3E7AA7C57}"/>
              </a:ext>
            </a:extLst>
          </p:cNvPr>
          <p:cNvGrpSpPr/>
          <p:nvPr/>
        </p:nvGrpSpPr>
        <p:grpSpPr>
          <a:xfrm>
            <a:off x="0" y="5670188"/>
            <a:ext cx="9144000" cy="705480"/>
            <a:chOff x="0" y="5709100"/>
            <a:chExt cx="9144000" cy="705480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19A570AB-85AF-0E1C-A3A5-9BABF5EB84D0}"/>
                </a:ext>
              </a:extLst>
            </p:cNvPr>
            <p:cNvSpPr/>
            <p:nvPr/>
          </p:nvSpPr>
          <p:spPr>
            <a:xfrm>
              <a:off x="0" y="5709100"/>
              <a:ext cx="9144000" cy="705480"/>
            </a:xfrm>
            <a:prstGeom prst="rect">
              <a:avLst/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5865B733-FF94-D9C4-FE8D-834DBEE784A0}"/>
                </a:ext>
              </a:extLst>
            </p:cNvPr>
            <p:cNvGrpSpPr/>
            <p:nvPr/>
          </p:nvGrpSpPr>
          <p:grpSpPr>
            <a:xfrm>
              <a:off x="431999" y="5910517"/>
              <a:ext cx="7935164" cy="302647"/>
              <a:chOff x="431999" y="5604560"/>
              <a:chExt cx="7935164" cy="332912"/>
            </a:xfrm>
          </p:grpSpPr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0EBBA36-B0F4-2C0A-856A-23C983BFBA36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12093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Learning-to-Rank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환류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ED61CFF-DC19-FAAF-C92E-E6F307A84C37}"/>
                  </a:ext>
                </a:extLst>
              </p:cNvPr>
              <p:cNvSpPr txBox="1"/>
              <p:nvPr/>
            </p:nvSpPr>
            <p:spPr>
              <a:xfrm>
                <a:off x="2344680" y="5604560"/>
                <a:ext cx="6022483" cy="332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노출 → 클릭 → 전환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로그가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wᵢ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재학습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규칙 가중치에서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실제로 잘 선택되는 순서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스스로 이동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골든셋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nDCG@10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개선폭을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분기마다 실측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규칙기반 대비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+20%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3B371C5-5040-8BD7-7107-AC040B3E368F}"/>
              </a:ext>
            </a:extLst>
          </p:cNvPr>
          <p:cNvGrpSpPr/>
          <p:nvPr/>
        </p:nvGrpSpPr>
        <p:grpSpPr>
          <a:xfrm>
            <a:off x="432000" y="2255807"/>
            <a:ext cx="2633208" cy="753205"/>
            <a:chOff x="432000" y="2255807"/>
            <a:chExt cx="2633208" cy="75320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A444EC02-C53E-149B-1D05-100AF9630623}"/>
                </a:ext>
              </a:extLst>
            </p:cNvPr>
            <p:cNvSpPr/>
            <p:nvPr/>
          </p:nvSpPr>
          <p:spPr>
            <a:xfrm>
              <a:off x="432000" y="2255807"/>
              <a:ext cx="2633208" cy="753205"/>
            </a:xfrm>
            <a:prstGeom prst="roundRect">
              <a:avLst>
                <a:gd name="adj" fmla="val 582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970E849E-55C6-6319-C29F-E0E522B78059}"/>
                </a:ext>
              </a:extLst>
            </p:cNvPr>
            <p:cNvGrpSpPr/>
            <p:nvPr/>
          </p:nvGrpSpPr>
          <p:grpSpPr>
            <a:xfrm>
              <a:off x="903821" y="2381156"/>
              <a:ext cx="1689566" cy="502507"/>
              <a:chOff x="558526" y="2438944"/>
              <a:chExt cx="1689566" cy="502507"/>
            </a:xfrm>
          </p:grpSpPr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E78811A1-8D37-D32C-9325-4F0CDDB4D9BD}"/>
                  </a:ext>
                </a:extLst>
              </p:cNvPr>
              <p:cNvSpPr txBox="1"/>
              <p:nvPr/>
            </p:nvSpPr>
            <p:spPr>
              <a:xfrm>
                <a:off x="886822" y="2438944"/>
                <a:ext cx="103297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의미 검색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(Vector)</a:t>
                </a:r>
                <a:endPara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3DC4A34A-B638-6B1B-058E-2AD396DE819D}"/>
                  </a:ext>
                </a:extLst>
              </p:cNvPr>
              <p:cNvSpPr txBox="1"/>
              <p:nvPr/>
            </p:nvSpPr>
            <p:spPr>
              <a:xfrm>
                <a:off x="558526" y="2638804"/>
                <a:ext cx="1689566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임베딩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pgvector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cosine top-k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 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뉘앙스 매칭</a:t>
                </a:r>
              </a:p>
            </p:txBody>
          </p:sp>
        </p:grp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229EF835-A1B9-D284-1AD1-0E87F144D46E}"/>
              </a:ext>
            </a:extLst>
          </p:cNvPr>
          <p:cNvGrpSpPr/>
          <p:nvPr/>
        </p:nvGrpSpPr>
        <p:grpSpPr>
          <a:xfrm>
            <a:off x="3255396" y="2255807"/>
            <a:ext cx="2633208" cy="753205"/>
            <a:chOff x="3255396" y="2255807"/>
            <a:chExt cx="2633208" cy="753205"/>
          </a:xfrm>
        </p:grpSpPr>
        <p:sp>
          <p:nvSpPr>
            <p:cNvPr id="271" name="사각형: 둥근 모서리 270">
              <a:extLst>
                <a:ext uri="{FF2B5EF4-FFF2-40B4-BE49-F238E27FC236}">
                  <a16:creationId xmlns:a16="http://schemas.microsoft.com/office/drawing/2014/main" id="{8B748098-4A67-2639-B25A-CF6102D6E69B}"/>
                </a:ext>
              </a:extLst>
            </p:cNvPr>
            <p:cNvSpPr/>
            <p:nvPr/>
          </p:nvSpPr>
          <p:spPr>
            <a:xfrm>
              <a:off x="3255396" y="2255807"/>
              <a:ext cx="2633208" cy="753205"/>
            </a:xfrm>
            <a:prstGeom prst="roundRect">
              <a:avLst>
                <a:gd name="adj" fmla="val 582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4E165793-7710-4F05-32B9-76E037B52D43}"/>
                </a:ext>
              </a:extLst>
            </p:cNvPr>
            <p:cNvGrpSpPr/>
            <p:nvPr/>
          </p:nvGrpSpPr>
          <p:grpSpPr>
            <a:xfrm>
              <a:off x="3807047" y="2381156"/>
              <a:ext cx="1529907" cy="502507"/>
              <a:chOff x="570548" y="2438944"/>
              <a:chExt cx="1529907" cy="502507"/>
            </a:xfrm>
          </p:grpSpPr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5419402-2149-47C7-6F1F-D57B7013C6ED}"/>
                  </a:ext>
                </a:extLst>
              </p:cNvPr>
              <p:cNvSpPr txBox="1"/>
              <p:nvPr/>
            </p:nvSpPr>
            <p:spPr>
              <a:xfrm>
                <a:off x="783427" y="2438944"/>
                <a:ext cx="110414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키워드 검색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(BM25)</a:t>
                </a:r>
                <a:endPara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5FF6197D-3CDA-54EE-64B9-8CE129CFE5CB}"/>
                  </a:ext>
                </a:extLst>
              </p:cNvPr>
              <p:cNvSpPr txBox="1"/>
              <p:nvPr/>
            </p:nvSpPr>
            <p:spPr>
              <a:xfrm>
                <a:off x="570548" y="2638804"/>
                <a:ext cx="1529907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 토큰 매칭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고유명사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메뉴명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지역명의 리콜 보장</a:t>
                </a:r>
              </a:p>
            </p:txBody>
          </p:sp>
        </p:grpSp>
      </p:grp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DBA7D602-9F91-5AA0-33EB-CB13390D111C}"/>
              </a:ext>
            </a:extLst>
          </p:cNvPr>
          <p:cNvSpPr/>
          <p:nvPr/>
        </p:nvSpPr>
        <p:spPr>
          <a:xfrm>
            <a:off x="6078792" y="2255807"/>
            <a:ext cx="2633208" cy="753205"/>
          </a:xfrm>
          <a:prstGeom prst="roundRect">
            <a:avLst>
              <a:gd name="adj" fmla="val 5822"/>
            </a:avLst>
          </a:prstGeom>
          <a:solidFill>
            <a:srgbClr val="74AA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957EF65F-FCE5-4557-9D73-812743BB6C94}"/>
              </a:ext>
            </a:extLst>
          </p:cNvPr>
          <p:cNvGrpSpPr/>
          <p:nvPr/>
        </p:nvGrpSpPr>
        <p:grpSpPr>
          <a:xfrm>
            <a:off x="7085696" y="2468367"/>
            <a:ext cx="619400" cy="328085"/>
            <a:chOff x="7085696" y="2464519"/>
            <a:chExt cx="619400" cy="328085"/>
          </a:xfrm>
        </p:grpSpPr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4846F32F-7982-E590-33E1-04C680EB874E}"/>
                </a:ext>
              </a:extLst>
            </p:cNvPr>
            <p:cNvSpPr txBox="1"/>
            <p:nvPr/>
          </p:nvSpPr>
          <p:spPr>
            <a:xfrm>
              <a:off x="7144525" y="2464519"/>
              <a:ext cx="50174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후보 병합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618B8EEE-C5E0-DA1D-B481-1EA371CF9DC4}"/>
                </a:ext>
              </a:extLst>
            </p:cNvPr>
            <p:cNvSpPr txBox="1"/>
            <p:nvPr/>
          </p:nvSpPr>
          <p:spPr>
            <a:xfrm>
              <a:off x="7085696" y="2654105"/>
              <a:ext cx="61940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RRF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랭크 융합</a:t>
              </a: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20A96DC7-E937-3264-5A08-0C3CF70604D7}"/>
              </a:ext>
            </a:extLst>
          </p:cNvPr>
          <p:cNvGrpSpPr/>
          <p:nvPr/>
        </p:nvGrpSpPr>
        <p:grpSpPr>
          <a:xfrm rot="5400000">
            <a:off x="4319258" y="3809276"/>
            <a:ext cx="505485" cy="392868"/>
            <a:chOff x="6544574" y="5358957"/>
            <a:chExt cx="814088" cy="632717"/>
          </a:xfrm>
        </p:grpSpPr>
        <p:sp>
          <p:nvSpPr>
            <p:cNvPr id="296" name="이등변 삼각형 295">
              <a:extLst>
                <a:ext uri="{FF2B5EF4-FFF2-40B4-BE49-F238E27FC236}">
                  <a16:creationId xmlns:a16="http://schemas.microsoft.com/office/drawing/2014/main" id="{5AE74104-7596-8607-CB42-DCDBAD262720}"/>
                </a:ext>
              </a:extLst>
            </p:cNvPr>
            <p:cNvSpPr/>
            <p:nvPr/>
          </p:nvSpPr>
          <p:spPr>
            <a:xfrm rot="5400000">
              <a:off x="6888809" y="5521821"/>
              <a:ext cx="632717" cy="30698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7" name="화살표: 오른쪽 296">
              <a:extLst>
                <a:ext uri="{FF2B5EF4-FFF2-40B4-BE49-F238E27FC236}">
                  <a16:creationId xmlns:a16="http://schemas.microsoft.com/office/drawing/2014/main" id="{2C5AA5AA-B367-9FCD-5925-F7CDC104C0DA}"/>
                </a:ext>
              </a:extLst>
            </p:cNvPr>
            <p:cNvSpPr/>
            <p:nvPr/>
          </p:nvSpPr>
          <p:spPr>
            <a:xfrm>
              <a:off x="6544574" y="5429006"/>
              <a:ext cx="685686" cy="492624"/>
            </a:xfrm>
            <a:prstGeom prst="rightArrow">
              <a:avLst>
                <a:gd name="adj1" fmla="val 69851"/>
                <a:gd name="adj2" fmla="val 50000"/>
              </a:avLst>
            </a:prstGeom>
            <a:gradFill flip="none" rotWithShape="1">
              <a:gsLst>
                <a:gs pos="19000">
                  <a:srgbClr val="74AADD">
                    <a:alpha val="62000"/>
                  </a:srgbClr>
                </a:gs>
                <a:gs pos="80000">
                  <a:srgbClr val="74AADD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3C253CA5-AD41-FFDD-39E6-9F5EEDC18AF9}"/>
              </a:ext>
            </a:extLst>
          </p:cNvPr>
          <p:cNvGrpSpPr/>
          <p:nvPr/>
        </p:nvGrpSpPr>
        <p:grpSpPr>
          <a:xfrm rot="5400000">
            <a:off x="4319258" y="2853469"/>
            <a:ext cx="505485" cy="392868"/>
            <a:chOff x="6544574" y="5358957"/>
            <a:chExt cx="814088" cy="632717"/>
          </a:xfrm>
        </p:grpSpPr>
        <p:sp>
          <p:nvSpPr>
            <p:cNvPr id="299" name="이등변 삼각형 298">
              <a:extLst>
                <a:ext uri="{FF2B5EF4-FFF2-40B4-BE49-F238E27FC236}">
                  <a16:creationId xmlns:a16="http://schemas.microsoft.com/office/drawing/2014/main" id="{D5DFACE1-82D9-7EED-2FA9-0B01F1D32070}"/>
                </a:ext>
              </a:extLst>
            </p:cNvPr>
            <p:cNvSpPr/>
            <p:nvPr/>
          </p:nvSpPr>
          <p:spPr>
            <a:xfrm rot="5400000">
              <a:off x="6888809" y="5521821"/>
              <a:ext cx="632717" cy="30698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0" name="화살표: 오른쪽 299">
              <a:extLst>
                <a:ext uri="{FF2B5EF4-FFF2-40B4-BE49-F238E27FC236}">
                  <a16:creationId xmlns:a16="http://schemas.microsoft.com/office/drawing/2014/main" id="{E7CE1220-F986-DB7E-D0D6-ECCD26BD48EC}"/>
                </a:ext>
              </a:extLst>
            </p:cNvPr>
            <p:cNvSpPr/>
            <p:nvPr/>
          </p:nvSpPr>
          <p:spPr>
            <a:xfrm>
              <a:off x="6544574" y="5429006"/>
              <a:ext cx="685686" cy="492624"/>
            </a:xfrm>
            <a:prstGeom prst="rightArrow">
              <a:avLst>
                <a:gd name="adj1" fmla="val 69851"/>
                <a:gd name="adj2" fmla="val 50000"/>
              </a:avLst>
            </a:prstGeom>
            <a:gradFill flip="none" rotWithShape="1">
              <a:gsLst>
                <a:gs pos="19000">
                  <a:srgbClr val="E9E9E9"/>
                </a:gs>
                <a:gs pos="80000">
                  <a:srgbClr val="E9E9E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A568247A-0544-CD3B-5B3A-E44FE6DD0E9E}"/>
              </a:ext>
            </a:extLst>
          </p:cNvPr>
          <p:cNvGrpSpPr/>
          <p:nvPr/>
        </p:nvGrpSpPr>
        <p:grpSpPr>
          <a:xfrm>
            <a:off x="5725532" y="2435975"/>
            <a:ext cx="490737" cy="392868"/>
            <a:chOff x="6568326" y="5358957"/>
            <a:chExt cx="790336" cy="632717"/>
          </a:xfrm>
        </p:grpSpPr>
        <p:sp>
          <p:nvSpPr>
            <p:cNvPr id="302" name="이등변 삼각형 301">
              <a:extLst>
                <a:ext uri="{FF2B5EF4-FFF2-40B4-BE49-F238E27FC236}">
                  <a16:creationId xmlns:a16="http://schemas.microsoft.com/office/drawing/2014/main" id="{E61B38B6-1052-8A4A-C1F3-E50A08CA0213}"/>
                </a:ext>
              </a:extLst>
            </p:cNvPr>
            <p:cNvSpPr/>
            <p:nvPr/>
          </p:nvSpPr>
          <p:spPr>
            <a:xfrm rot="5400000">
              <a:off x="6888809" y="5521821"/>
              <a:ext cx="632717" cy="30698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3" name="화살표: 오른쪽 302">
              <a:extLst>
                <a:ext uri="{FF2B5EF4-FFF2-40B4-BE49-F238E27FC236}">
                  <a16:creationId xmlns:a16="http://schemas.microsoft.com/office/drawing/2014/main" id="{51C4F29E-AE62-5349-C8E2-8DA8F1800CFF}"/>
                </a:ext>
              </a:extLst>
            </p:cNvPr>
            <p:cNvSpPr/>
            <p:nvPr/>
          </p:nvSpPr>
          <p:spPr>
            <a:xfrm>
              <a:off x="6568326" y="5429006"/>
              <a:ext cx="685685" cy="492624"/>
            </a:xfrm>
            <a:prstGeom prst="rightArrow">
              <a:avLst>
                <a:gd name="adj1" fmla="val 69851"/>
                <a:gd name="adj2" fmla="val 50000"/>
              </a:avLst>
            </a:prstGeom>
            <a:gradFill flip="none" rotWithShape="1">
              <a:gsLst>
                <a:gs pos="19000">
                  <a:srgbClr val="74AADD">
                    <a:alpha val="62000"/>
                  </a:srgbClr>
                </a:gs>
                <a:gs pos="61000">
                  <a:srgbClr val="E9E9E9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1489D33B-6691-DA46-D445-81E3E0DF7B01}"/>
              </a:ext>
            </a:extLst>
          </p:cNvPr>
          <p:cNvGrpSpPr/>
          <p:nvPr/>
        </p:nvGrpSpPr>
        <p:grpSpPr>
          <a:xfrm>
            <a:off x="8271413" y="4231565"/>
            <a:ext cx="284570" cy="284570"/>
            <a:chOff x="8275321" y="4252869"/>
            <a:chExt cx="284570" cy="284570"/>
          </a:xfrm>
        </p:grpSpPr>
        <p:sp>
          <p:nvSpPr>
            <p:cNvPr id="265" name="타원 264">
              <a:extLst>
                <a:ext uri="{FF2B5EF4-FFF2-40B4-BE49-F238E27FC236}">
                  <a16:creationId xmlns:a16="http://schemas.microsoft.com/office/drawing/2014/main" id="{026F5A27-D192-177A-CE0B-CC39E687A48D}"/>
                </a:ext>
              </a:extLst>
            </p:cNvPr>
            <p:cNvSpPr/>
            <p:nvPr/>
          </p:nvSpPr>
          <p:spPr>
            <a:xfrm>
              <a:off x="8275321" y="4252869"/>
              <a:ext cx="284570" cy="284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05" name="그래픽 304">
              <a:extLst>
                <a:ext uri="{FF2B5EF4-FFF2-40B4-BE49-F238E27FC236}">
                  <a16:creationId xmlns:a16="http://schemas.microsoft.com/office/drawing/2014/main" id="{C49580EF-49A7-A6BE-F95F-6A8589A21B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8935" y="4328940"/>
              <a:ext cx="138122" cy="145392"/>
            </a:xfrm>
            <a:prstGeom prst="rect">
              <a:avLst/>
            </a:prstGeom>
          </p:spPr>
        </p:pic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577AEC67-80E6-7EC1-51C0-F5CA525077E3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3407022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B7B7-4CC9-554D-296E-89E9CF52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B10C4D-B580-F170-D2BA-B77CBF82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C315C7E9-C010-CA79-9110-F01198ACF9F3}"/>
              </a:ext>
            </a:extLst>
          </p:cNvPr>
          <p:cNvGrpSpPr/>
          <p:nvPr/>
        </p:nvGrpSpPr>
        <p:grpSpPr>
          <a:xfrm>
            <a:off x="0" y="1176392"/>
            <a:ext cx="9163514" cy="883965"/>
            <a:chOff x="0" y="742759"/>
            <a:chExt cx="9163514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60710AA9-57D8-0925-085A-B045EF3394A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1ABC870D-1000-4230-E7B1-68D027598D12}"/>
                </a:ext>
              </a:extLst>
            </p:cNvPr>
            <p:cNvGrpSpPr/>
            <p:nvPr/>
          </p:nvGrpSpPr>
          <p:grpSpPr>
            <a:xfrm>
              <a:off x="404618" y="922962"/>
              <a:ext cx="8758896" cy="523558"/>
              <a:chOff x="404618" y="928733"/>
              <a:chExt cx="8758896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8307D8B6-DFA4-C26B-67F0-5806F4C35B81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44759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"AI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썼지만 믿어도 된다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구조로 보장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KPI(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오류율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1%·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100%)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주장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아니라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설계상 보장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 이유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2F7237CA-CB59-E581-C0DD-F037C23D098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400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 숫자를 지어내지 못하게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 안건을 관통하는 환각 통제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오케스트레이션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비용 최적화 설계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BEC22EAB-74FF-8D2C-F5AF-20C40C9C6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BCE958FB-AE37-C340-D83E-4DF0100E356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공통 신뢰성 설계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CC228178-CDE0-4414-C110-7707CB253EBF}"/>
              </a:ext>
            </a:extLst>
          </p:cNvPr>
          <p:cNvSpPr txBox="1"/>
          <p:nvPr/>
        </p:nvSpPr>
        <p:spPr>
          <a:xfrm>
            <a:off x="432000" y="2282697"/>
            <a:ext cx="2447145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환각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(Hallucination)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통제 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 장치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57F0F2AC-359C-80CF-0634-971A3D72D513}"/>
              </a:ext>
            </a:extLst>
          </p:cNvPr>
          <p:cNvSpPr txBox="1"/>
          <p:nvPr/>
        </p:nvSpPr>
        <p:spPr>
          <a:xfrm>
            <a:off x="3008483" y="2335954"/>
            <a:ext cx="1860125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틀린 수치 한 줄이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입점사의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발주를 망칩니다 — 생산 가능 수량·가격·배송 가능일은 DB 기준으로만 출력, 불확실 시 담당자 확인으로 폴백</a:t>
            </a:r>
          </a:p>
        </p:txBody>
      </p:sp>
      <p:grpSp>
        <p:nvGrpSpPr>
          <p:cNvPr id="348" name="그룹 347">
            <a:extLst>
              <a:ext uri="{FF2B5EF4-FFF2-40B4-BE49-F238E27FC236}">
                <a16:creationId xmlns:a16="http://schemas.microsoft.com/office/drawing/2014/main" id="{25D77CF6-D875-471E-6DF2-2BB343C47D34}"/>
              </a:ext>
            </a:extLst>
          </p:cNvPr>
          <p:cNvGrpSpPr/>
          <p:nvPr/>
        </p:nvGrpSpPr>
        <p:grpSpPr>
          <a:xfrm>
            <a:off x="0" y="5670188"/>
            <a:ext cx="9144000" cy="705480"/>
            <a:chOff x="0" y="5709100"/>
            <a:chExt cx="9144000" cy="705480"/>
          </a:xfrm>
        </p:grpSpPr>
        <p:sp>
          <p:nvSpPr>
            <p:cNvPr id="349" name="직사각형 348">
              <a:extLst>
                <a:ext uri="{FF2B5EF4-FFF2-40B4-BE49-F238E27FC236}">
                  <a16:creationId xmlns:a16="http://schemas.microsoft.com/office/drawing/2014/main" id="{2D09E1DD-E039-10F2-4411-45D889581D48}"/>
                </a:ext>
              </a:extLst>
            </p:cNvPr>
            <p:cNvSpPr/>
            <p:nvPr/>
          </p:nvSpPr>
          <p:spPr>
            <a:xfrm>
              <a:off x="0" y="5709100"/>
              <a:ext cx="9144000" cy="705480"/>
            </a:xfrm>
            <a:prstGeom prst="rect">
              <a:avLst/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9AC5C147-FA32-0A78-F240-7D67F7397A0A}"/>
                </a:ext>
              </a:extLst>
            </p:cNvPr>
            <p:cNvGrpSpPr/>
            <p:nvPr/>
          </p:nvGrpSpPr>
          <p:grpSpPr>
            <a:xfrm>
              <a:off x="431999" y="5910517"/>
              <a:ext cx="6960538" cy="302647"/>
              <a:chOff x="431999" y="5604560"/>
              <a:chExt cx="6960538" cy="332912"/>
            </a:xfrm>
          </p:grpSpPr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EE85F12-44CB-99DC-F8BD-5D1764C2C266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136575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합법적 데이터 수집 거버넌스</a:t>
                </a:r>
              </a:p>
            </p:txBody>
          </p:sp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0290B2A5-B978-63CC-43A7-3941DEF993A5}"/>
                  </a:ext>
                </a:extLst>
              </p:cNvPr>
              <p:cNvSpPr txBox="1"/>
              <p:nvPr/>
            </p:nvSpPr>
            <p:spPr>
              <a:xfrm>
                <a:off x="2344680" y="5604560"/>
                <a:ext cx="5047857" cy="332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우선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네이버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구글 트렌드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유튜브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Data API - MVP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무료 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종만으로 시작 가능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robots.txt/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저작권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개인정보 준수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원문 전재 대신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언급량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감성 등 집계 지표 중심 보관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체험단 글 별도 플래그</a:t>
                </a:r>
              </a:p>
            </p:txBody>
          </p:sp>
        </p:grpSp>
      </p:grpSp>
      <p:sp>
        <p:nvSpPr>
          <p:cNvPr id="355" name="TextBox 354">
            <a:extLst>
              <a:ext uri="{FF2B5EF4-FFF2-40B4-BE49-F238E27FC236}">
                <a16:creationId xmlns:a16="http://schemas.microsoft.com/office/drawing/2014/main" id="{CDD3A1D2-9187-9EE8-1C15-2A642FC6D72F}"/>
              </a:ext>
            </a:extLst>
          </p:cNvPr>
          <p:cNvSpPr txBox="1"/>
          <p:nvPr/>
        </p:nvSpPr>
        <p:spPr>
          <a:xfrm>
            <a:off x="432000" y="3796510"/>
            <a:ext cx="1859163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파이프라인 오케스트레이션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356" name="직선 연결선 355">
            <a:extLst>
              <a:ext uri="{FF2B5EF4-FFF2-40B4-BE49-F238E27FC236}">
                <a16:creationId xmlns:a16="http://schemas.microsoft.com/office/drawing/2014/main" id="{638C1939-03C2-6B47-91BC-6EA517EC0131}"/>
              </a:ext>
            </a:extLst>
          </p:cNvPr>
          <p:cNvCxnSpPr>
            <a:cxnSpLocks/>
          </p:cNvCxnSpPr>
          <p:nvPr/>
        </p:nvCxnSpPr>
        <p:spPr>
          <a:xfrm>
            <a:off x="432000" y="4075676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직선 연결선 356">
            <a:extLst>
              <a:ext uri="{FF2B5EF4-FFF2-40B4-BE49-F238E27FC236}">
                <a16:creationId xmlns:a16="http://schemas.microsoft.com/office/drawing/2014/main" id="{FB096E1B-6600-949D-DEEB-B55089013E42}"/>
              </a:ext>
            </a:extLst>
          </p:cNvPr>
          <p:cNvCxnSpPr>
            <a:cxnSpLocks/>
          </p:cNvCxnSpPr>
          <p:nvPr/>
        </p:nvCxnSpPr>
        <p:spPr>
          <a:xfrm>
            <a:off x="446048" y="4424729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>
            <a:extLst>
              <a:ext uri="{FF2B5EF4-FFF2-40B4-BE49-F238E27FC236}">
                <a16:creationId xmlns:a16="http://schemas.microsoft.com/office/drawing/2014/main" id="{E27E27A5-FF48-4FD1-77C2-BFF17161BBCD}"/>
              </a:ext>
            </a:extLst>
          </p:cNvPr>
          <p:cNvCxnSpPr>
            <a:cxnSpLocks/>
          </p:cNvCxnSpPr>
          <p:nvPr/>
        </p:nvCxnSpPr>
        <p:spPr>
          <a:xfrm>
            <a:off x="432000" y="4948966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1A09A8E5-55F8-3F32-2E49-493A11CA758A}"/>
              </a:ext>
            </a:extLst>
          </p:cNvPr>
          <p:cNvGrpSpPr/>
          <p:nvPr/>
        </p:nvGrpSpPr>
        <p:grpSpPr>
          <a:xfrm>
            <a:off x="480640" y="4175435"/>
            <a:ext cx="3844419" cy="138499"/>
            <a:chOff x="480640" y="4133395"/>
            <a:chExt cx="3844419" cy="138499"/>
          </a:xfrm>
        </p:grpSpPr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1F8BA06B-CC27-72EC-7784-8F74EB942E1E}"/>
                </a:ext>
              </a:extLst>
            </p:cNvPr>
            <p:cNvSpPr txBox="1"/>
            <p:nvPr/>
          </p:nvSpPr>
          <p:spPr>
            <a:xfrm>
              <a:off x="480640" y="4133395"/>
              <a:ext cx="5264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LangChain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C779C54E-787F-C2EE-512A-137B7854E189}"/>
                </a:ext>
              </a:extLst>
            </p:cNvPr>
            <p:cNvSpPr txBox="1"/>
            <p:nvPr/>
          </p:nvSpPr>
          <p:spPr>
            <a:xfrm>
              <a:off x="1350527" y="4133395"/>
              <a:ext cx="297453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구조화 출력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NER·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신조어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결과를 스키마로 강제해 파싱 오류 제거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8ABE69DA-8853-2F97-25E3-0E3956CFFE98}"/>
              </a:ext>
            </a:extLst>
          </p:cNvPr>
          <p:cNvGrpSpPr/>
          <p:nvPr/>
        </p:nvGrpSpPr>
        <p:grpSpPr>
          <a:xfrm>
            <a:off x="480640" y="4535524"/>
            <a:ext cx="3679952" cy="302647"/>
            <a:chOff x="4710198" y="4375024"/>
            <a:chExt cx="3679952" cy="305673"/>
          </a:xfrm>
        </p:grpSpPr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7584A04C-68AD-B8F6-8D86-918CFDC9C1C5}"/>
                </a:ext>
              </a:extLst>
            </p:cNvPr>
            <p:cNvSpPr txBox="1"/>
            <p:nvPr/>
          </p:nvSpPr>
          <p:spPr>
            <a:xfrm>
              <a:off x="4710198" y="4375024"/>
              <a:ext cx="544060" cy="139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LangGraph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92EE0ACC-0711-8983-CEDE-0140A61EABA2}"/>
                </a:ext>
              </a:extLst>
            </p:cNvPr>
            <p:cNvSpPr txBox="1"/>
            <p:nvPr/>
          </p:nvSpPr>
          <p:spPr>
            <a:xfrm>
              <a:off x="5580085" y="4375024"/>
              <a:ext cx="2810065" cy="305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상태 그래프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노드 단위 재시도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부분실패 격리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되묻기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재검색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’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사이클 표현 →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KPI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를 단계별로 측정</a:t>
              </a:r>
            </a:p>
          </p:txBody>
        </p:sp>
      </p:grp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784B1E47-0C23-AB0D-DDCE-AAF5E4203599}"/>
              </a:ext>
            </a:extLst>
          </p:cNvPr>
          <p:cNvGrpSpPr/>
          <p:nvPr/>
        </p:nvGrpSpPr>
        <p:grpSpPr>
          <a:xfrm>
            <a:off x="480640" y="5059762"/>
            <a:ext cx="3420906" cy="302655"/>
            <a:chOff x="4710198" y="3949537"/>
            <a:chExt cx="3420906" cy="305681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E6E350F2-AC7F-7A6E-1A48-FD4403BE4347}"/>
                </a:ext>
              </a:extLst>
            </p:cNvPr>
            <p:cNvSpPr txBox="1"/>
            <p:nvPr/>
          </p:nvSpPr>
          <p:spPr>
            <a:xfrm>
              <a:off x="4710198" y="3949545"/>
              <a:ext cx="675506" cy="305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수치 계산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스코어링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랭킹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FE1C53D7-B3FB-4F8B-1A9B-6045294319A4}"/>
                </a:ext>
              </a:extLst>
            </p:cNvPr>
            <p:cNvSpPr txBox="1"/>
            <p:nvPr/>
          </p:nvSpPr>
          <p:spPr>
            <a:xfrm>
              <a:off x="5580085" y="3949537"/>
              <a:ext cx="2551019" cy="305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그래프 밖 코드로 유지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프레임워크는 표준화 골격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차별성은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 위의 도메인 로직</a:t>
              </a:r>
            </a:p>
          </p:txBody>
        </p:sp>
      </p:grpSp>
      <p:sp>
        <p:nvSpPr>
          <p:cNvPr id="390" name="TextBox 389">
            <a:extLst>
              <a:ext uri="{FF2B5EF4-FFF2-40B4-BE49-F238E27FC236}">
                <a16:creationId xmlns:a16="http://schemas.microsoft.com/office/drawing/2014/main" id="{7E544C01-D76A-D0EA-4885-90D7E9CE3AB0}"/>
              </a:ext>
            </a:extLst>
          </p:cNvPr>
          <p:cNvSpPr txBox="1"/>
          <p:nvPr/>
        </p:nvSpPr>
        <p:spPr>
          <a:xfrm>
            <a:off x="3085736" y="3873455"/>
            <a:ext cx="1393330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LangChain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LangGraph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RAG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7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230C16DF-0E52-FEE7-1885-6C68A3D57B81}"/>
              </a:ext>
            </a:extLst>
          </p:cNvPr>
          <p:cNvSpPr txBox="1"/>
          <p:nvPr/>
        </p:nvSpPr>
        <p:spPr>
          <a:xfrm>
            <a:off x="4650886" y="3796510"/>
            <a:ext cx="1400704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Claude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 티어링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683E3330-74A2-2E17-08D9-B36669A82EB0}"/>
              </a:ext>
            </a:extLst>
          </p:cNvPr>
          <p:cNvCxnSpPr>
            <a:cxnSpLocks/>
          </p:cNvCxnSpPr>
          <p:nvPr/>
        </p:nvCxnSpPr>
        <p:spPr>
          <a:xfrm>
            <a:off x="4650886" y="4075676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TextBox 402">
            <a:extLst>
              <a:ext uri="{FF2B5EF4-FFF2-40B4-BE49-F238E27FC236}">
                <a16:creationId xmlns:a16="http://schemas.microsoft.com/office/drawing/2014/main" id="{B0B37BFF-FF3C-56CD-85B4-65C5F7C48801}"/>
              </a:ext>
            </a:extLst>
          </p:cNvPr>
          <p:cNvSpPr txBox="1"/>
          <p:nvPr/>
        </p:nvSpPr>
        <p:spPr>
          <a:xfrm>
            <a:off x="4650886" y="5059770"/>
            <a:ext cx="3837269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 50%↓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프롬프트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캐싱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 토큰 상한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(budget cap)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API+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인프라는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MVP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 수십만원 수준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예산의 소액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§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비용가이드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CFF56501-D07D-75B0-6ED0-15AFE8BD6351}"/>
              </a:ext>
            </a:extLst>
          </p:cNvPr>
          <p:cNvSpPr txBox="1"/>
          <p:nvPr/>
        </p:nvSpPr>
        <p:spPr>
          <a:xfrm>
            <a:off x="7982371" y="3873455"/>
            <a:ext cx="715581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 비용 최적화</a:t>
            </a:r>
          </a:p>
        </p:txBody>
      </p:sp>
      <p:graphicFrame>
        <p:nvGraphicFramePr>
          <p:cNvPr id="408" name="Table 0">
            <a:extLst>
              <a:ext uri="{FF2B5EF4-FFF2-40B4-BE49-F238E27FC236}">
                <a16:creationId xmlns:a16="http://schemas.microsoft.com/office/drawing/2014/main" id="{44B34BEC-18DE-C08D-0822-C309A993F5C2}"/>
              </a:ext>
            </a:extLst>
          </p:cNvPr>
          <p:cNvGraphicFramePr>
            <a:graphicFrameLocks noGrp="1"/>
          </p:cNvGraphicFramePr>
          <p:nvPr/>
        </p:nvGraphicFramePr>
        <p:xfrm>
          <a:off x="4650886" y="4175435"/>
          <a:ext cx="4046400" cy="799584"/>
        </p:xfrm>
        <a:graphic>
          <a:graphicData uri="http://schemas.openxmlformats.org/drawingml/2006/table">
            <a:tbl>
              <a:tblPr/>
              <a:tblGrid>
                <a:gridCol w="134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이유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대량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분류·감성분석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Haiku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저가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많고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최저가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판별·중간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Haiku~Sonnet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신규성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판단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인사이트·전략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브리핑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Sonnet / Opus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소량·고품질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14" name="그룹 413">
            <a:extLst>
              <a:ext uri="{FF2B5EF4-FFF2-40B4-BE49-F238E27FC236}">
                <a16:creationId xmlns:a16="http://schemas.microsoft.com/office/drawing/2014/main" id="{3C2B7D91-A251-1A94-5D69-096F254D86E9}"/>
              </a:ext>
            </a:extLst>
          </p:cNvPr>
          <p:cNvGrpSpPr/>
          <p:nvPr/>
        </p:nvGrpSpPr>
        <p:grpSpPr>
          <a:xfrm>
            <a:off x="432000" y="2574211"/>
            <a:ext cx="2639270" cy="1016681"/>
            <a:chOff x="432000" y="2584259"/>
            <a:chExt cx="2639270" cy="1016681"/>
          </a:xfrm>
        </p:grpSpPr>
        <p:sp>
          <p:nvSpPr>
            <p:cNvPr id="326" name="사각형: 둥근 모서리 325">
              <a:extLst>
                <a:ext uri="{FF2B5EF4-FFF2-40B4-BE49-F238E27FC236}">
                  <a16:creationId xmlns:a16="http://schemas.microsoft.com/office/drawing/2014/main" id="{0DB35195-EB1B-36EB-3887-ABB8C882E140}"/>
                </a:ext>
              </a:extLst>
            </p:cNvPr>
            <p:cNvSpPr/>
            <p:nvPr/>
          </p:nvSpPr>
          <p:spPr>
            <a:xfrm>
              <a:off x="432000" y="2584259"/>
              <a:ext cx="2639270" cy="1016681"/>
            </a:xfrm>
            <a:prstGeom prst="roundRect">
              <a:avLst>
                <a:gd name="adj" fmla="val 5556"/>
              </a:avLst>
            </a:prstGeom>
            <a:solidFill>
              <a:srgbClr val="EC6570"/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6EB23301-8872-B704-BE5C-E8BE9D663FD3}"/>
                </a:ext>
              </a:extLst>
            </p:cNvPr>
            <p:cNvSpPr txBox="1"/>
            <p:nvPr/>
          </p:nvSpPr>
          <p:spPr>
            <a:xfrm>
              <a:off x="587574" y="2968234"/>
              <a:ext cx="2292294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증가율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점수 등 모든 수치는 코드가 정확히 계산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는 확정된 숫자를 문장으로 옮기는 역할만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지어낼 틈 제거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4C320ADD-5E04-62F0-2115-6A6EBC614431}"/>
                </a:ext>
              </a:extLst>
            </p:cNvPr>
            <p:cNvGrpSpPr/>
            <p:nvPr/>
          </p:nvGrpSpPr>
          <p:grpSpPr>
            <a:xfrm>
              <a:off x="587574" y="2734781"/>
              <a:ext cx="1283095" cy="200055"/>
              <a:chOff x="363102" y="2734781"/>
              <a:chExt cx="1283095" cy="200055"/>
            </a:xfrm>
          </p:grpSpPr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8E3422A8-458F-1D39-0562-F779E09C8B59}"/>
                  </a:ext>
                </a:extLst>
              </p:cNvPr>
              <p:cNvSpPr txBox="1"/>
              <p:nvPr/>
            </p:nvSpPr>
            <p:spPr>
              <a:xfrm>
                <a:off x="587574" y="2734781"/>
                <a:ext cx="1058623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계산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글쓰기 분리</a:t>
                </a:r>
              </a:p>
            </p:txBody>
          </p:sp>
          <p:grpSp>
            <p:nvGrpSpPr>
              <p:cNvPr id="410" name="그룹 409">
                <a:extLst>
                  <a:ext uri="{FF2B5EF4-FFF2-40B4-BE49-F238E27FC236}">
                    <a16:creationId xmlns:a16="http://schemas.microsoft.com/office/drawing/2014/main" id="{DAC565AF-8C42-10F3-F4C5-2FDE4A9E77DA}"/>
                  </a:ext>
                </a:extLst>
              </p:cNvPr>
              <p:cNvGrpSpPr/>
              <p:nvPr/>
            </p:nvGrpSpPr>
            <p:grpSpPr>
              <a:xfrm>
                <a:off x="363102" y="2749925"/>
                <a:ext cx="169766" cy="169766"/>
                <a:chOff x="9263424" y="3385502"/>
                <a:chExt cx="248555" cy="248555"/>
              </a:xfrm>
            </p:grpSpPr>
            <p:sp>
              <p:nvSpPr>
                <p:cNvPr id="411" name="사각형: 둥근 모서리 410">
                  <a:extLst>
                    <a:ext uri="{FF2B5EF4-FFF2-40B4-BE49-F238E27FC236}">
                      <a16:creationId xmlns:a16="http://schemas.microsoft.com/office/drawing/2014/main" id="{6EDA33A9-26DC-9D66-6C8C-0CCF5D8626C6}"/>
                    </a:ext>
                  </a:extLst>
                </p:cNvPr>
                <p:cNvSpPr/>
                <p:nvPr/>
              </p:nvSpPr>
              <p:spPr>
                <a:xfrm>
                  <a:off x="9263424" y="3385502"/>
                  <a:ext cx="248555" cy="2485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2" name="TextBox 411">
                  <a:extLst>
                    <a:ext uri="{FF2B5EF4-FFF2-40B4-BE49-F238E27FC236}">
                      <a16:creationId xmlns:a16="http://schemas.microsoft.com/office/drawing/2014/main" id="{D2CF3D26-EDC7-F7B2-4B0C-A58938AABC38}"/>
                    </a:ext>
                  </a:extLst>
                </p:cNvPr>
                <p:cNvSpPr txBox="1"/>
                <p:nvPr/>
              </p:nvSpPr>
              <p:spPr>
                <a:xfrm>
                  <a:off x="9339055" y="3417607"/>
                  <a:ext cx="97292" cy="1843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A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B7AE18D2-2421-386C-A0A1-8E5E5CA8FAFA}"/>
              </a:ext>
            </a:extLst>
          </p:cNvPr>
          <p:cNvGrpSpPr/>
          <p:nvPr/>
        </p:nvGrpSpPr>
        <p:grpSpPr>
          <a:xfrm>
            <a:off x="3252365" y="2574211"/>
            <a:ext cx="2639270" cy="1016681"/>
            <a:chOff x="432000" y="2584259"/>
            <a:chExt cx="2639270" cy="1016681"/>
          </a:xfrm>
        </p:grpSpPr>
        <p:sp>
          <p:nvSpPr>
            <p:cNvPr id="416" name="사각형: 둥근 모서리 415">
              <a:extLst>
                <a:ext uri="{FF2B5EF4-FFF2-40B4-BE49-F238E27FC236}">
                  <a16:creationId xmlns:a16="http://schemas.microsoft.com/office/drawing/2014/main" id="{45E4D4B0-7816-8777-60E8-F1AD46AA3FF2}"/>
                </a:ext>
              </a:extLst>
            </p:cNvPr>
            <p:cNvSpPr/>
            <p:nvPr/>
          </p:nvSpPr>
          <p:spPr>
            <a:xfrm>
              <a:off x="432000" y="2584259"/>
              <a:ext cx="2639270" cy="1016681"/>
            </a:xfrm>
            <a:prstGeom prst="roundRect">
              <a:avLst>
                <a:gd name="adj" fmla="val 5556"/>
              </a:avLst>
            </a:prstGeom>
            <a:solidFill>
              <a:srgbClr val="EC6570"/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563B2FC6-BCBE-6D25-D9D8-CC3B18A834A1}"/>
                </a:ext>
              </a:extLst>
            </p:cNvPr>
            <p:cNvSpPr txBox="1"/>
            <p:nvPr/>
          </p:nvSpPr>
          <p:spPr>
            <a:xfrm>
              <a:off x="587574" y="2968234"/>
              <a:ext cx="1686359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코드 산출 지표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원본 근거만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 주입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밖 수치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사실 금지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규칙 강제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 보는 자료를 검증된 근거로 한정</a:t>
              </a:r>
            </a:p>
          </p:txBody>
        </p:sp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951B30B2-CAC3-036E-356B-D7CD33D14146}"/>
                </a:ext>
              </a:extLst>
            </p:cNvPr>
            <p:cNvGrpSpPr/>
            <p:nvPr/>
          </p:nvGrpSpPr>
          <p:grpSpPr>
            <a:xfrm>
              <a:off x="587573" y="2734781"/>
              <a:ext cx="1182107" cy="200055"/>
              <a:chOff x="363101" y="2734781"/>
              <a:chExt cx="1182107" cy="200055"/>
            </a:xfrm>
          </p:grpSpPr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961DE77B-E319-3B71-C9A9-B5A771D80FA5}"/>
                  </a:ext>
                </a:extLst>
              </p:cNvPr>
              <p:cNvSpPr txBox="1"/>
              <p:nvPr/>
            </p:nvSpPr>
            <p:spPr>
              <a:xfrm>
                <a:off x="587574" y="2734781"/>
                <a:ext cx="957634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RAG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근거 결박</a:t>
                </a:r>
              </a:p>
            </p:txBody>
          </p:sp>
          <p:grpSp>
            <p:nvGrpSpPr>
              <p:cNvPr id="420" name="그룹 419">
                <a:extLst>
                  <a:ext uri="{FF2B5EF4-FFF2-40B4-BE49-F238E27FC236}">
                    <a16:creationId xmlns:a16="http://schemas.microsoft.com/office/drawing/2014/main" id="{FB9C0466-6934-7045-5362-E2608D1AE84D}"/>
                  </a:ext>
                </a:extLst>
              </p:cNvPr>
              <p:cNvGrpSpPr/>
              <p:nvPr/>
            </p:nvGrpSpPr>
            <p:grpSpPr>
              <a:xfrm>
                <a:off x="363101" y="2749925"/>
                <a:ext cx="169766" cy="169766"/>
                <a:chOff x="9263424" y="3385502"/>
                <a:chExt cx="248555" cy="248555"/>
              </a:xfrm>
            </p:grpSpPr>
            <p:sp>
              <p:nvSpPr>
                <p:cNvPr id="421" name="사각형: 둥근 모서리 420">
                  <a:extLst>
                    <a:ext uri="{FF2B5EF4-FFF2-40B4-BE49-F238E27FC236}">
                      <a16:creationId xmlns:a16="http://schemas.microsoft.com/office/drawing/2014/main" id="{3F0552CC-2A17-4771-345F-C819321E491B}"/>
                    </a:ext>
                  </a:extLst>
                </p:cNvPr>
                <p:cNvSpPr/>
                <p:nvPr/>
              </p:nvSpPr>
              <p:spPr>
                <a:xfrm>
                  <a:off x="9263424" y="3385502"/>
                  <a:ext cx="248555" cy="2485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22" name="TextBox 421">
                  <a:extLst>
                    <a:ext uri="{FF2B5EF4-FFF2-40B4-BE49-F238E27FC236}">
                      <a16:creationId xmlns:a16="http://schemas.microsoft.com/office/drawing/2014/main" id="{FBB23E81-244C-891E-BEC3-8DD7E2B0EEDE}"/>
                    </a:ext>
                  </a:extLst>
                </p:cNvPr>
                <p:cNvSpPr txBox="1"/>
                <p:nvPr/>
              </p:nvSpPr>
              <p:spPr>
                <a:xfrm>
                  <a:off x="9337714" y="3408390"/>
                  <a:ext cx="99981" cy="202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grpSp>
        <p:nvGrpSpPr>
          <p:cNvPr id="423" name="그룹 422">
            <a:extLst>
              <a:ext uri="{FF2B5EF4-FFF2-40B4-BE49-F238E27FC236}">
                <a16:creationId xmlns:a16="http://schemas.microsoft.com/office/drawing/2014/main" id="{852407BC-04BB-6C75-0B3F-50AC99EA34D6}"/>
              </a:ext>
            </a:extLst>
          </p:cNvPr>
          <p:cNvGrpSpPr/>
          <p:nvPr/>
        </p:nvGrpSpPr>
        <p:grpSpPr>
          <a:xfrm>
            <a:off x="6072730" y="2574211"/>
            <a:ext cx="2639270" cy="1016681"/>
            <a:chOff x="432000" y="2584259"/>
            <a:chExt cx="2639270" cy="1016681"/>
          </a:xfrm>
        </p:grpSpPr>
        <p:sp>
          <p:nvSpPr>
            <p:cNvPr id="424" name="사각형: 둥근 모서리 423">
              <a:extLst>
                <a:ext uri="{FF2B5EF4-FFF2-40B4-BE49-F238E27FC236}">
                  <a16:creationId xmlns:a16="http://schemas.microsoft.com/office/drawing/2014/main" id="{EF4CB35C-3B7E-576F-1C9E-17E560C4753A}"/>
                </a:ext>
              </a:extLst>
            </p:cNvPr>
            <p:cNvSpPr/>
            <p:nvPr/>
          </p:nvSpPr>
          <p:spPr>
            <a:xfrm>
              <a:off x="432000" y="2584259"/>
              <a:ext cx="2639270" cy="1016681"/>
            </a:xfrm>
            <a:prstGeom prst="roundRect">
              <a:avLst>
                <a:gd name="adj" fmla="val 5556"/>
              </a:avLst>
            </a:prstGeom>
            <a:solidFill>
              <a:srgbClr val="EC6570"/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1D488B91-C3A5-60B0-1AE7-17EE6C919FEE}"/>
                </a:ext>
              </a:extLst>
            </p:cNvPr>
            <p:cNvSpPr txBox="1"/>
            <p:nvPr/>
          </p:nvSpPr>
          <p:spPr>
            <a:xfrm>
              <a:off x="587574" y="2968234"/>
              <a:ext cx="2031325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사실 문장마다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어디서 나온 숫자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인지 출처 필수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출처를 못 대는 문장은 출력 자체가 차단</a:t>
              </a:r>
            </a:p>
          </p:txBody>
        </p: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6039D72E-2FF1-4450-6346-88BB35F1B9B0}"/>
                </a:ext>
              </a:extLst>
            </p:cNvPr>
            <p:cNvGrpSpPr/>
            <p:nvPr/>
          </p:nvGrpSpPr>
          <p:grpSpPr>
            <a:xfrm>
              <a:off x="587574" y="2734781"/>
              <a:ext cx="1465196" cy="200055"/>
              <a:chOff x="363102" y="2734781"/>
              <a:chExt cx="1465196" cy="200055"/>
            </a:xfrm>
          </p:grpSpPr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CE4B23BD-3E44-73A9-5789-27715DA00839}"/>
                  </a:ext>
                </a:extLst>
              </p:cNvPr>
              <p:cNvSpPr txBox="1"/>
              <p:nvPr/>
            </p:nvSpPr>
            <p:spPr>
              <a:xfrm>
                <a:off x="587574" y="2734781"/>
                <a:ext cx="1240724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출처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(citation)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강제</a:t>
                </a:r>
              </a:p>
            </p:txBody>
          </p:sp>
          <p:grpSp>
            <p:nvGrpSpPr>
              <p:cNvPr id="428" name="그룹 427">
                <a:extLst>
                  <a:ext uri="{FF2B5EF4-FFF2-40B4-BE49-F238E27FC236}">
                    <a16:creationId xmlns:a16="http://schemas.microsoft.com/office/drawing/2014/main" id="{26C96681-3371-EFDA-4E25-5AA3FD1480A2}"/>
                  </a:ext>
                </a:extLst>
              </p:cNvPr>
              <p:cNvGrpSpPr/>
              <p:nvPr/>
            </p:nvGrpSpPr>
            <p:grpSpPr>
              <a:xfrm>
                <a:off x="363102" y="2749925"/>
                <a:ext cx="169766" cy="169766"/>
                <a:chOff x="9263424" y="3385502"/>
                <a:chExt cx="248555" cy="248555"/>
              </a:xfrm>
            </p:grpSpPr>
            <p:sp>
              <p:nvSpPr>
                <p:cNvPr id="429" name="사각형: 둥근 모서리 428">
                  <a:extLst>
                    <a:ext uri="{FF2B5EF4-FFF2-40B4-BE49-F238E27FC236}">
                      <a16:creationId xmlns:a16="http://schemas.microsoft.com/office/drawing/2014/main" id="{E4561A86-3079-6696-C3E6-D4F8C4E8CDAB}"/>
                    </a:ext>
                  </a:extLst>
                </p:cNvPr>
                <p:cNvSpPr/>
                <p:nvPr/>
              </p:nvSpPr>
              <p:spPr>
                <a:xfrm>
                  <a:off x="9263424" y="3385502"/>
                  <a:ext cx="248555" cy="2485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0" name="TextBox 429">
                  <a:extLst>
                    <a:ext uri="{FF2B5EF4-FFF2-40B4-BE49-F238E27FC236}">
                      <a16:creationId xmlns:a16="http://schemas.microsoft.com/office/drawing/2014/main" id="{895DBBED-5086-0186-C5BA-79747AC064D0}"/>
                    </a:ext>
                  </a:extLst>
                </p:cNvPr>
                <p:cNvSpPr txBox="1"/>
                <p:nvPr/>
              </p:nvSpPr>
              <p:spPr>
                <a:xfrm>
                  <a:off x="9330670" y="3408390"/>
                  <a:ext cx="114062" cy="202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C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2B59E294-CD81-50A4-0609-D5B3379DCC1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3688135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A1D4-4125-A829-D383-D90257AB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F8F2367-B162-06BA-CAC2-4E98C6C1E1D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6728A04-DE83-3C96-9CE7-EC51592C62B3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6838D60-8611-5092-034B-1F8AD2385AB8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1CBFE7B-C54D-34D8-18DB-152339CD0BF4}"/>
                </a:ext>
              </a:extLst>
            </p:cNvPr>
            <p:cNvGrpSpPr/>
            <p:nvPr/>
          </p:nvGrpSpPr>
          <p:grpSpPr>
            <a:xfrm>
              <a:off x="404618" y="922962"/>
              <a:ext cx="8642839" cy="662057"/>
              <a:chOff x="404618" y="928733"/>
              <a:chExt cx="8642839" cy="662057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3A55EA-BBCF-90CC-0751-FF046046F0E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377067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MVP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별도 벡터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DB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필요 없습니다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같은 백본 위에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단체주문 테이블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확장 </a:t>
                </a:r>
                <a:endPara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group_order_requests · supplier_capacity · quote_options · proposal_logs · order_conversion_logs · delivery_cs_logs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603F2D-D35B-C699-E865-015E46D937B5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283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시계열·벡터·B2B 단체주문을 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DB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에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PostgreSQL + </a:t>
                </a:r>
                <a:r>
                  <a:rPr kumimoji="0" lang="en-US" altLang="ko-KR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pgvector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단일 백본의 핵심 스키마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47CBAD68-657B-15B9-C77A-70D767E2AC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DB596-06A3-A7FB-156F-14158FE4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66D74-DC67-61BB-15CD-669B8F91AAD5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공통 기반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모델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저장 구조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EFB776CD-070B-148A-2407-44144F814A90}"/>
              </a:ext>
            </a:extLst>
          </p:cNvPr>
          <p:cNvSpPr/>
          <p:nvPr/>
        </p:nvSpPr>
        <p:spPr>
          <a:xfrm>
            <a:off x="3285596" y="2185061"/>
            <a:ext cx="2572808" cy="2154100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 w="6350"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사각형: 둥근 위쪽 모서리 109">
            <a:extLst>
              <a:ext uri="{FF2B5EF4-FFF2-40B4-BE49-F238E27FC236}">
                <a16:creationId xmlns:a16="http://schemas.microsoft.com/office/drawing/2014/main" id="{B39254E3-E217-3DCC-4799-FB6C3751CAA5}"/>
              </a:ext>
            </a:extLst>
          </p:cNvPr>
          <p:cNvSpPr/>
          <p:nvPr/>
        </p:nvSpPr>
        <p:spPr>
          <a:xfrm>
            <a:off x="3285596" y="2185061"/>
            <a:ext cx="2572808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A071429-47A9-F909-163C-686C942F280C}"/>
              </a:ext>
            </a:extLst>
          </p:cNvPr>
          <p:cNvSpPr txBox="1"/>
          <p:nvPr/>
        </p:nvSpPr>
        <p:spPr>
          <a:xfrm>
            <a:off x="4136946" y="2254728"/>
            <a:ext cx="870110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daily_metrics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0A10104-6A92-BD51-3E47-513BB0690917}"/>
              </a:ext>
            </a:extLst>
          </p:cNvPr>
          <p:cNvSpPr txBox="1"/>
          <p:nvPr/>
        </p:nvSpPr>
        <p:spPr>
          <a:xfrm>
            <a:off x="3430578" y="2621887"/>
            <a:ext cx="2004075" cy="12875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keyword_id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FK → keywords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metric_date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DATE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source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datalab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naver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/google/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youtube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mention_count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INT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언급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 수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search_ratio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REAL 0~100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sentiment_pos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REAL 0~1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extra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-JSONB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소스별 부가지표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PK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(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keyword_id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date, source)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F283AD4-8BD2-1200-2FE5-450229E4F96D}"/>
              </a:ext>
            </a:extLst>
          </p:cNvPr>
          <p:cNvSpPr/>
          <p:nvPr/>
        </p:nvSpPr>
        <p:spPr>
          <a:xfrm>
            <a:off x="432000" y="2185061"/>
            <a:ext cx="2572808" cy="2154100"/>
          </a:xfrm>
          <a:prstGeom prst="roundRect">
            <a:avLst>
              <a:gd name="adj" fmla="val 3175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5B80E698-62CE-048B-FE66-945A41056DA4}"/>
              </a:ext>
            </a:extLst>
          </p:cNvPr>
          <p:cNvSpPr/>
          <p:nvPr/>
        </p:nvSpPr>
        <p:spPr>
          <a:xfrm>
            <a:off x="432000" y="2185061"/>
            <a:ext cx="2572808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1881C59-1054-7A9A-E1DB-FB164F88FA22}"/>
              </a:ext>
            </a:extLst>
          </p:cNvPr>
          <p:cNvSpPr txBox="1"/>
          <p:nvPr/>
        </p:nvSpPr>
        <p:spPr>
          <a:xfrm>
            <a:off x="1389949" y="2254728"/>
            <a:ext cx="656911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keywords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453380A-E85D-631B-1991-E032A960F5C5}"/>
              </a:ext>
            </a:extLst>
          </p:cNvPr>
          <p:cNvSpPr txBox="1"/>
          <p:nvPr/>
        </p:nvSpPr>
        <p:spPr>
          <a:xfrm>
            <a:off x="576982" y="2621887"/>
            <a:ext cx="1825821" cy="630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SERIAL PK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term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TEXT UNIQUE - '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category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빵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초콜릿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음료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…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created_at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TIMESTAMPTZ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62ABE5EC-0718-FDD2-AB90-13C78DE9FE70}"/>
              </a:ext>
            </a:extLst>
          </p:cNvPr>
          <p:cNvSpPr/>
          <p:nvPr/>
        </p:nvSpPr>
        <p:spPr>
          <a:xfrm>
            <a:off x="6139192" y="2185061"/>
            <a:ext cx="2572808" cy="2154100"/>
          </a:xfrm>
          <a:prstGeom prst="roundRect">
            <a:avLst>
              <a:gd name="adj" fmla="val 3175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사각형: 둥근 위쪽 모서리 135">
            <a:extLst>
              <a:ext uri="{FF2B5EF4-FFF2-40B4-BE49-F238E27FC236}">
                <a16:creationId xmlns:a16="http://schemas.microsoft.com/office/drawing/2014/main" id="{2FAB2B24-19D1-CDAB-1ED5-EB61AEFF52BB}"/>
              </a:ext>
            </a:extLst>
          </p:cNvPr>
          <p:cNvSpPr/>
          <p:nvPr/>
        </p:nvSpPr>
        <p:spPr>
          <a:xfrm>
            <a:off x="6139192" y="2185061"/>
            <a:ext cx="2572808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606F2FF-1D27-5698-4242-929703E4D540}"/>
              </a:ext>
            </a:extLst>
          </p:cNvPr>
          <p:cNvSpPr txBox="1"/>
          <p:nvPr/>
        </p:nvSpPr>
        <p:spPr>
          <a:xfrm>
            <a:off x="7049372" y="2254728"/>
            <a:ext cx="752450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documents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B7E1A8-9411-B548-8DF4-2C437BE9EF45}"/>
              </a:ext>
            </a:extLst>
          </p:cNvPr>
          <p:cNvSpPr txBox="1"/>
          <p:nvPr/>
        </p:nvSpPr>
        <p:spPr>
          <a:xfrm>
            <a:off x="6284174" y="2621887"/>
            <a:ext cx="1821653" cy="7950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BIGSERIAL PK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keyword_id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FK → keywords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title /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url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메타데이터만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X)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posted_at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TIMESTAMPTZ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embedding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vector(768) -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pgvector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9F3B5FBC-01BB-2B26-8E5B-F67A33936502}"/>
              </a:ext>
            </a:extLst>
          </p:cNvPr>
          <p:cNvSpPr>
            <a:spLocks/>
          </p:cNvSpPr>
          <p:nvPr/>
        </p:nvSpPr>
        <p:spPr>
          <a:xfrm>
            <a:off x="431999" y="4527888"/>
            <a:ext cx="4048803" cy="1620000"/>
          </a:xfrm>
          <a:prstGeom prst="roundRect">
            <a:avLst>
              <a:gd name="adj" fmla="val 6950"/>
            </a:avLst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EBF3FCA7-BB66-A5BC-7CEC-0A74D0FB4997}"/>
              </a:ext>
            </a:extLst>
          </p:cNvPr>
          <p:cNvGrpSpPr/>
          <p:nvPr/>
        </p:nvGrpSpPr>
        <p:grpSpPr>
          <a:xfrm>
            <a:off x="605062" y="5086467"/>
            <a:ext cx="3702675" cy="449345"/>
            <a:chOff x="767124" y="5072485"/>
            <a:chExt cx="3702675" cy="408495"/>
          </a:xfrm>
        </p:grpSpPr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CFA957F9-8F69-40BD-CAD7-957C72622CC8}"/>
                </a:ext>
              </a:extLst>
            </p:cNvPr>
            <p:cNvGrpSpPr/>
            <p:nvPr/>
          </p:nvGrpSpPr>
          <p:grpSpPr>
            <a:xfrm>
              <a:off x="767124" y="5072485"/>
              <a:ext cx="848837" cy="408495"/>
              <a:chOff x="805707" y="5052060"/>
              <a:chExt cx="771670" cy="449345"/>
            </a:xfrm>
          </p:grpSpPr>
          <p:sp>
            <p:nvSpPr>
              <p:cNvPr id="140" name="사각형: 둥근 모서리 139">
                <a:extLst>
                  <a:ext uri="{FF2B5EF4-FFF2-40B4-BE49-F238E27FC236}">
                    <a16:creationId xmlns:a16="http://schemas.microsoft.com/office/drawing/2014/main" id="{BEF15709-8DCE-D1F4-CFCF-F099357667AC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C1DE44E-E22A-0D23-2780-8FD35D7F66F7}"/>
                  </a:ext>
                </a:extLst>
              </p:cNvPr>
              <p:cNvSpPr txBox="1"/>
              <p:nvPr/>
            </p:nvSpPr>
            <p:spPr>
              <a:xfrm>
                <a:off x="940993" y="5207483"/>
                <a:ext cx="50109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질의 텍스트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2E7E2821-36EB-441A-2223-B5C38AB54357}"/>
                </a:ext>
              </a:extLst>
            </p:cNvPr>
            <p:cNvGrpSpPr/>
            <p:nvPr/>
          </p:nvGrpSpPr>
          <p:grpSpPr>
            <a:xfrm>
              <a:off x="1718404" y="5072485"/>
              <a:ext cx="848837" cy="408495"/>
              <a:chOff x="805707" y="5052060"/>
              <a:chExt cx="771670" cy="449345"/>
            </a:xfrm>
          </p:grpSpPr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578F9672-98AE-BAAF-A457-0009C1E6FEE6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C0F7A636-CF1E-8946-4B76-39D66C837373}"/>
                  </a:ext>
                </a:extLst>
              </p:cNvPr>
              <p:cNvSpPr txBox="1"/>
              <p:nvPr/>
            </p:nvSpPr>
            <p:spPr>
              <a:xfrm>
                <a:off x="912473" y="5131821"/>
                <a:ext cx="558136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임베딩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(384~768d)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BC4963C5-C229-891A-0DEA-F6107A7F1CF8}"/>
                </a:ext>
              </a:extLst>
            </p:cNvPr>
            <p:cNvGrpSpPr/>
            <p:nvPr/>
          </p:nvGrpSpPr>
          <p:grpSpPr>
            <a:xfrm>
              <a:off x="2669684" y="5072485"/>
              <a:ext cx="848837" cy="408495"/>
              <a:chOff x="805707" y="5052060"/>
              <a:chExt cx="771670" cy="449345"/>
            </a:xfrm>
          </p:grpSpPr>
          <p:sp>
            <p:nvSpPr>
              <p:cNvPr id="147" name="사각형: 둥근 모서리 146">
                <a:extLst>
                  <a:ext uri="{FF2B5EF4-FFF2-40B4-BE49-F238E27FC236}">
                    <a16:creationId xmlns:a16="http://schemas.microsoft.com/office/drawing/2014/main" id="{1AD033ED-1C6F-C904-1DAD-E7A52C063FF2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04E85EF-5520-9111-98DE-F28AD5E2CA6C}"/>
                  </a:ext>
                </a:extLst>
              </p:cNvPr>
              <p:cNvSpPr txBox="1"/>
              <p:nvPr/>
            </p:nvSpPr>
            <p:spPr>
              <a:xfrm>
                <a:off x="913058" y="5131821"/>
                <a:ext cx="556970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cosine top-k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ivfflat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2720659B-45F6-C13E-CDF4-2B4D1F29CFA3}"/>
                </a:ext>
              </a:extLst>
            </p:cNvPr>
            <p:cNvGrpSpPr/>
            <p:nvPr/>
          </p:nvGrpSpPr>
          <p:grpSpPr>
            <a:xfrm>
              <a:off x="3620963" y="5072485"/>
              <a:ext cx="848836" cy="408495"/>
              <a:chOff x="805707" y="5052060"/>
              <a:chExt cx="771670" cy="449345"/>
            </a:xfrm>
          </p:grpSpPr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DCAE06C-7435-416B-69C3-7E2918B230DA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8992A8C-C0F4-CF2E-C2F0-EF6183C98FA1}"/>
                  </a:ext>
                </a:extLst>
              </p:cNvPr>
              <p:cNvSpPr txBox="1"/>
              <p:nvPr/>
            </p:nvSpPr>
            <p:spPr>
              <a:xfrm>
                <a:off x="918888" y="5131821"/>
                <a:ext cx="545312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후보 →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하드필터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랭킹</a:t>
                </a:r>
              </a:p>
            </p:txBody>
          </p:sp>
        </p:grp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6347E8DF-E3D1-F94C-6B48-CD6072034ECC}"/>
              </a:ext>
            </a:extLst>
          </p:cNvPr>
          <p:cNvSpPr txBox="1"/>
          <p:nvPr/>
        </p:nvSpPr>
        <p:spPr>
          <a:xfrm>
            <a:off x="1112122" y="5650787"/>
            <a:ext cx="2688557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임베딩은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오픈소스 로컬 모델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(sentence-transformers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다국어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비용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품질 필요 시 선택 교체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974D7751-F566-7BB4-168A-55C5F086BE15}"/>
              </a:ext>
            </a:extLst>
          </p:cNvPr>
          <p:cNvSpPr>
            <a:spLocks/>
          </p:cNvSpPr>
          <p:nvPr/>
        </p:nvSpPr>
        <p:spPr>
          <a:xfrm>
            <a:off x="4663197" y="4527888"/>
            <a:ext cx="4048803" cy="1620000"/>
          </a:xfrm>
          <a:prstGeom prst="roundRect">
            <a:avLst>
              <a:gd name="adj" fmla="val 6950"/>
            </a:avLst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AD0C75A-816B-5611-CB5E-D736665DE971}"/>
              </a:ext>
            </a:extLst>
          </p:cNvPr>
          <p:cNvSpPr txBox="1"/>
          <p:nvPr/>
        </p:nvSpPr>
        <p:spPr>
          <a:xfrm>
            <a:off x="4922930" y="5071141"/>
            <a:ext cx="2619307" cy="8822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Postgres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통합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시계열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벡터 + B2B 주문 동거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수요·공급·견적·전환 로그가 지표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×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근거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 쿼리로 결합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인프라 최소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집계 지표 중심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원문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미보관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제목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URL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메타만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저작권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개인정보 리스크 구조적 차단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인덱스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idx_metrics_date + ivfflat(embedding)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확장 시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관리형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(RDS/Supabase)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무중단 전환</a:t>
            </a:r>
          </a:p>
        </p:txBody>
      </p:sp>
      <p:sp>
        <p:nvSpPr>
          <p:cNvPr id="202" name="화살표: 오른쪽 201">
            <a:extLst>
              <a:ext uri="{FF2B5EF4-FFF2-40B4-BE49-F238E27FC236}">
                <a16:creationId xmlns:a16="http://schemas.microsoft.com/office/drawing/2014/main" id="{E2FCF051-F14F-FC79-7F2C-7FE2DE9D9899}"/>
              </a:ext>
            </a:extLst>
          </p:cNvPr>
          <p:cNvSpPr/>
          <p:nvPr/>
        </p:nvSpPr>
        <p:spPr>
          <a:xfrm>
            <a:off x="1453899" y="5254245"/>
            <a:ext cx="124499" cy="113788"/>
          </a:xfrm>
          <a:prstGeom prst="rightArrow">
            <a:avLst>
              <a:gd name="adj1" fmla="val 70927"/>
              <a:gd name="adj2" fmla="val 49999"/>
            </a:avLst>
          </a:prstGeom>
          <a:gradFill flip="none" rotWithShape="1">
            <a:gsLst>
              <a:gs pos="13000">
                <a:srgbClr val="EC6570"/>
              </a:gs>
              <a:gs pos="100000">
                <a:srgbClr val="EC657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화살표: 오른쪽 202">
            <a:extLst>
              <a:ext uri="{FF2B5EF4-FFF2-40B4-BE49-F238E27FC236}">
                <a16:creationId xmlns:a16="http://schemas.microsoft.com/office/drawing/2014/main" id="{2CF7CEC0-B7EA-472F-DBC8-F544219B5C38}"/>
              </a:ext>
            </a:extLst>
          </p:cNvPr>
          <p:cNvSpPr/>
          <p:nvPr/>
        </p:nvSpPr>
        <p:spPr>
          <a:xfrm>
            <a:off x="2405179" y="5254245"/>
            <a:ext cx="124499" cy="113788"/>
          </a:xfrm>
          <a:prstGeom prst="rightArrow">
            <a:avLst>
              <a:gd name="adj1" fmla="val 70927"/>
              <a:gd name="adj2" fmla="val 49999"/>
            </a:avLst>
          </a:prstGeom>
          <a:gradFill flip="none" rotWithShape="1">
            <a:gsLst>
              <a:gs pos="13000">
                <a:srgbClr val="EC6570"/>
              </a:gs>
              <a:gs pos="100000">
                <a:srgbClr val="EC657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" name="화살표: 오른쪽 203">
            <a:extLst>
              <a:ext uri="{FF2B5EF4-FFF2-40B4-BE49-F238E27FC236}">
                <a16:creationId xmlns:a16="http://schemas.microsoft.com/office/drawing/2014/main" id="{028EDFE5-8A47-5F59-C203-54C8D5E4A830}"/>
              </a:ext>
            </a:extLst>
          </p:cNvPr>
          <p:cNvSpPr/>
          <p:nvPr/>
        </p:nvSpPr>
        <p:spPr>
          <a:xfrm>
            <a:off x="3356459" y="5254245"/>
            <a:ext cx="124499" cy="113788"/>
          </a:xfrm>
          <a:prstGeom prst="rightArrow">
            <a:avLst>
              <a:gd name="adj1" fmla="val 70927"/>
              <a:gd name="adj2" fmla="val 49999"/>
            </a:avLst>
          </a:prstGeom>
          <a:gradFill flip="none" rotWithShape="1">
            <a:gsLst>
              <a:gs pos="13000">
                <a:srgbClr val="EC6570"/>
              </a:gs>
              <a:gs pos="100000">
                <a:srgbClr val="EC657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161F85AB-D911-30C9-AA4B-B1E195ED9F7D}"/>
              </a:ext>
            </a:extLst>
          </p:cNvPr>
          <p:cNvGrpSpPr/>
          <p:nvPr/>
        </p:nvGrpSpPr>
        <p:grpSpPr>
          <a:xfrm>
            <a:off x="548946" y="3986047"/>
            <a:ext cx="8046108" cy="243425"/>
            <a:chOff x="548946" y="3986047"/>
            <a:chExt cx="8046108" cy="243425"/>
          </a:xfrm>
        </p:grpSpPr>
        <p:sp>
          <p:nvSpPr>
            <p:cNvPr id="205" name="사각형: 둥근 모서리 204">
              <a:extLst>
                <a:ext uri="{FF2B5EF4-FFF2-40B4-BE49-F238E27FC236}">
                  <a16:creationId xmlns:a16="http://schemas.microsoft.com/office/drawing/2014/main" id="{B3125100-CE42-E13A-544B-E848D908D27E}"/>
                </a:ext>
              </a:extLst>
            </p:cNvPr>
            <p:cNvSpPr/>
            <p:nvPr/>
          </p:nvSpPr>
          <p:spPr>
            <a:xfrm>
              <a:off x="3402542" y="3986047"/>
              <a:ext cx="2338916" cy="243425"/>
            </a:xfrm>
            <a:prstGeom prst="roundRect">
              <a:avLst/>
            </a:prstGeom>
            <a:solidFill>
              <a:srgbClr val="EC6570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D28312B3-7F3C-8272-4F1C-CF8887AB2F96}"/>
                </a:ext>
              </a:extLst>
            </p:cNvPr>
            <p:cNvSpPr/>
            <p:nvPr/>
          </p:nvSpPr>
          <p:spPr>
            <a:xfrm>
              <a:off x="548946" y="3986047"/>
              <a:ext cx="2338916" cy="243425"/>
            </a:xfrm>
            <a:prstGeom prst="roundRect">
              <a:avLst/>
            </a:prstGeom>
            <a:solidFill>
              <a:srgbClr val="232323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09C011D0-6C27-407F-F76F-06DEB7254A41}"/>
                </a:ext>
              </a:extLst>
            </p:cNvPr>
            <p:cNvSpPr/>
            <p:nvPr/>
          </p:nvSpPr>
          <p:spPr>
            <a:xfrm>
              <a:off x="6256138" y="3986047"/>
              <a:ext cx="2338916" cy="243425"/>
            </a:xfrm>
            <a:prstGeom prst="roundRect">
              <a:avLst/>
            </a:prstGeom>
            <a:solidFill>
              <a:srgbClr val="232323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28D3AEF-1E58-9D4D-3415-D7844CB51764}"/>
                </a:ext>
              </a:extLst>
            </p:cNvPr>
            <p:cNvSpPr txBox="1"/>
            <p:nvPr/>
          </p:nvSpPr>
          <p:spPr>
            <a:xfrm>
              <a:off x="755160" y="4038510"/>
              <a:ext cx="192648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자가성장 사전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신조어 확정 시 즉시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INSERT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A0B9BEF-4153-C3A8-B302-EE181456EF16}"/>
                </a:ext>
              </a:extLst>
            </p:cNvPr>
            <p:cNvSpPr txBox="1"/>
            <p:nvPr/>
          </p:nvSpPr>
          <p:spPr>
            <a:xfrm>
              <a:off x="3767933" y="4038510"/>
              <a:ext cx="160813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시계열 심장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스코어링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 입력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23C9B0C-8345-F4E2-6540-5982DD3AFA1A}"/>
                </a:ext>
              </a:extLst>
            </p:cNvPr>
            <p:cNvSpPr txBox="1"/>
            <p:nvPr/>
          </p:nvSpPr>
          <p:spPr>
            <a:xfrm>
              <a:off x="6652628" y="4038510"/>
              <a:ext cx="154593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의미검색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 retrieve)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 후보 풀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263DE42-98BE-2D18-6862-1E691C930859}"/>
              </a:ext>
            </a:extLst>
          </p:cNvPr>
          <p:cNvGrpSpPr/>
          <p:nvPr/>
        </p:nvGrpSpPr>
        <p:grpSpPr>
          <a:xfrm>
            <a:off x="605062" y="4716712"/>
            <a:ext cx="2550490" cy="275682"/>
            <a:chOff x="605062" y="4716712"/>
            <a:chExt cx="2550490" cy="275682"/>
          </a:xfrm>
        </p:grpSpPr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7E1B69B2-93A0-F1A0-033B-46C959AE4867}"/>
                </a:ext>
              </a:extLst>
            </p:cNvPr>
            <p:cNvGrpSpPr/>
            <p:nvPr/>
          </p:nvGrpSpPr>
          <p:grpSpPr>
            <a:xfrm>
              <a:off x="605062" y="4716712"/>
              <a:ext cx="2550490" cy="275682"/>
              <a:chOff x="712740" y="4628439"/>
              <a:chExt cx="2550490" cy="275682"/>
            </a:xfrm>
          </p:grpSpPr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509E827-4B66-D912-2DAB-572D719D81D3}"/>
                  </a:ext>
                </a:extLst>
              </p:cNvPr>
              <p:cNvSpPr txBox="1"/>
              <p:nvPr/>
            </p:nvSpPr>
            <p:spPr>
              <a:xfrm>
                <a:off x="1079619" y="4643170"/>
                <a:ext cx="21836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의미검색 쿼리 흐름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안건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2)</a:t>
                </a:r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40CE3348-E75B-4D7B-F14A-EDCBDA86E2E9}"/>
                  </a:ext>
                </a:extLst>
              </p:cNvPr>
              <p:cNvSpPr/>
              <p:nvPr/>
            </p:nvSpPr>
            <p:spPr>
              <a:xfrm>
                <a:off x="712740" y="4628439"/>
                <a:ext cx="275682" cy="275682"/>
              </a:xfrm>
              <a:prstGeom prst="ellipse">
                <a:avLst/>
              </a:prstGeom>
              <a:gradFill>
                <a:gsLst>
                  <a:gs pos="12000">
                    <a:srgbClr val="EC6570"/>
                  </a:gs>
                  <a:gs pos="100000">
                    <a:srgbClr val="EC6570">
                      <a:lumMod val="77000"/>
                      <a:lumOff val="23000"/>
                    </a:srgb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A86A7E6A-1BA2-DB3C-25D6-28A000CAE5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1538" y="4793188"/>
              <a:ext cx="122731" cy="122731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8FF6829-C892-02CE-A2B4-26A399F38AA8}"/>
              </a:ext>
            </a:extLst>
          </p:cNvPr>
          <p:cNvGrpSpPr/>
          <p:nvPr/>
        </p:nvGrpSpPr>
        <p:grpSpPr>
          <a:xfrm>
            <a:off x="4836260" y="4716712"/>
            <a:ext cx="1670121" cy="275682"/>
            <a:chOff x="4836260" y="4716712"/>
            <a:chExt cx="1670121" cy="275682"/>
          </a:xfrm>
        </p:grpSpPr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8773FC53-3173-8C02-228E-58BA1E0C23EF}"/>
                </a:ext>
              </a:extLst>
            </p:cNvPr>
            <p:cNvGrpSpPr/>
            <p:nvPr/>
          </p:nvGrpSpPr>
          <p:grpSpPr>
            <a:xfrm>
              <a:off x="4836260" y="4716712"/>
              <a:ext cx="1670121" cy="275682"/>
              <a:chOff x="712740" y="4628439"/>
              <a:chExt cx="1670121" cy="275682"/>
            </a:xfrm>
          </p:grpSpPr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968F695F-C6A9-FB80-3D93-169E24E971A1}"/>
                  </a:ext>
                </a:extLst>
              </p:cNvPr>
              <p:cNvSpPr txBox="1"/>
              <p:nvPr/>
            </p:nvSpPr>
            <p:spPr>
              <a:xfrm>
                <a:off x="1079619" y="4643170"/>
                <a:ext cx="13032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저장 설계 원칙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</a:p>
            </p:txBody>
          </p:sp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4ACDFA0E-F1AF-EBFD-DC77-22D6ECF8F168}"/>
                  </a:ext>
                </a:extLst>
              </p:cNvPr>
              <p:cNvSpPr/>
              <p:nvPr/>
            </p:nvSpPr>
            <p:spPr>
              <a:xfrm>
                <a:off x="712740" y="4628439"/>
                <a:ext cx="275682" cy="275682"/>
              </a:xfrm>
              <a:prstGeom prst="ellipse">
                <a:avLst/>
              </a:prstGeom>
              <a:gradFill>
                <a:gsLst>
                  <a:gs pos="12000">
                    <a:srgbClr val="EC6570"/>
                  </a:gs>
                  <a:gs pos="100000">
                    <a:srgbClr val="EC6570">
                      <a:lumMod val="77000"/>
                      <a:lumOff val="23000"/>
                    </a:srgb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803E7CFD-8879-41B9-D841-23C77930B1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1330" y="4788589"/>
              <a:ext cx="105542" cy="131928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0F57ED-6135-D159-7FFA-DDDE751D6993}"/>
              </a:ext>
            </a:extLst>
          </p:cNvPr>
          <p:cNvGrpSpPr/>
          <p:nvPr/>
        </p:nvGrpSpPr>
        <p:grpSpPr>
          <a:xfrm rot="16200000">
            <a:off x="3030471" y="3121374"/>
            <a:ext cx="228780" cy="281475"/>
            <a:chOff x="4143015" y="5051011"/>
            <a:chExt cx="482372" cy="593477"/>
          </a:xfrm>
        </p:grpSpPr>
        <p:sp>
          <p:nvSpPr>
            <p:cNvPr id="11" name="화살표: 아래쪽 10">
              <a:extLst>
                <a:ext uri="{FF2B5EF4-FFF2-40B4-BE49-F238E27FC236}">
                  <a16:creationId xmlns:a16="http://schemas.microsoft.com/office/drawing/2014/main" id="{FE4CA6C2-AC20-AEF2-9BFC-985AF0067A26}"/>
                </a:ext>
              </a:extLst>
            </p:cNvPr>
            <p:cNvSpPr/>
            <p:nvPr/>
          </p:nvSpPr>
          <p:spPr>
            <a:xfrm>
              <a:off x="4143015" y="5051011"/>
              <a:ext cx="482372" cy="518066"/>
            </a:xfrm>
            <a:prstGeom prst="downArrow">
              <a:avLst>
                <a:gd name="adj1" fmla="val 68356"/>
                <a:gd name="adj2" fmla="val 50000"/>
              </a:avLst>
            </a:prstGeom>
            <a:gradFill flip="none" rotWithShape="1">
              <a:gsLst>
                <a:gs pos="0">
                  <a:srgbClr val="EC6570">
                    <a:alpha val="0"/>
                  </a:srgbClr>
                </a:gs>
                <a:gs pos="100000">
                  <a:srgbClr val="EC6570"/>
                </a:gs>
              </a:gsLst>
              <a:lin ang="540000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04448649-7082-957A-E948-C5C1630D29B8}"/>
                </a:ext>
              </a:extLst>
            </p:cNvPr>
            <p:cNvSpPr/>
            <p:nvPr/>
          </p:nvSpPr>
          <p:spPr>
            <a:xfrm rot="10800000">
              <a:off x="4184497" y="5456841"/>
              <a:ext cx="399408" cy="187647"/>
            </a:xfrm>
            <a:prstGeom prst="triangle">
              <a:avLst/>
            </a:prstGeom>
            <a:gradFill>
              <a:gsLst>
                <a:gs pos="0">
                  <a:srgbClr val="EC6570">
                    <a:alpha val="50000"/>
                  </a:srgbClr>
                </a:gs>
                <a:gs pos="100000">
                  <a:srgbClr val="EC657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A7C3316-3661-6E28-72F2-2BF47CCDBF89}"/>
              </a:ext>
            </a:extLst>
          </p:cNvPr>
          <p:cNvGrpSpPr/>
          <p:nvPr/>
        </p:nvGrpSpPr>
        <p:grpSpPr>
          <a:xfrm rot="16200000">
            <a:off x="5888653" y="3121375"/>
            <a:ext cx="228780" cy="281475"/>
            <a:chOff x="4143015" y="5051011"/>
            <a:chExt cx="482372" cy="593477"/>
          </a:xfrm>
        </p:grpSpPr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9C33904E-5640-3696-89C6-518D8C09CABB}"/>
                </a:ext>
              </a:extLst>
            </p:cNvPr>
            <p:cNvSpPr/>
            <p:nvPr/>
          </p:nvSpPr>
          <p:spPr>
            <a:xfrm>
              <a:off x="4143015" y="5051011"/>
              <a:ext cx="482372" cy="518066"/>
            </a:xfrm>
            <a:prstGeom prst="downArrow">
              <a:avLst>
                <a:gd name="adj1" fmla="val 68356"/>
                <a:gd name="adj2" fmla="val 50000"/>
              </a:avLst>
            </a:prstGeom>
            <a:gradFill flip="none" rotWithShape="1">
              <a:gsLst>
                <a:gs pos="0">
                  <a:srgbClr val="EC6570">
                    <a:alpha val="0"/>
                  </a:srgbClr>
                </a:gs>
                <a:gs pos="100000">
                  <a:srgbClr val="EC6570"/>
                </a:gs>
              </a:gsLst>
              <a:lin ang="540000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78480583-5116-30B9-2327-561EDD2D5D4C}"/>
                </a:ext>
              </a:extLst>
            </p:cNvPr>
            <p:cNvSpPr/>
            <p:nvPr/>
          </p:nvSpPr>
          <p:spPr>
            <a:xfrm rot="10800000">
              <a:off x="4184497" y="5456841"/>
              <a:ext cx="399408" cy="187647"/>
            </a:xfrm>
            <a:prstGeom prst="triangle">
              <a:avLst/>
            </a:prstGeom>
            <a:gradFill>
              <a:gsLst>
                <a:gs pos="0">
                  <a:srgbClr val="EC6570">
                    <a:alpha val="50000"/>
                  </a:srgbClr>
                </a:gs>
                <a:gs pos="100000">
                  <a:srgbClr val="EC657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A65E222-BCAD-4385-FD8A-DBF9407478F7}"/>
              </a:ext>
            </a:extLst>
          </p:cNvPr>
          <p:cNvGrpSpPr/>
          <p:nvPr/>
        </p:nvGrpSpPr>
        <p:grpSpPr>
          <a:xfrm>
            <a:off x="2921983" y="2811678"/>
            <a:ext cx="446438" cy="234265"/>
            <a:chOff x="2634319" y="3586598"/>
            <a:chExt cx="446438" cy="234265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AFEE8F0-3230-0BD2-2DD4-9020B2F819CC}"/>
                </a:ext>
              </a:extLst>
            </p:cNvPr>
            <p:cNvSpPr/>
            <p:nvPr/>
          </p:nvSpPr>
          <p:spPr>
            <a:xfrm>
              <a:off x="2634319" y="3586598"/>
              <a:ext cx="446438" cy="23426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AC65AE-ADED-12E8-57FA-F1DDA91FF39C}"/>
                </a:ext>
              </a:extLst>
            </p:cNvPr>
            <p:cNvSpPr txBox="1"/>
            <p:nvPr/>
          </p:nvSpPr>
          <p:spPr>
            <a:xfrm>
              <a:off x="2756549" y="3634481"/>
              <a:ext cx="20197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r>
                <a:rPr lang="en-US" altLang="ko-KR" sz="90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 : N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BC32A9-ED74-B179-9D92-4F5C4363BCE3}"/>
              </a:ext>
            </a:extLst>
          </p:cNvPr>
          <p:cNvGrpSpPr/>
          <p:nvPr/>
        </p:nvGrpSpPr>
        <p:grpSpPr>
          <a:xfrm>
            <a:off x="5775579" y="2811678"/>
            <a:ext cx="446438" cy="234265"/>
            <a:chOff x="2634319" y="3586598"/>
            <a:chExt cx="446438" cy="234265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117D3FA-8A77-6D7E-4E70-EAA19D4D3600}"/>
                </a:ext>
              </a:extLst>
            </p:cNvPr>
            <p:cNvSpPr/>
            <p:nvPr/>
          </p:nvSpPr>
          <p:spPr>
            <a:xfrm>
              <a:off x="2634319" y="3586598"/>
              <a:ext cx="446438" cy="23426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D69D6A3-465C-CB1F-3CFC-262C666637C4}"/>
                </a:ext>
              </a:extLst>
            </p:cNvPr>
            <p:cNvSpPr txBox="1"/>
            <p:nvPr/>
          </p:nvSpPr>
          <p:spPr>
            <a:xfrm>
              <a:off x="2756549" y="3634481"/>
              <a:ext cx="20197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r>
                <a:rPr lang="en-US" altLang="ko-KR" sz="90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 : 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1929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5473-9B46-84E6-D807-F876A5CA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A3F7593-2E87-9940-1E64-E565E7F4CF8E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7BB7791-B731-9CFB-F44A-3D06F1E58B8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19A78EC-6662-DA99-2123-BE3DB8A0236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D676720-A951-C60A-C021-A8F0DDF40416}"/>
                </a:ext>
              </a:extLst>
            </p:cNvPr>
            <p:cNvGrpSpPr/>
            <p:nvPr/>
          </p:nvGrpSpPr>
          <p:grpSpPr>
            <a:xfrm>
              <a:off x="404618" y="922962"/>
              <a:ext cx="6897081" cy="523558"/>
              <a:chOff x="404618" y="928733"/>
              <a:chExt cx="689708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ABAC8B-A4AF-A102-F926-CB414CFEF5E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단순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프롬프팅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임계값으로는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목표 정확도가 나오지 않는 난제에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베이스라인 대비 개선폭으로 검증 가능한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설정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568D28-24D0-73E8-6F54-8261E348688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6175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난제와 정량 목표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정확도 자체가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입니다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FA6E584-03AB-D96A-B94A-BECFD55630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A72FDC-9804-F09F-F1D7-180489C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71D33-77EF-0E19-0CA3-FD221D1E646E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결과물의 성능 지표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9561826B-44A0-5276-71E9-4815F63E7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62990"/>
              </p:ext>
            </p:extLst>
          </p:nvPr>
        </p:nvGraphicFramePr>
        <p:xfrm>
          <a:off x="432000" y="2203167"/>
          <a:ext cx="8280001" cy="2270499"/>
        </p:xfrm>
        <a:graphic>
          <a:graphicData uri="http://schemas.openxmlformats.org/drawingml/2006/table">
            <a:tbl>
              <a:tblPr/>
              <a:tblGrid>
                <a:gridCol w="270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499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R&amp;D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평가항목 (성능지표)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왜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연구인가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 전 수준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(국내 베이스라인)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목표치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(KPI · 비중)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 설정 근거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(자체 기법)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노이즈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섞인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멀티소스에서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정점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前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성장기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진입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식별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언급량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이동평균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임계는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광고성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급등에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속고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정점을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포착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성장기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탐지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정밀도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재현율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0.70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언론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리드타임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14일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반짝유행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오탐률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S-curve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피팅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+ 1·2차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미분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모멘텀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곡선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시계열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유사도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도메인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NER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탐지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신메뉴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은어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발견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범용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NER은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합성어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('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크룽지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’)를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누락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(OOV)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신조어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탐지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F1 ≥ 0.80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평균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포착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7일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빈도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급증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발굴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표기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정규화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자가성장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도메인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사전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융합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텍스트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영상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거래를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한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점수로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단일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합산은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편향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미반영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융합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스코어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적중률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최량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단일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+15%p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성적표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학습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이상치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필터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교차검증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통제형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인사이트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있는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브리핑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사실을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지어냄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오류율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주장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추적률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 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책임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citation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강제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 적용 KPI 기술이 매출로 이어지는가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큐레이션은 채택·전환이 측정되지 않음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추천 트렌드 상품화율 · 입점사 채택률 추천 상품 주문 전환율 (분기 실측) 반짝형/지속형 분류 정확도 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≥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0.80  [비중 20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%]</a:t>
                      </a:r>
                      <a:endParaRPr lang="en-US" sz="800" b="0" spc="-30" baseline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오픈베타 로그 기반 실측 + 분기 KPI 게이트(M9) 연동 + 오탐률 ≤ 20% 상시 관리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38824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C7B9895-9CA4-35B2-BF74-AA3C379022BF}"/>
              </a:ext>
            </a:extLst>
          </p:cNvPr>
          <p:cNvSpPr txBox="1"/>
          <p:nvPr/>
        </p:nvSpPr>
        <p:spPr>
          <a:xfrm>
            <a:off x="431999" y="4556439"/>
            <a:ext cx="4085734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112713" marR="0" lvl="0" indent="-1127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 방법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환경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12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콜드스타트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ko-KR" altLang="en-US" sz="12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백테스팅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제안 단계에서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 실측 가능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ADC0F89-9E88-102D-3FC7-02C378BA9D25}"/>
              </a:ext>
            </a:extLst>
          </p:cNvPr>
          <p:cNvGrpSpPr/>
          <p:nvPr/>
        </p:nvGrpSpPr>
        <p:grpSpPr>
          <a:xfrm>
            <a:off x="432000" y="4808095"/>
            <a:ext cx="1998752" cy="1177925"/>
            <a:chOff x="432000" y="4870470"/>
            <a:chExt cx="1998752" cy="117792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D36DD1B5-5CF5-22C6-8670-B26D537558B7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2805E89-153A-24D4-77F9-9DB95B3EE751}"/>
                </a:ext>
              </a:extLst>
            </p:cNvPr>
            <p:cNvGrpSpPr/>
            <p:nvPr/>
          </p:nvGrpSpPr>
          <p:grpSpPr>
            <a:xfrm>
              <a:off x="569780" y="4994426"/>
              <a:ext cx="1641475" cy="930013"/>
              <a:chOff x="569780" y="5055514"/>
              <a:chExt cx="1641475" cy="93001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F3D75B-C0BD-CFA9-89D7-F35B6AC296F8}"/>
                  </a:ext>
                </a:extLst>
              </p:cNvPr>
              <p:cNvSpPr txBox="1"/>
              <p:nvPr/>
            </p:nvSpPr>
            <p:spPr>
              <a:xfrm>
                <a:off x="569780" y="5055514"/>
                <a:ext cx="48891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① </a:t>
                </a:r>
                <a:r>
                  <a:rPr kumimoji="0" lang="ko-KR" altLang="en-US" sz="105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검증셋</a:t>
                </a:r>
                <a:endPara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3478870-35B5-EE69-88EE-4877127FED12}"/>
                  </a:ext>
                </a:extLst>
              </p:cNvPr>
              <p:cNvSpPr txBox="1"/>
              <p:nvPr/>
            </p:nvSpPr>
            <p:spPr>
              <a:xfrm>
                <a:off x="569780" y="5267382"/>
                <a:ext cx="1641475" cy="71814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흥망 시점이 보도로 확인되는 과거 아이템의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실제 정점월을 라벨 고정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- 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탕후루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('23-08) 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('24-07) ·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요아정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('24-08) 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베이글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소금빵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 반례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두쫀쿠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('26-01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최신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016A170-078C-CD52-1EB3-444C388051E2}"/>
              </a:ext>
            </a:extLst>
          </p:cNvPr>
          <p:cNvSpPr txBox="1"/>
          <p:nvPr/>
        </p:nvSpPr>
        <p:spPr>
          <a:xfrm>
            <a:off x="431999" y="6070057"/>
            <a:ext cx="733149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KPI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목표치는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픽미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공동연구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PoC(v1)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대비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개선폭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부풀린 절대치가 아니라 검증 가능한 향상 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|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 과제 특성상 합격선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(0.7~0.8)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매칭 과제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 : 0.85~0.95)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보다 낮게 설정한 정직한 목표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C6A6414-8361-5579-731D-CBAD95422872}"/>
              </a:ext>
            </a:extLst>
          </p:cNvPr>
          <p:cNvGrpSpPr/>
          <p:nvPr/>
        </p:nvGrpSpPr>
        <p:grpSpPr>
          <a:xfrm>
            <a:off x="2525750" y="4808095"/>
            <a:ext cx="1998752" cy="1177925"/>
            <a:chOff x="432000" y="4870470"/>
            <a:chExt cx="1998752" cy="1177925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7FDE69B-7377-E362-9C21-6278769F4E13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3425F33-283E-ACFF-D341-84EA9DD47E90}"/>
                </a:ext>
              </a:extLst>
            </p:cNvPr>
            <p:cNvGrpSpPr/>
            <p:nvPr/>
          </p:nvGrpSpPr>
          <p:grpSpPr>
            <a:xfrm>
              <a:off x="569780" y="4994426"/>
              <a:ext cx="1417376" cy="930013"/>
              <a:chOff x="569780" y="5055514"/>
              <a:chExt cx="1417376" cy="930013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BF39565-F505-86CD-284B-7C1F0A5C5F84}"/>
                  </a:ext>
                </a:extLst>
              </p:cNvPr>
              <p:cNvSpPr txBox="1"/>
              <p:nvPr/>
            </p:nvSpPr>
            <p:spPr>
              <a:xfrm>
                <a:off x="569780" y="5055514"/>
                <a:ext cx="71526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② 시뮬레이션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3EE0426-0810-AC9C-F719-DC5F40E26DE1}"/>
                  </a:ext>
                </a:extLst>
              </p:cNvPr>
              <p:cNvSpPr txBox="1"/>
              <p:nvPr/>
            </p:nvSpPr>
            <p:spPr>
              <a:xfrm>
                <a:off x="569780" y="5267382"/>
                <a:ext cx="1417376" cy="71814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날짜를 하루씩 진행하며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그날까지의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데이터만으로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 stage()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처음 성장기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판정한 날 기록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미래 정보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누설 차단이 핵심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데이터 불필요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공개 과거데이터만으로 가능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3B2A4F3-70F8-3A2C-DEC3-54218A9D1CD4}"/>
              </a:ext>
            </a:extLst>
          </p:cNvPr>
          <p:cNvGrpSpPr/>
          <p:nvPr/>
        </p:nvGrpSpPr>
        <p:grpSpPr>
          <a:xfrm>
            <a:off x="4619500" y="4808095"/>
            <a:ext cx="1998752" cy="1177925"/>
            <a:chOff x="432000" y="4870470"/>
            <a:chExt cx="1998752" cy="117792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EA0D68E-470D-1419-4E1B-EB23E86E4492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42DC35B-49F3-C544-13D4-0861399BDCFC}"/>
                </a:ext>
              </a:extLst>
            </p:cNvPr>
            <p:cNvGrpSpPr/>
            <p:nvPr/>
          </p:nvGrpSpPr>
          <p:grpSpPr>
            <a:xfrm>
              <a:off x="569780" y="4994426"/>
              <a:ext cx="1596912" cy="781255"/>
              <a:chOff x="569780" y="5055514"/>
              <a:chExt cx="1596912" cy="781255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04428F5-875C-7E70-23E0-88182DD0C6AF}"/>
                  </a:ext>
                </a:extLst>
              </p:cNvPr>
              <p:cNvSpPr txBox="1"/>
              <p:nvPr/>
            </p:nvSpPr>
            <p:spPr>
              <a:xfrm>
                <a:off x="569780" y="5055514"/>
                <a:ext cx="63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③ 평가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비교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8F0FE63-9E34-A70D-001C-DD364C0930ED}"/>
                  </a:ext>
                </a:extLst>
              </p:cNvPr>
              <p:cNvSpPr txBox="1"/>
              <p:nvPr/>
            </p:nvSpPr>
            <p:spPr>
              <a:xfrm>
                <a:off x="569780" y="5267382"/>
                <a:ext cx="1596912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리드타임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정점일−신호일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적중률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오탐률을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베이스라인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언급량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 이동평균 임계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동일 검증셋에서 나란히 산출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개선폭이 곧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가치의 직접 증거</a:t>
                </a: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1A460D30-07BE-B401-BA29-437A12D1F366}"/>
              </a:ext>
            </a:extLst>
          </p:cNvPr>
          <p:cNvGrpSpPr/>
          <p:nvPr/>
        </p:nvGrpSpPr>
        <p:grpSpPr>
          <a:xfrm>
            <a:off x="6713249" y="4808095"/>
            <a:ext cx="1998752" cy="1177925"/>
            <a:chOff x="432000" y="4870470"/>
            <a:chExt cx="1998752" cy="117792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5E68240-9A3A-E86C-0B07-BBC578B253FB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491C2102-6525-17F7-DD6B-82E3D99351C5}"/>
                </a:ext>
              </a:extLst>
            </p:cNvPr>
            <p:cNvGrpSpPr/>
            <p:nvPr/>
          </p:nvGrpSpPr>
          <p:grpSpPr>
            <a:xfrm>
              <a:off x="569780" y="4994426"/>
              <a:ext cx="1599797" cy="632496"/>
              <a:chOff x="569780" y="5055514"/>
              <a:chExt cx="1599797" cy="632496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A560CEF-9F12-0B22-D032-44BF2E2CC80A}"/>
                  </a:ext>
                </a:extLst>
              </p:cNvPr>
              <p:cNvSpPr txBox="1"/>
              <p:nvPr/>
            </p:nvSpPr>
            <p:spPr>
              <a:xfrm>
                <a:off x="569780" y="5055514"/>
                <a:ext cx="63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④ 재현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공인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F511470-FE20-B74A-F7DD-E8FBD7B061FF}"/>
                  </a:ext>
                </a:extLst>
              </p:cNvPr>
              <p:cNvSpPr txBox="1"/>
              <p:nvPr/>
            </p:nvSpPr>
            <p:spPr>
              <a:xfrm>
                <a:off x="569780" y="5267382"/>
                <a:ext cx="1599797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임계값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교차검증 튜닝 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데이터셋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결과표를 재현 가능한 형태로 보관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발표 근거 및 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 공인 제출 대비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4526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59C0-0DEE-9B7A-B1FE-B0991FA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DD49AB2-7DFD-333E-7A72-7FC2A6990F0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C47B0DE-927F-F256-3450-FB2C850642B4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A007E7D-1343-5750-7E47-9BC18B3502E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F34CCAC-C6B2-34F3-DFF0-181A47F1B33E}"/>
                </a:ext>
              </a:extLst>
            </p:cNvPr>
            <p:cNvGrpSpPr/>
            <p:nvPr/>
          </p:nvGrpSpPr>
          <p:grpSpPr>
            <a:xfrm>
              <a:off x="404618" y="922962"/>
              <a:ext cx="8240485" cy="523558"/>
              <a:chOff x="404618" y="928733"/>
              <a:chExt cx="8240485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659B3F-9208-C785-BDC0-2ED79BC7331B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 매칭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단일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임베딩으로는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목표 품질이 나오지 않는 난제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골든셋에서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베이스라인과 같은 시험지로 개선폭을 측정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BCEE11-2F79-F6F5-3266-662157F4BC0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881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6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난제와 정량 목표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신뢰의 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마지노선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하드제약 위반 ≤ 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1%)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까지 수치로 못박습니다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389E6031-77D7-5ECA-EB99-8EE362B71D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45D00F-F270-35E7-7B20-F76F5E73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EB3129-0947-65CD-E8EC-4A2710BF3325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결과물의 성능 지표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CF1CEA6C-DEA8-689E-0497-18C5F955F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101613"/>
              </p:ext>
            </p:extLst>
          </p:nvPr>
        </p:nvGraphicFramePr>
        <p:xfrm>
          <a:off x="432000" y="2203166"/>
          <a:ext cx="8280001" cy="2256965"/>
        </p:xfrm>
        <a:graphic>
          <a:graphicData uri="http://schemas.openxmlformats.org/drawingml/2006/table">
            <a:tbl>
              <a:tblPr/>
              <a:tblGrid>
                <a:gridCol w="270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121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R&amp;D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평가항목 (성능지표)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왜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연구인가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 전 수준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(국내 베이스라인)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목표치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(KPI · 비중)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 설정 근거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(자체 기법)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맛·식이·가격·지역·일정·용도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해석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키워드·정규식은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복합·암묵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제약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("안 단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")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누락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슬롯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F1 ≥ 0.85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질의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되묻기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적중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0.80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출력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스키마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LangGraph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능동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되묻기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루프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하이브리드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다신호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LTR –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하드제약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평판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지역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융합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BM25·단일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임베딩은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의도-제약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충족에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약함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랭킹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품질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nDCG@10 :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규칙기반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+20%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하드제약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식이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지역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위반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추천율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하이브리드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의미+키워드+하드필터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클릭·전환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피드백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Learning-to-Rank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전국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카탈로그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엔티티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레졸루션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&amp;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신선도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중복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병합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운영상태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보장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상호명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매칭은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중복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폐업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오류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중복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병합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정확도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0.95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폐업·휴업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오추천율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상호+주소+좌표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다축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공공데이터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재검증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부스트와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분리·통제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신뢰를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지키며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수익화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혼입은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오가닉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오염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훼손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부스트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후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적합도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보존율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95%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부스트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상한·감사로그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준수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1차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부스트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별도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레이어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상한·라벨·감사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통제형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"왜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출처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단독은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영업상태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메뉴를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지어냄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사실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영업상태·메뉴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오류율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추적률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근거만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사실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=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DB·코드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설명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=LLM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citation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913271"/>
                  </a:ext>
                </a:extLst>
              </a:tr>
              <a:tr h="66418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운영 KPI 상담·견적이 주문으로 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이어지는가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상담은 리드타임 길고 전환 사유 미기록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요청조건 슬롯 추출 정확도 ≥ 0.85 · 공급 가능 브랜드 추천 정확도 ≥ 0.90 견적 제안 리드타임 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단축률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≥ 50% · 추천 옵션 선택률 · 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견적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→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주문 전환율 분기 실측  [비중 20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%]</a:t>
                      </a:r>
                      <a:endParaRPr lang="en-US" sz="800" b="0" kern="1200" spc="-30" baseline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오픈베타 대비 개선폭 실측 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(수작업 로그 = 베이스라인) 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KPI 게이트(M9) 연동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295283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78CA350E-A9DF-3AB2-589E-C80AA889BFC3}"/>
              </a:ext>
            </a:extLst>
          </p:cNvPr>
          <p:cNvSpPr txBox="1"/>
          <p:nvPr/>
        </p:nvSpPr>
        <p:spPr>
          <a:xfrm>
            <a:off x="431999" y="6070057"/>
            <a:ext cx="644888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nDCG@10 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상위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개를 얼마나 좋은 순서로 줄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세웠나의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표준 잣대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절대값은 시험지 구성에 좌우되므로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같은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골든셋에서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베이스라인 대비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+20%'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공정하게 비교합니다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2EF8280-2BBA-86D4-A23A-BC48970A724C}"/>
              </a:ext>
            </a:extLst>
          </p:cNvPr>
          <p:cNvGrpSpPr/>
          <p:nvPr/>
        </p:nvGrpSpPr>
        <p:grpSpPr>
          <a:xfrm>
            <a:off x="431999" y="4690364"/>
            <a:ext cx="8280002" cy="1295656"/>
            <a:chOff x="431999" y="4556439"/>
            <a:chExt cx="8280002" cy="129565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3756E6-EDD4-2B39-25BB-5F3C23C43CFA}"/>
                </a:ext>
              </a:extLst>
            </p:cNvPr>
            <p:cNvSpPr txBox="1"/>
            <p:nvPr/>
          </p:nvSpPr>
          <p:spPr>
            <a:xfrm>
              <a:off x="431999" y="4556439"/>
              <a:ext cx="443422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112713" marR="0" lvl="0" indent="-11271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평가 방법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환경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12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골든셋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기반 추천품질 평가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얇은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MVP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데모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좁고 깊게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5E51D1C-5A7F-3BF8-201C-E2434DA1D559}"/>
                </a:ext>
              </a:extLst>
            </p:cNvPr>
            <p:cNvSpPr/>
            <p:nvPr/>
          </p:nvSpPr>
          <p:spPr>
            <a:xfrm>
              <a:off x="432000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FBB4FE2-A658-3BAF-CFD5-C622E3B0C50C}"/>
                </a:ext>
              </a:extLst>
            </p:cNvPr>
            <p:cNvSpPr/>
            <p:nvPr/>
          </p:nvSpPr>
          <p:spPr>
            <a:xfrm>
              <a:off x="2525750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AF0A996-9A49-BC11-76B0-806B00B8A1A8}"/>
                </a:ext>
              </a:extLst>
            </p:cNvPr>
            <p:cNvSpPr/>
            <p:nvPr/>
          </p:nvSpPr>
          <p:spPr>
            <a:xfrm>
              <a:off x="4619500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36737DE-924C-B209-E1D1-A2010F31A774}"/>
                </a:ext>
              </a:extLst>
            </p:cNvPr>
            <p:cNvSpPr/>
            <p:nvPr/>
          </p:nvSpPr>
          <p:spPr>
            <a:xfrm>
              <a:off x="6713249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A02458D-198B-39F9-6D04-0BF1A05C1800}"/>
                </a:ext>
              </a:extLst>
            </p:cNvPr>
            <p:cNvGrpSpPr/>
            <p:nvPr/>
          </p:nvGrpSpPr>
          <p:grpSpPr>
            <a:xfrm>
              <a:off x="569780" y="4939468"/>
              <a:ext cx="7878481" cy="781255"/>
              <a:chOff x="569780" y="4932051"/>
              <a:chExt cx="7878481" cy="781255"/>
            </a:xfrm>
          </p:grpSpPr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9482B2EE-30A0-150F-D9B8-71CA4A5A40E7}"/>
                  </a:ext>
                </a:extLst>
              </p:cNvPr>
              <p:cNvGrpSpPr/>
              <p:nvPr/>
            </p:nvGrpSpPr>
            <p:grpSpPr>
              <a:xfrm>
                <a:off x="569780" y="4932051"/>
                <a:ext cx="1292983" cy="632496"/>
                <a:chOff x="569780" y="5055514"/>
                <a:chExt cx="1292983" cy="632496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BFC24E5-EFFC-BC4D-4D76-5D9588394BB7}"/>
                    </a:ext>
                  </a:extLst>
                </p:cNvPr>
                <p:cNvSpPr txBox="1"/>
                <p:nvPr/>
              </p:nvSpPr>
              <p:spPr>
                <a:xfrm>
                  <a:off x="569780" y="5055514"/>
                  <a:ext cx="74347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① </a:t>
                  </a:r>
                  <a:r>
                    <a:rPr kumimoji="0" lang="ko-KR" altLang="en-US" sz="105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골든셋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구축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CACC313-B1E5-91FD-C278-2C244A29E555}"/>
                    </a:ext>
                  </a:extLst>
                </p:cNvPr>
                <p:cNvSpPr txBox="1"/>
                <p:nvPr/>
              </p:nvSpPr>
              <p:spPr>
                <a:xfrm>
                  <a:off x="569780" y="5267382"/>
                  <a:ext cx="1292983" cy="4206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서울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1~2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 구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핵심 카테고리 한정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,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대표 자연어 질의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50~100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개와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정답 업체 셋을 사람이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라벨링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FB536906-AA03-B894-2C75-CC541EBD9F29}"/>
                  </a:ext>
                </a:extLst>
              </p:cNvPr>
              <p:cNvGrpSpPr/>
              <p:nvPr/>
            </p:nvGrpSpPr>
            <p:grpSpPr>
              <a:xfrm>
                <a:off x="2663530" y="4932051"/>
                <a:ext cx="1217962" cy="632496"/>
                <a:chOff x="569780" y="5055514"/>
                <a:chExt cx="1217962" cy="632496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A47699E-0AFC-29DB-C3F0-9AEE76457F4A}"/>
                    </a:ext>
                  </a:extLst>
                </p:cNvPr>
                <p:cNvSpPr txBox="1"/>
                <p:nvPr/>
              </p:nvSpPr>
              <p:spPr>
                <a:xfrm>
                  <a:off x="569780" y="5055514"/>
                  <a:ext cx="856645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② 카탈로그 수집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BCA0D8B-05B6-8882-EC9D-FB911B257483}"/>
                    </a:ext>
                  </a:extLst>
                </p:cNvPr>
                <p:cNvSpPr txBox="1"/>
                <p:nvPr/>
              </p:nvSpPr>
              <p:spPr>
                <a:xfrm>
                  <a:off x="569780" y="5267382"/>
                  <a:ext cx="1217962" cy="4206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해당 범위 업체를 공개 소스로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수집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정규화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보유데이터 불필요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운영상태는 공공데이터 대조</a:t>
                  </a: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41A9DE22-DAE5-C20B-6D87-C3080901B142}"/>
                  </a:ext>
                </a:extLst>
              </p:cNvPr>
              <p:cNvGrpSpPr/>
              <p:nvPr/>
            </p:nvGrpSpPr>
            <p:grpSpPr>
              <a:xfrm>
                <a:off x="4757280" y="4932051"/>
                <a:ext cx="1492075" cy="781255"/>
                <a:chOff x="569780" y="5055514"/>
                <a:chExt cx="1492075" cy="781255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F4A696C-8373-40DE-588C-1CF62AF77570}"/>
                    </a:ext>
                  </a:extLst>
                </p:cNvPr>
                <p:cNvSpPr txBox="1"/>
                <p:nvPr/>
              </p:nvSpPr>
              <p:spPr>
                <a:xfrm>
                  <a:off x="569780" y="5055514"/>
                  <a:ext cx="37574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③ 평가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FAB6A97-0CAA-EB28-ECC6-0533250A7CEC}"/>
                    </a:ext>
                  </a:extLst>
                </p:cNvPr>
                <p:cNvSpPr txBox="1"/>
                <p:nvPr/>
              </p:nvSpPr>
              <p:spPr>
                <a:xfrm>
                  <a:off x="569780" y="5267382"/>
                  <a:ext cx="1492075" cy="5693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슬롯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F1 · nDCG@10 ·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하드제약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위반율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폐업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오추천율을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베이스라인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키워드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단일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임베딩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과 비교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블라인드 사람평가 병행</a:t>
                  </a:r>
                </a:p>
              </p:txBody>
            </p:sp>
          </p:grp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9343F549-F65F-D99F-9B92-218F15939EC8}"/>
                  </a:ext>
                </a:extLst>
              </p:cNvPr>
              <p:cNvGrpSpPr/>
              <p:nvPr/>
            </p:nvGrpSpPr>
            <p:grpSpPr>
              <a:xfrm>
                <a:off x="6851029" y="4932051"/>
                <a:ext cx="1597232" cy="632496"/>
                <a:chOff x="569780" y="5055514"/>
                <a:chExt cx="1597232" cy="632496"/>
              </a:xfrm>
            </p:grpSpPr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A291239-EA34-8A14-B4A0-3DB6DF82DDF4}"/>
                    </a:ext>
                  </a:extLst>
                </p:cNvPr>
                <p:cNvSpPr txBox="1"/>
                <p:nvPr/>
              </p:nvSpPr>
              <p:spPr>
                <a:xfrm>
                  <a:off x="569780" y="5055514"/>
                  <a:ext cx="945131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④ MVP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데모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공인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2EBE388-E2DC-4DA8-6B4F-E8501FBA53CF}"/>
                    </a:ext>
                  </a:extLst>
                </p:cNvPr>
                <p:cNvSpPr txBox="1"/>
                <p:nvPr/>
              </p:nvSpPr>
              <p:spPr>
                <a:xfrm>
                  <a:off x="569780" y="5267382"/>
                  <a:ext cx="1597232" cy="4206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채팅형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UI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라이브 데모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발표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분용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골든셋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평가코드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결과표는 재현 가능 보관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 공인 대비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3981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8324-A82E-579F-4285-ED38FCB1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29A9B8-CBF7-D4A2-F891-ED4879D6F930}"/>
              </a:ext>
            </a:extLst>
          </p:cNvPr>
          <p:cNvSpPr/>
          <p:nvPr/>
        </p:nvSpPr>
        <p:spPr>
          <a:xfrm>
            <a:off x="5052061" y="4374002"/>
            <a:ext cx="3659940" cy="1470204"/>
          </a:xfrm>
          <a:prstGeom prst="rect">
            <a:avLst/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BE2C526-6A97-22BB-6043-02563735F21E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84F55F2-F6CD-6107-021B-9C7ADCDE3099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A14A0B9-BF54-682A-14C2-0FEA55065FB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C77D9E-13A4-DEA3-0A22-DEA44DE5CC95}"/>
                </a:ext>
              </a:extLst>
            </p:cNvPr>
            <p:cNvGrpSpPr/>
            <p:nvPr/>
          </p:nvGrpSpPr>
          <p:grpSpPr>
            <a:xfrm>
              <a:off x="404618" y="922962"/>
              <a:ext cx="8135969" cy="523558"/>
              <a:chOff x="404618" y="928733"/>
              <a:chExt cx="813596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A265CB-439A-8DF8-97F9-49C7B702A364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57327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방법론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대시보드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입증되는 선행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제로베이스 개발이 아닌, 검증된 자체 알고리즘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추천·랭킹으로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고도화하는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R&amp;D입니다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42B695-B77C-9F39-5171-74CCF64669C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7771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맨바닥 아이디어가 아닙니다 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lang="ko-KR" altLang="en-US" spc="-30" err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픽미팀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정식 공동연구로 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이미 작동하는 자체기법 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v1'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확보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B02F863A-2A4A-C104-33B7-E492FA3954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35DAD5-CA4B-DD22-7BD3-06C8B207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0FF99-EB0E-7DF8-4F67-E4931C6943B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현황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(Preparation Status)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74CFFDB0-1CAF-0780-9560-47368CE5D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33327"/>
              </p:ext>
            </p:extLst>
          </p:nvPr>
        </p:nvGraphicFramePr>
        <p:xfrm>
          <a:off x="432000" y="2203167"/>
          <a:ext cx="8280001" cy="1804499"/>
        </p:xfrm>
        <a:graphic>
          <a:graphicData uri="http://schemas.openxmlformats.org/drawingml/2006/table">
            <a:tbl>
              <a:tblPr/>
              <a:tblGrid>
                <a:gridCol w="270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499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공동연구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방법론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작동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PoC)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산출물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과제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매핑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TIPS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심사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의미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시계열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카테고리·지역별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차트군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성장·계절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패턴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1 -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조기예측의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고도화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출발점</a:t>
                      </a:r>
                      <a:endParaRPr lang="en-US" sz="900" b="0" kern="1200" spc="-30" baseline="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선행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자체기법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v1)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선행 R&amp;D 이력 (개발 적정성)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파이프라인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전처리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추출·집계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랭킹·시계열화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(Python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1·2 -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질의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적합도·연관어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도메인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가게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평점·리뷰수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등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정규화·가중합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컷오프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S~D 5등급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v1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베이스라인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베이스라인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실현성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클러스터링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가게·고객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4개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프로파일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특징·키워드·전략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세그먼트별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타깃팅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인사이트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개인화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936DB62B-17CB-F341-DD72-E958621B6DB1}"/>
              </a:ext>
            </a:extLst>
          </p:cNvPr>
          <p:cNvSpPr txBox="1"/>
          <p:nvPr/>
        </p:nvSpPr>
        <p:spPr>
          <a:xfrm>
            <a:off x="431999" y="5900768"/>
            <a:ext cx="41511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PoC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츄이쿠키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=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검색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+112% · SNS +90% →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종합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80.7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점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위 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정확 상수는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PoC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원본이 정본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4284-689D-350F-04E8-4638BA916D9C}"/>
              </a:ext>
            </a:extLst>
          </p:cNvPr>
          <p:cNvSpPr txBox="1"/>
          <p:nvPr/>
        </p:nvSpPr>
        <p:spPr>
          <a:xfrm>
            <a:off x="431999" y="4137691"/>
            <a:ext cx="3948197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112713" marR="0" lvl="0" indent="-1127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점수 기준이 있나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?" -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있습니다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트렌드 점수 공식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v1 (PoC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실체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5C660A9E-62C9-791B-8EE3-7EA06E56819F}"/>
              </a:ext>
            </a:extLst>
          </p:cNvPr>
          <p:cNvGraphicFramePr>
            <a:graphicFrameLocks noGrp="1"/>
          </p:cNvGraphicFramePr>
          <p:nvPr/>
        </p:nvGraphicFramePr>
        <p:xfrm>
          <a:off x="432000" y="4374002"/>
          <a:ext cx="4437181" cy="1470204"/>
        </p:xfrm>
        <a:graphic>
          <a:graphicData uri="http://schemas.openxmlformats.org/drawingml/2006/table">
            <a:tbl>
              <a:tblPr/>
              <a:tblGrid>
                <a:gridCol w="137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53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신호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가중치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쉽게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말하면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증가율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실제로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찾아보는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사람이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느는가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SNS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언급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증가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입소문이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퍼지는가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바이럴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감성(긍정도)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좋게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얘기되는가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욕먹는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 의향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한 번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먹고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마는가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또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사는가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인구통계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우리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타깃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(20대·여성 등)에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맞는가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D856CCEE-D8EA-0A85-6C64-1F0FD87622E3}"/>
              </a:ext>
            </a:extLst>
          </p:cNvPr>
          <p:cNvGrpSpPr/>
          <p:nvPr/>
        </p:nvGrpSpPr>
        <p:grpSpPr>
          <a:xfrm>
            <a:off x="5249438" y="4519562"/>
            <a:ext cx="3265186" cy="1179084"/>
            <a:chOff x="5250164" y="4590674"/>
            <a:chExt cx="3265186" cy="117908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3BF69C-3A01-C187-C54A-EA1058AD1A1C}"/>
                </a:ext>
              </a:extLst>
            </p:cNvPr>
            <p:cNvSpPr txBox="1"/>
            <p:nvPr/>
          </p:nvSpPr>
          <p:spPr>
            <a:xfrm>
              <a:off x="5250164" y="4590674"/>
              <a:ext cx="193771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본 과제의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R&amp;D = v1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</a:t>
              </a:r>
              <a:r>
                <a:rPr kumimoji="0" lang="ko-KR" altLang="en-US" sz="12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개선폭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BF3A65-BA57-7795-0719-4398707E8E89}"/>
                </a:ext>
              </a:extLst>
            </p:cNvPr>
            <p:cNvSpPr txBox="1"/>
            <p:nvPr/>
          </p:nvSpPr>
          <p:spPr>
            <a:xfrm>
              <a:off x="5250164" y="4903623"/>
              <a:ext cx="3153748" cy="8661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고정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가중합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(v1) → S-curve·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모멘텀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시계열 유사도로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정점 前 성장기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 탐지</a:t>
              </a:r>
            </a:p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 피드백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추천→채택→성과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 가중치 자체를 학습</a:t>
              </a:r>
            </a:p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노하우 계승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시간창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다중 비교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(24h/7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/3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+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다신호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교차검증 경보</a:t>
              </a:r>
            </a:p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KPI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v1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대비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개선폭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부풀린 절대치가 아닌 검증 가능한 향상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B7BDB61-13C5-1C5C-D53C-C42A7ED24135}"/>
                </a:ext>
              </a:extLst>
            </p:cNvPr>
            <p:cNvCxnSpPr>
              <a:cxnSpLocks/>
            </p:cNvCxnSpPr>
            <p:nvPr/>
          </p:nvCxnSpPr>
          <p:spPr>
            <a:xfrm>
              <a:off x="5250164" y="4829175"/>
              <a:ext cx="3265186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rgbClr val="EC657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6E3ABDD-FEF1-9C0C-8815-D93CEA5CB4E1}"/>
              </a:ext>
            </a:extLst>
          </p:cNvPr>
          <p:cNvSpPr txBox="1"/>
          <p:nvPr/>
        </p:nvSpPr>
        <p:spPr>
          <a:xfrm>
            <a:off x="2560071" y="6125531"/>
            <a:ext cx="402385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증빙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공동연구 산출물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노션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 링크 보유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방법론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대시보드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—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단순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LLM API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통합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반박의 실물 근거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6" name="Picture 2" descr="딸기로픽">
            <a:extLst>
              <a:ext uri="{FF2B5EF4-FFF2-40B4-BE49-F238E27FC236}">
                <a16:creationId xmlns:a16="http://schemas.microsoft.com/office/drawing/2014/main" id="{889AEE24-A313-5927-2168-AA714FDEEE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20492" r="60396" b="20307"/>
          <a:stretch>
            <a:fillRect/>
          </a:stretch>
        </p:blipFill>
        <p:spPr bwMode="auto">
          <a:xfrm rot="973759">
            <a:off x="8266283" y="4242576"/>
            <a:ext cx="338157" cy="33815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390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6557-8795-EE10-2333-2DF98661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FCC9EFD-2F96-D9F0-E475-2BFE8485E6C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4C950FF-E865-B742-4309-71EC027B6F8B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3F3D09F-ED02-A00B-8BB8-8CA9278DFE08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308E2D2-4546-8C0F-6A31-02CE5F5F3695}"/>
                </a:ext>
              </a:extLst>
            </p:cNvPr>
            <p:cNvGrpSpPr/>
            <p:nvPr/>
          </p:nvGrpSpPr>
          <p:grpSpPr>
            <a:xfrm>
              <a:off x="404618" y="922962"/>
              <a:ext cx="7601207" cy="523558"/>
              <a:chOff x="404618" y="928733"/>
              <a:chExt cx="7601207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D69455-C473-38D5-53C5-CF14FFC48FC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68452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핵심 알고리즘이 모두 권리화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기술성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차별성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선행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이력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모방장벽을 한 번에 뒷받침하는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 증빙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A0CE10-3C5E-F181-D723-8F2C7C78035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242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기술 특허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건 출원 완료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기술 → 제품 → 사업이 한 줄로 연결되는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IP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패밀리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98895048-A6DD-3F6D-776C-58CD6A74CF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B18D79-8B09-A81E-0F4E-B8DC780F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A028A-9803-3B1B-AD85-0E7BF6E56D06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현황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지식재산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특허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36331B6-0F74-39DE-24B5-E71B070191F3}"/>
              </a:ext>
            </a:extLst>
          </p:cNvPr>
          <p:cNvGrpSpPr/>
          <p:nvPr/>
        </p:nvGrpSpPr>
        <p:grpSpPr>
          <a:xfrm>
            <a:off x="432000" y="2188738"/>
            <a:ext cx="8280001" cy="1029058"/>
            <a:chOff x="432000" y="2516115"/>
            <a:chExt cx="8280001" cy="102905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D4A0096-CEB2-B0EB-C893-2F229F8A7A64}"/>
                </a:ext>
              </a:extLst>
            </p:cNvPr>
            <p:cNvGrpSpPr/>
            <p:nvPr/>
          </p:nvGrpSpPr>
          <p:grpSpPr>
            <a:xfrm>
              <a:off x="432000" y="2516115"/>
              <a:ext cx="1901743" cy="1029058"/>
              <a:chOff x="480505" y="2516115"/>
              <a:chExt cx="1901743" cy="1029058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765F222D-F99E-CA2D-B4B5-E8BCA162A084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232323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89366B-AE62-7EF4-9F9B-C46740AA1B23}"/>
                  </a:ext>
                </a:extLst>
              </p:cNvPr>
              <p:cNvSpPr txBox="1"/>
              <p:nvPr/>
            </p:nvSpPr>
            <p:spPr>
              <a:xfrm>
                <a:off x="960895" y="2681022"/>
                <a:ext cx="9409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10-2025-0060352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1CB964-0002-8AE1-8239-49A8074DA36E}"/>
                  </a:ext>
                </a:extLst>
              </p:cNvPr>
              <p:cNvSpPr txBox="1"/>
              <p:nvPr/>
            </p:nvSpPr>
            <p:spPr>
              <a:xfrm>
                <a:off x="1032549" y="2869806"/>
                <a:ext cx="7976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인기도 지수</a:t>
                </a: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15173128-FFB5-3DC6-FEED-7B6C7FED31EE}"/>
                  </a:ext>
                </a:extLst>
              </p:cNvPr>
              <p:cNvGrpSpPr/>
              <p:nvPr/>
            </p:nvGrpSpPr>
            <p:grpSpPr>
              <a:xfrm>
                <a:off x="1059041" y="3160565"/>
                <a:ext cx="744670" cy="219701"/>
                <a:chOff x="738843" y="3292954"/>
                <a:chExt cx="839932" cy="219701"/>
              </a:xfrm>
            </p:grpSpPr>
            <p:sp>
              <p:nvSpPr>
                <p:cNvPr id="4" name="사각형: 둥근 모서리 3">
                  <a:extLst>
                    <a:ext uri="{FF2B5EF4-FFF2-40B4-BE49-F238E27FC236}">
                      <a16:creationId xmlns:a16="http://schemas.microsoft.com/office/drawing/2014/main" id="{6EF68B07-F661-504C-141F-EB6AD41079DD}"/>
                    </a:ext>
                  </a:extLst>
                </p:cNvPr>
                <p:cNvSpPr/>
                <p:nvPr/>
              </p:nvSpPr>
              <p:spPr>
                <a:xfrm>
                  <a:off x="738843" y="3292954"/>
                  <a:ext cx="839932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8762252-CD09-1736-414D-3662FAFDCF20}"/>
                    </a:ext>
                  </a:extLst>
                </p:cNvPr>
                <p:cNvSpPr txBox="1"/>
                <p:nvPr/>
              </p:nvSpPr>
              <p:spPr>
                <a:xfrm>
                  <a:off x="875304" y="3333555"/>
                  <a:ext cx="56701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데이터 기반</a:t>
                  </a:r>
                </a:p>
              </p:txBody>
            </p:sp>
          </p:grp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8E1F8866-5711-6B99-784B-C5A473286434}"/>
                </a:ext>
              </a:extLst>
            </p:cNvPr>
            <p:cNvGrpSpPr/>
            <p:nvPr/>
          </p:nvGrpSpPr>
          <p:grpSpPr>
            <a:xfrm>
              <a:off x="2558086" y="2516115"/>
              <a:ext cx="1901743" cy="1029058"/>
              <a:chOff x="480505" y="2516115"/>
              <a:chExt cx="1901743" cy="1029058"/>
            </a:xfrm>
          </p:grpSpPr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C746B4C6-487E-DF87-1AA0-C8C7DD2D8426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1C8333C-23A0-06F3-93F0-40783170C3E5}"/>
                  </a:ext>
                </a:extLst>
              </p:cNvPr>
              <p:cNvSpPr txBox="1"/>
              <p:nvPr/>
            </p:nvSpPr>
            <p:spPr>
              <a:xfrm>
                <a:off x="960895" y="2681022"/>
                <a:ext cx="9409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10-2025-0060353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1A54C96-D67B-044C-D096-4028728CA166}"/>
                  </a:ext>
                </a:extLst>
              </p:cNvPr>
              <p:cNvSpPr txBox="1"/>
              <p:nvPr/>
            </p:nvSpPr>
            <p:spPr>
              <a:xfrm>
                <a:off x="700246" y="2869806"/>
                <a:ext cx="1462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수요예측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입점제안</a:t>
                </a:r>
                <a:endPara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ECB9864C-947A-3ABC-744C-10E0D2F76216}"/>
                  </a:ext>
                </a:extLst>
              </p:cNvPr>
              <p:cNvGrpSpPr/>
              <p:nvPr/>
            </p:nvGrpSpPr>
            <p:grpSpPr>
              <a:xfrm>
                <a:off x="1021808" y="3160565"/>
                <a:ext cx="819137" cy="219701"/>
                <a:chOff x="696847" y="3292954"/>
                <a:chExt cx="923925" cy="219701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C6077F39-043C-CD5D-B6A9-9B8C5F7695E0}"/>
                    </a:ext>
                  </a:extLst>
                </p:cNvPr>
                <p:cNvSpPr/>
                <p:nvPr/>
              </p:nvSpPr>
              <p:spPr>
                <a:xfrm>
                  <a:off x="696847" y="3292954"/>
                  <a:ext cx="923925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5544A1F-15A1-F705-633B-C29E24F33EAC}"/>
                    </a:ext>
                  </a:extLst>
                </p:cNvPr>
                <p:cNvSpPr txBox="1"/>
                <p:nvPr/>
              </p:nvSpPr>
              <p:spPr>
                <a:xfrm>
                  <a:off x="822509" y="3333555"/>
                  <a:ext cx="67260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안건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1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핵심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IP</a:t>
                  </a:r>
                </a:p>
              </p:txBody>
            </p:sp>
          </p:grp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86759C1-EBA0-D766-91FC-7DF455C9E344}"/>
                </a:ext>
              </a:extLst>
            </p:cNvPr>
            <p:cNvGrpSpPr/>
            <p:nvPr/>
          </p:nvGrpSpPr>
          <p:grpSpPr>
            <a:xfrm>
              <a:off x="4684172" y="2516115"/>
              <a:ext cx="1901743" cy="1029058"/>
              <a:chOff x="480505" y="2516115"/>
              <a:chExt cx="1901743" cy="1029058"/>
            </a:xfrm>
          </p:grpSpPr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D7EF99E5-B2B6-4AE0-BEC8-361338D36EC6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438DD1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6DCEC03-0F7A-F071-B29A-BF8012A4A66E}"/>
                  </a:ext>
                </a:extLst>
              </p:cNvPr>
              <p:cNvSpPr txBox="1"/>
              <p:nvPr/>
            </p:nvSpPr>
            <p:spPr>
              <a:xfrm>
                <a:off x="960895" y="2681022"/>
                <a:ext cx="9409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10-2025-0060354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AA769F6-B008-C757-D4CB-9A5AAD786805}"/>
                  </a:ext>
                </a:extLst>
              </p:cNvPr>
              <p:cNvSpPr txBox="1"/>
              <p:nvPr/>
            </p:nvSpPr>
            <p:spPr>
              <a:xfrm>
                <a:off x="857982" y="2869806"/>
                <a:ext cx="114678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통합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개인화 추천</a:t>
                </a:r>
              </a:p>
            </p:txBody>
          </p: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24D111AE-F73A-653D-6448-464FB452F562}"/>
                  </a:ext>
                </a:extLst>
              </p:cNvPr>
              <p:cNvGrpSpPr/>
              <p:nvPr/>
            </p:nvGrpSpPr>
            <p:grpSpPr>
              <a:xfrm>
                <a:off x="1021808" y="3160565"/>
                <a:ext cx="819137" cy="219701"/>
                <a:chOff x="696847" y="3292954"/>
                <a:chExt cx="923925" cy="219701"/>
              </a:xfrm>
            </p:grpSpPr>
            <p:sp>
              <p:nvSpPr>
                <p:cNvPr id="86" name="사각형: 둥근 모서리 85">
                  <a:extLst>
                    <a:ext uri="{FF2B5EF4-FFF2-40B4-BE49-F238E27FC236}">
                      <a16:creationId xmlns:a16="http://schemas.microsoft.com/office/drawing/2014/main" id="{6FF716D5-3CB2-06BF-79D8-8639B1D93944}"/>
                    </a:ext>
                  </a:extLst>
                </p:cNvPr>
                <p:cNvSpPr/>
                <p:nvPr/>
              </p:nvSpPr>
              <p:spPr>
                <a:xfrm>
                  <a:off x="696847" y="3292954"/>
                  <a:ext cx="923925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438DD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95664C2-6BD4-E90D-451C-17E597F16486}"/>
                    </a:ext>
                  </a:extLst>
                </p:cNvPr>
                <p:cNvSpPr txBox="1"/>
                <p:nvPr/>
              </p:nvSpPr>
              <p:spPr>
                <a:xfrm>
                  <a:off x="812564" y="3333555"/>
                  <a:ext cx="69249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안건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2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핵심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IP</a:t>
                  </a:r>
                </a:p>
              </p:txBody>
            </p:sp>
          </p:grp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F5115CFB-E052-18B0-2BCD-E7641791A7E0}"/>
                </a:ext>
              </a:extLst>
            </p:cNvPr>
            <p:cNvGrpSpPr/>
            <p:nvPr/>
          </p:nvGrpSpPr>
          <p:grpSpPr>
            <a:xfrm>
              <a:off x="6810258" y="2516115"/>
              <a:ext cx="1901743" cy="1029058"/>
              <a:chOff x="480505" y="2516115"/>
              <a:chExt cx="1901743" cy="1029058"/>
            </a:xfrm>
          </p:grpSpPr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ABCF0B13-F6CF-AB84-37F4-32F84A96FDBC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232323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552682F-878A-4839-3811-3B7029BFDC8E}"/>
                  </a:ext>
                </a:extLst>
              </p:cNvPr>
              <p:cNvSpPr txBox="1"/>
              <p:nvPr/>
            </p:nvSpPr>
            <p:spPr>
              <a:xfrm>
                <a:off x="960895" y="2681022"/>
                <a:ext cx="9409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10-2025-0060355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5995190-5CDB-16F8-B311-749290D235DD}"/>
                  </a:ext>
                </a:extLst>
              </p:cNvPr>
              <p:cNvSpPr txBox="1"/>
              <p:nvPr/>
            </p:nvSpPr>
            <p:spPr>
              <a:xfrm>
                <a:off x="709544" y="2869806"/>
                <a:ext cx="144366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사내간식 배송 플랫폼</a:t>
                </a:r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A4F33305-4CBD-B3F9-786C-B6C36D24D9F2}"/>
                  </a:ext>
                </a:extLst>
              </p:cNvPr>
              <p:cNvGrpSpPr/>
              <p:nvPr/>
            </p:nvGrpSpPr>
            <p:grpSpPr>
              <a:xfrm>
                <a:off x="1069992" y="3160565"/>
                <a:ext cx="722769" cy="219701"/>
                <a:chOff x="751195" y="3292954"/>
                <a:chExt cx="815229" cy="219701"/>
              </a:xfrm>
            </p:grpSpPr>
            <p:sp>
              <p:nvSpPr>
                <p:cNvPr id="93" name="사각형: 둥근 모서리 92">
                  <a:extLst>
                    <a:ext uri="{FF2B5EF4-FFF2-40B4-BE49-F238E27FC236}">
                      <a16:creationId xmlns:a16="http://schemas.microsoft.com/office/drawing/2014/main" id="{E888BFD9-0E64-8D6F-7DAB-FD63B16D95D3}"/>
                    </a:ext>
                  </a:extLst>
                </p:cNvPr>
                <p:cNvSpPr/>
                <p:nvPr/>
              </p:nvSpPr>
              <p:spPr>
                <a:xfrm>
                  <a:off x="751195" y="3292954"/>
                  <a:ext cx="815229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FE5F217-541F-EA5B-C756-FF2CB3E10CE6}"/>
                    </a:ext>
                  </a:extLst>
                </p:cNvPr>
                <p:cNvSpPr txBox="1"/>
                <p:nvPr/>
              </p:nvSpPr>
              <p:spPr>
                <a:xfrm>
                  <a:off x="877473" y="3333555"/>
                  <a:ext cx="56267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사업모델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IP</a:t>
                  </a:r>
                </a:p>
              </p:txBody>
            </p:sp>
          </p:grpSp>
        </p:grpSp>
      </p:grpSp>
      <p:graphicFrame>
        <p:nvGraphicFramePr>
          <p:cNvPr id="98" name="Table 0">
            <a:extLst>
              <a:ext uri="{FF2B5EF4-FFF2-40B4-BE49-F238E27FC236}">
                <a16:creationId xmlns:a16="http://schemas.microsoft.com/office/drawing/2014/main" id="{E774F7E8-8A52-A4C5-74D3-E3D1F1EA0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323994"/>
              </p:ext>
            </p:extLst>
          </p:nvPr>
        </p:nvGraphicFramePr>
        <p:xfrm>
          <a:off x="432000" y="3564789"/>
          <a:ext cx="8280000" cy="2175120"/>
        </p:xfrm>
        <a:graphic>
          <a:graphicData uri="http://schemas.openxmlformats.org/drawingml/2006/table">
            <a:tbl>
              <a:tblPr/>
              <a:tblGrid>
                <a:gridCol w="116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5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49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출원번호 · 구분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(2025년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출원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지식재산권(특허)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명 · 진행상황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청구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요지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과제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연계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10-2025-0060352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산출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분포·리뷰·평점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판매자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웨이팅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정보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웨이팅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=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현장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반영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랭킹·평판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가산축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지수의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가게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산식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공동연구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)의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권리화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10-2025-0060353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인공지능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소비자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실거래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구매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학습셋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AI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수요예측값·입점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1 핵심 IP - "곧 뜰 아이템을 입점사에 추천"의 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권리 근거. 자사 실거래 = 학습 연료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10-2025-0060354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지수·수요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예측·사용자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수요예측값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사용자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방문·주문·결제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)를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종합한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개인화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438DD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2 핵심 IP - 다신호 융합·개인화(LTR)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438DD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통합 랭킹의 권리 근거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10-2025-0060355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배송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시스템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앱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제공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수량·가격·배송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상세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진행의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시스템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엔진이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올라타는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B2B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사내간식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사업모델의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보호막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사업화·수익모델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6770CC99-B663-9737-5BE9-92AC34615A4E}"/>
              </a:ext>
            </a:extLst>
          </p:cNvPr>
          <p:cNvGrpSpPr/>
          <p:nvPr/>
        </p:nvGrpSpPr>
        <p:grpSpPr>
          <a:xfrm>
            <a:off x="432000" y="5835571"/>
            <a:ext cx="7653057" cy="333130"/>
            <a:chOff x="432000" y="5846226"/>
            <a:chExt cx="7653057" cy="333130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996EA93-0FDE-AD12-1031-932A08B49901}"/>
                </a:ext>
              </a:extLst>
            </p:cNvPr>
            <p:cNvSpPr txBox="1"/>
            <p:nvPr/>
          </p:nvSpPr>
          <p:spPr>
            <a:xfrm>
              <a:off x="432000" y="5928152"/>
              <a:ext cx="7653057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3</a:t>
              </a:r>
              <a:r>
                <a: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중 증빙 구조  |  전건 구분 : 보유특허 · 출원인 : ㈜딸기로컴퍼니 · 출원국 : 대한민국 · 진행상황 : 출원 완료(2025) — 신서식 지식재산권 필수항목</a:t>
              </a: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BE6546C9-3B4C-4269-8805-85012B0BBC02}"/>
                </a:ext>
              </a:extLst>
            </p:cNvPr>
            <p:cNvCxnSpPr>
              <a:cxnSpLocks/>
            </p:cNvCxnSpPr>
            <p:nvPr/>
          </p:nvCxnSpPr>
          <p:spPr>
            <a:xfrm>
              <a:off x="1583734" y="5846226"/>
              <a:ext cx="0" cy="3331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E9AFAC13-9480-8DA8-5AC5-B108A66008D8}"/>
              </a:ext>
            </a:extLst>
          </p:cNvPr>
          <p:cNvSpPr txBox="1"/>
          <p:nvPr/>
        </p:nvSpPr>
        <p:spPr>
          <a:xfrm>
            <a:off x="2763172" y="3330628"/>
            <a:ext cx="361765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지수 산출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 →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수요예측 모델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 →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통합 추천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 →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사업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플랫폼 운영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15" name="화살표: 오른쪽 114">
            <a:extLst>
              <a:ext uri="{FF2B5EF4-FFF2-40B4-BE49-F238E27FC236}">
                <a16:creationId xmlns:a16="http://schemas.microsoft.com/office/drawing/2014/main" id="{8049B2D4-8F45-1176-8EE8-36F8970582AD}"/>
              </a:ext>
            </a:extLst>
          </p:cNvPr>
          <p:cNvSpPr/>
          <p:nvPr/>
        </p:nvSpPr>
        <p:spPr>
          <a:xfrm>
            <a:off x="2333742" y="2579452"/>
            <a:ext cx="224343" cy="219701"/>
          </a:xfrm>
          <a:prstGeom prst="rightArrow">
            <a:avLst>
              <a:gd name="adj1" fmla="val 66587"/>
              <a:gd name="adj2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232323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6" name="화살표: 오른쪽 115">
            <a:extLst>
              <a:ext uri="{FF2B5EF4-FFF2-40B4-BE49-F238E27FC236}">
                <a16:creationId xmlns:a16="http://schemas.microsoft.com/office/drawing/2014/main" id="{FC2EECBA-232E-789C-9363-33D0AC22AE19}"/>
              </a:ext>
            </a:extLst>
          </p:cNvPr>
          <p:cNvSpPr/>
          <p:nvPr/>
        </p:nvSpPr>
        <p:spPr>
          <a:xfrm>
            <a:off x="4455133" y="2579452"/>
            <a:ext cx="224343" cy="219701"/>
          </a:xfrm>
          <a:prstGeom prst="rightArrow">
            <a:avLst>
              <a:gd name="adj1" fmla="val 66587"/>
              <a:gd name="adj2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232323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286CEB48-AB2E-1242-FA2A-BB7E78B35A94}"/>
              </a:ext>
            </a:extLst>
          </p:cNvPr>
          <p:cNvSpPr/>
          <p:nvPr/>
        </p:nvSpPr>
        <p:spPr>
          <a:xfrm>
            <a:off x="6576524" y="2579452"/>
            <a:ext cx="224343" cy="219701"/>
          </a:xfrm>
          <a:prstGeom prst="rightArrow">
            <a:avLst>
              <a:gd name="adj1" fmla="val 66587"/>
              <a:gd name="adj2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232323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989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0794-7679-C83F-5FF6-B7F6D124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D2A07228-CA6C-3A17-DCE4-5A95A22799E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F304B6F-0C70-52E6-0C6F-DA7D9DD2CCD5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4DC0082-8DD7-8636-1306-DA34853712E6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267790B-06F7-9141-835D-806EB083369A}"/>
                </a:ext>
              </a:extLst>
            </p:cNvPr>
            <p:cNvGrpSpPr/>
            <p:nvPr/>
          </p:nvGrpSpPr>
          <p:grpSpPr>
            <a:xfrm>
              <a:off x="404618" y="922962"/>
              <a:ext cx="7691938" cy="523558"/>
              <a:chOff x="404618" y="928733"/>
              <a:chExt cx="7691938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AE91B5-566C-46E7-D21B-607AE0FCEC3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525015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표준화는 품질 보증 장치이자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R&amp;D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수출 가능한 엔진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만드는 전제 조건입니다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23C3E5-1D62-A079-4C27-C21F37C810B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333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프로세스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기술의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축 표준화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학습 일관성부터 글로벌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SaaS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준비까지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1D212EA-4505-EFA4-5256-D33D0A34AA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B9852D-2DFC-575D-5443-B43070C8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8A914-AF9B-CE78-EE90-52480A5314FC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표준화 전략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79038C3-1E04-B405-1E6F-67DB566DE46B}"/>
              </a:ext>
            </a:extLst>
          </p:cNvPr>
          <p:cNvGrpSpPr/>
          <p:nvPr/>
        </p:nvGrpSpPr>
        <p:grpSpPr>
          <a:xfrm>
            <a:off x="432000" y="2284948"/>
            <a:ext cx="8280000" cy="3420527"/>
            <a:chOff x="432000" y="2284948"/>
            <a:chExt cx="8280000" cy="342052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78347A-5A04-6355-25FA-82A87D9A1CD1}"/>
                </a:ext>
              </a:extLst>
            </p:cNvPr>
            <p:cNvSpPr/>
            <p:nvPr/>
          </p:nvSpPr>
          <p:spPr>
            <a:xfrm>
              <a:off x="432000" y="2284948"/>
              <a:ext cx="2604612" cy="3420527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280814-5685-4C2F-BA15-4CA0C0F1773F}"/>
                </a:ext>
              </a:extLst>
            </p:cNvPr>
            <p:cNvSpPr txBox="1"/>
            <p:nvPr/>
          </p:nvSpPr>
          <p:spPr>
            <a:xfrm>
              <a:off x="1189926" y="2428273"/>
              <a:ext cx="1088760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데이터 표준화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A2C5EEF-9166-4FFD-7F20-BBD46F7F8322}"/>
                </a:ext>
              </a:extLst>
            </p:cNvPr>
            <p:cNvSpPr txBox="1"/>
            <p:nvPr/>
          </p:nvSpPr>
          <p:spPr>
            <a:xfrm>
              <a:off x="1158828" y="2689734"/>
              <a:ext cx="115095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Data Standardization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03DF8C1-3D15-0354-64A8-C4ABC3026B2B}"/>
                </a:ext>
              </a:extLst>
            </p:cNvPr>
            <p:cNvGrpSpPr/>
            <p:nvPr/>
          </p:nvGrpSpPr>
          <p:grpSpPr>
            <a:xfrm>
              <a:off x="638020" y="3087862"/>
              <a:ext cx="2192572" cy="493365"/>
              <a:chOff x="645878" y="3499450"/>
              <a:chExt cx="2192572" cy="493365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E8674C-71C8-EA6C-D607-D0F75ECBBBF7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84863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통합 스키마 설계 + B2B 단체주문 표준화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308CBA-7C12-8E60-4CA9-663F0B2317C7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219257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요청조건·공급자 제약·제안 옵션·주문 결과 로그를 표준 스키마로 — 그대로 AI 학습데이터화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A41C722-4FA6-7434-EA22-63A30CE07129}"/>
                </a:ext>
              </a:extLst>
            </p:cNvPr>
            <p:cNvCxnSpPr>
              <a:cxnSpLocks/>
            </p:cNvCxnSpPr>
            <p:nvPr/>
          </p:nvCxnSpPr>
          <p:spPr>
            <a:xfrm>
              <a:off x="638020" y="2945130"/>
              <a:ext cx="2192572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C703B0DA-2095-AE42-C24A-44EE14A2788C}"/>
                </a:ext>
              </a:extLst>
            </p:cNvPr>
            <p:cNvGrpSpPr/>
            <p:nvPr/>
          </p:nvGrpSpPr>
          <p:grpSpPr>
            <a:xfrm>
              <a:off x="638020" y="3892339"/>
              <a:ext cx="1954381" cy="683160"/>
              <a:chOff x="645878" y="3499450"/>
              <a:chExt cx="1954381" cy="683160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B55C9BC-DAAD-9483-18B2-2BCF44853F00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96180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키워드 태그 표준화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22687B-70BC-3F37-A842-17D19EBB5CE3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954381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동일 개념 단일 태그 통합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마카롱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=macaron,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크룽지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크룽쥐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저당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슈가프리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학습 시 의미 일관성 확보</a:t>
                </a:r>
              </a:p>
            </p:txBody>
          </p:sp>
        </p:grp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5DDFE186-22CE-C97D-7617-E5B58CD09AC3}"/>
                </a:ext>
              </a:extLst>
            </p:cNvPr>
            <p:cNvCxnSpPr>
              <a:cxnSpLocks/>
            </p:cNvCxnSpPr>
            <p:nvPr/>
          </p:nvCxnSpPr>
          <p:spPr>
            <a:xfrm>
              <a:off x="638020" y="3749607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F1923DC-6DA0-9940-E386-3403B32DBAD3}"/>
                </a:ext>
              </a:extLst>
            </p:cNvPr>
            <p:cNvGrpSpPr/>
            <p:nvPr/>
          </p:nvGrpSpPr>
          <p:grpSpPr>
            <a:xfrm>
              <a:off x="638020" y="4860965"/>
              <a:ext cx="2011769" cy="354865"/>
              <a:chOff x="645878" y="3499450"/>
              <a:chExt cx="2011769" cy="354865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A0AF8C-8DD9-3F89-6338-AFE16D9F8B3F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33951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문서화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2668A9C-5653-0C59-9AA7-391B27621639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201176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Data Dictionary · ERD(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관계도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유지 관리</a:t>
                </a:r>
              </a:p>
            </p:txBody>
          </p:sp>
        </p:grp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786C881-ABFA-DBD6-989F-2361CF61F171}"/>
                </a:ext>
              </a:extLst>
            </p:cNvPr>
            <p:cNvCxnSpPr>
              <a:cxnSpLocks/>
            </p:cNvCxnSpPr>
            <p:nvPr/>
          </p:nvCxnSpPr>
          <p:spPr>
            <a:xfrm>
              <a:off x="638020" y="4718231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1FB67EDE-1A3C-62A7-3367-6BC64F0BDA7F}"/>
                </a:ext>
              </a:extLst>
            </p:cNvPr>
            <p:cNvGrpSpPr/>
            <p:nvPr/>
          </p:nvGrpSpPr>
          <p:grpSpPr>
            <a:xfrm>
              <a:off x="432000" y="5390180"/>
              <a:ext cx="2604612" cy="315295"/>
              <a:chOff x="432000" y="5312687"/>
              <a:chExt cx="2604612" cy="315295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7305844-3A55-C3B2-8A4C-01E0C5E790B5}"/>
                  </a:ext>
                </a:extLst>
              </p:cNvPr>
              <p:cNvSpPr/>
              <p:nvPr/>
            </p:nvSpPr>
            <p:spPr>
              <a:xfrm>
                <a:off x="432000" y="5312687"/>
                <a:ext cx="2604612" cy="31529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F47CEC-D945-3DDD-FFEB-24AD2070FF13}"/>
                  </a:ext>
                </a:extLst>
              </p:cNvPr>
              <p:cNvSpPr txBox="1"/>
              <p:nvPr/>
            </p:nvSpPr>
            <p:spPr>
              <a:xfrm>
                <a:off x="508650" y="5401085"/>
                <a:ext cx="245131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효과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품질 보증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상호운용성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학습 정확도 향상</a:t>
                </a: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B7456E5-37FC-0F98-667B-9FB96A96765F}"/>
                </a:ext>
              </a:extLst>
            </p:cNvPr>
            <p:cNvSpPr/>
            <p:nvPr/>
          </p:nvSpPr>
          <p:spPr>
            <a:xfrm>
              <a:off x="3269694" y="2284948"/>
              <a:ext cx="2604612" cy="3420527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269D455-FA28-CB9C-E8DF-A24BC781BA4E}"/>
                </a:ext>
              </a:extLst>
            </p:cNvPr>
            <p:cNvSpPr txBox="1"/>
            <p:nvPr/>
          </p:nvSpPr>
          <p:spPr>
            <a:xfrm>
              <a:off x="3940577" y="2428273"/>
              <a:ext cx="126284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프로세스 표준화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0F45BF6-A3E9-C8A2-3B51-F2603349165F}"/>
                </a:ext>
              </a:extLst>
            </p:cNvPr>
            <p:cNvSpPr txBox="1"/>
            <p:nvPr/>
          </p:nvSpPr>
          <p:spPr>
            <a:xfrm>
              <a:off x="3902105" y="2689734"/>
              <a:ext cx="1339790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Process Standardization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9336C307-C594-7D99-2F09-2ADDB7EDA852}"/>
                </a:ext>
              </a:extLst>
            </p:cNvPr>
            <p:cNvGrpSpPr/>
            <p:nvPr/>
          </p:nvGrpSpPr>
          <p:grpSpPr>
            <a:xfrm>
              <a:off x="3475714" y="3087862"/>
              <a:ext cx="1725472" cy="519013"/>
              <a:chOff x="645878" y="3499450"/>
              <a:chExt cx="1725472" cy="519013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4D53E8-2803-5B08-004E-B7CA2DCCE813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93358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워크플로우 정형화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7545976-ADCC-49FC-BCC5-4E5A77E4BE32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72547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→ 분석 → 추천 →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실행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피드백 수집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단계별 액션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책임 명확화</a:t>
                </a:r>
              </a:p>
            </p:txBody>
          </p:sp>
        </p:grp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90CB18F-2B4D-8309-23B1-585FDEE45919}"/>
                </a:ext>
              </a:extLst>
            </p:cNvPr>
            <p:cNvCxnSpPr>
              <a:cxnSpLocks/>
            </p:cNvCxnSpPr>
            <p:nvPr/>
          </p:nvCxnSpPr>
          <p:spPr>
            <a:xfrm>
              <a:off x="3475714" y="2945130"/>
              <a:ext cx="2192572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564FE961-2F5C-0731-2775-C07069C04601}"/>
                </a:ext>
              </a:extLst>
            </p:cNvPr>
            <p:cNvGrpSpPr/>
            <p:nvPr/>
          </p:nvGrpSpPr>
          <p:grpSpPr>
            <a:xfrm>
              <a:off x="3475714" y="3892339"/>
              <a:ext cx="1575111" cy="519013"/>
              <a:chOff x="645878" y="3499450"/>
              <a:chExt cx="1575111" cy="519013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A8FB9FA-0202-89EB-0529-5DEC356353BC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74603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SLA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운영 기준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7D2FF3-E852-D128-E49D-F2D077EE58C3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575111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급상승 경보 발신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갱신 주기 등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서비스 수준 약정 명문화</a:t>
                </a:r>
              </a:p>
            </p:txBody>
          </p:sp>
        </p:grp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3359087F-17A3-4AD6-BF59-208CB9B3E8BA}"/>
                </a:ext>
              </a:extLst>
            </p:cNvPr>
            <p:cNvCxnSpPr>
              <a:cxnSpLocks/>
            </p:cNvCxnSpPr>
            <p:nvPr/>
          </p:nvCxnSpPr>
          <p:spPr>
            <a:xfrm>
              <a:off x="3475714" y="3749607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7542557F-CB2D-576E-5D89-34A81292D418}"/>
                </a:ext>
              </a:extLst>
            </p:cNvPr>
            <p:cNvGrpSpPr/>
            <p:nvPr/>
          </p:nvGrpSpPr>
          <p:grpSpPr>
            <a:xfrm>
              <a:off x="3475714" y="4696817"/>
              <a:ext cx="1861407" cy="519013"/>
              <a:chOff x="645878" y="3499450"/>
              <a:chExt cx="1861407" cy="51901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72EE880-E896-FA2F-9AF2-D0190C9CF9D5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73545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품질 관리 표준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6DA5FA9-9905-7C00-A98B-302E48A292BE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861407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데이터 검증 규칙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모델 품질 모니터링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오탐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리뷰 절차</a:t>
                </a:r>
              </a:p>
            </p:txBody>
          </p:sp>
        </p:grp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AF0D2EE4-CCB3-A8BD-EE7D-231804906842}"/>
                </a:ext>
              </a:extLst>
            </p:cNvPr>
            <p:cNvCxnSpPr>
              <a:cxnSpLocks/>
            </p:cNvCxnSpPr>
            <p:nvPr/>
          </p:nvCxnSpPr>
          <p:spPr>
            <a:xfrm>
              <a:off x="3475714" y="4554084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57C7D607-8792-AF88-61D9-B7F47DD05F00}"/>
                </a:ext>
              </a:extLst>
            </p:cNvPr>
            <p:cNvGrpSpPr/>
            <p:nvPr/>
          </p:nvGrpSpPr>
          <p:grpSpPr>
            <a:xfrm>
              <a:off x="3269694" y="5390180"/>
              <a:ext cx="2604612" cy="315295"/>
              <a:chOff x="432000" y="5312687"/>
              <a:chExt cx="2604612" cy="315295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069458F8-5FEE-6763-3B4A-7990F5C1F04F}"/>
                  </a:ext>
                </a:extLst>
              </p:cNvPr>
              <p:cNvSpPr/>
              <p:nvPr/>
            </p:nvSpPr>
            <p:spPr>
              <a:xfrm>
                <a:off x="432000" y="5312687"/>
                <a:ext cx="2604612" cy="31529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8C1424-7199-2B7C-211D-9B629B0A49D5}"/>
                  </a:ext>
                </a:extLst>
              </p:cNvPr>
              <p:cNvSpPr txBox="1"/>
              <p:nvPr/>
            </p:nvSpPr>
            <p:spPr>
              <a:xfrm>
                <a:off x="848166" y="5401085"/>
                <a:ext cx="177228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효과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가능한 운영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품질 편차 최소화</a:t>
                </a:r>
              </a:p>
            </p:txBody>
          </p:sp>
        </p:grp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0095F175-12CB-CA95-A002-AC8D8D1DF214}"/>
                </a:ext>
              </a:extLst>
            </p:cNvPr>
            <p:cNvSpPr/>
            <p:nvPr/>
          </p:nvSpPr>
          <p:spPr>
            <a:xfrm>
              <a:off x="6107388" y="2284948"/>
              <a:ext cx="2604612" cy="3420527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684CD666-677B-711C-CB6C-15717F70DC03}"/>
                </a:ext>
              </a:extLst>
            </p:cNvPr>
            <p:cNvSpPr txBox="1"/>
            <p:nvPr/>
          </p:nvSpPr>
          <p:spPr>
            <a:xfrm>
              <a:off x="6952357" y="2428273"/>
              <a:ext cx="914673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기술 표준화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1543F4B4-1F1A-473F-7686-AA14D73CE285}"/>
                </a:ext>
              </a:extLst>
            </p:cNvPr>
            <p:cNvSpPr txBox="1"/>
            <p:nvPr/>
          </p:nvSpPr>
          <p:spPr>
            <a:xfrm>
              <a:off x="6845918" y="2689734"/>
              <a:ext cx="112755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Technical Standards</a:t>
              </a:r>
            </a:p>
          </p:txBody>
        </p: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E2F6906F-6D66-B3D2-E121-594605739EEA}"/>
                </a:ext>
              </a:extLst>
            </p:cNvPr>
            <p:cNvGrpSpPr/>
            <p:nvPr/>
          </p:nvGrpSpPr>
          <p:grpSpPr>
            <a:xfrm>
              <a:off x="6313408" y="3087862"/>
              <a:ext cx="1912703" cy="683160"/>
              <a:chOff x="645878" y="3499450"/>
              <a:chExt cx="1912703" cy="683160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CC4B33EA-B71A-C8FE-0C17-AE90C31DAE7F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68095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API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아키텍처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80C541DA-CA53-7482-8876-E68A4A1FEC2A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912703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RESTful+JSON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GET /v1/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trends?item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GET /v1/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rank?q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=…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B2B SaaS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연동 전제</a:t>
                </a:r>
              </a:p>
            </p:txBody>
          </p:sp>
        </p:grp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AD2BFFE-EC53-38E5-3DAC-8575EDD748E3}"/>
                </a:ext>
              </a:extLst>
            </p:cNvPr>
            <p:cNvCxnSpPr>
              <a:cxnSpLocks/>
            </p:cNvCxnSpPr>
            <p:nvPr/>
          </p:nvCxnSpPr>
          <p:spPr>
            <a:xfrm>
              <a:off x="6313408" y="2945130"/>
              <a:ext cx="2192572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1FF07663-E4D0-4A84-C291-F601B1FB89D1}"/>
                </a:ext>
              </a:extLst>
            </p:cNvPr>
            <p:cNvGrpSpPr/>
            <p:nvPr/>
          </p:nvGrpSpPr>
          <p:grpSpPr>
            <a:xfrm>
              <a:off x="6313408" y="4056486"/>
              <a:ext cx="1555554" cy="354865"/>
              <a:chOff x="645878" y="3499450"/>
              <a:chExt cx="1555554" cy="354865"/>
            </a:xfrm>
          </p:grpSpPr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5E0A1456-B8F4-0D96-82D7-EDF14330CA40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480901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보안 규격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7F752830-B0D0-AE2C-892A-018B4AF51A3D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55555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OAuth 2.0 →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글로벌 보안 표준 준수</a:t>
                </a:r>
              </a:p>
            </p:txBody>
          </p:sp>
        </p:grp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BAE61FF7-C3B2-96C5-219A-BA829F825567}"/>
                </a:ext>
              </a:extLst>
            </p:cNvPr>
            <p:cNvCxnSpPr>
              <a:cxnSpLocks/>
            </p:cNvCxnSpPr>
            <p:nvPr/>
          </p:nvCxnSpPr>
          <p:spPr>
            <a:xfrm>
              <a:off x="6313408" y="3913754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D31E0708-11A5-0F64-92A3-3D982CCF31C9}"/>
                </a:ext>
              </a:extLst>
            </p:cNvPr>
            <p:cNvGrpSpPr/>
            <p:nvPr/>
          </p:nvGrpSpPr>
          <p:grpSpPr>
            <a:xfrm>
              <a:off x="6313408" y="4696817"/>
              <a:ext cx="1991892" cy="519013"/>
              <a:chOff x="645878" y="3499450"/>
              <a:chExt cx="1991892" cy="519013"/>
            </a:xfrm>
          </p:grpSpPr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90D6DB6E-8778-5E33-6A7D-563B6EE624BD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59407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글로벌 준비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FD7C828E-6ECC-A92B-230F-40ADB750D7C9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99189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유니코드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ISO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통화 코드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Pre-Phase(For Visitors)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엔진과 직결</a:t>
                </a:r>
              </a:p>
            </p:txBody>
          </p:sp>
        </p:grp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A9EA541-2E47-B1C5-638F-E48853E68A56}"/>
                </a:ext>
              </a:extLst>
            </p:cNvPr>
            <p:cNvCxnSpPr>
              <a:cxnSpLocks/>
            </p:cNvCxnSpPr>
            <p:nvPr/>
          </p:nvCxnSpPr>
          <p:spPr>
            <a:xfrm>
              <a:off x="6313408" y="4554083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6C35BAF3-3179-4949-C9A7-764494D3B46E}"/>
                </a:ext>
              </a:extLst>
            </p:cNvPr>
            <p:cNvGrpSpPr/>
            <p:nvPr/>
          </p:nvGrpSpPr>
          <p:grpSpPr>
            <a:xfrm>
              <a:off x="6107388" y="5390180"/>
              <a:ext cx="2604612" cy="315295"/>
              <a:chOff x="432000" y="5312687"/>
              <a:chExt cx="2604612" cy="315295"/>
            </a:xfrm>
          </p:grpSpPr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D83F815C-C6F3-5E16-8962-E1345C5FB829}"/>
                  </a:ext>
                </a:extLst>
              </p:cNvPr>
              <p:cNvSpPr/>
              <p:nvPr/>
            </p:nvSpPr>
            <p:spPr>
              <a:xfrm>
                <a:off x="432000" y="5312687"/>
                <a:ext cx="2604612" cy="31529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4F8DCA59-21AF-09D1-DFEA-C7E5917827C8}"/>
                  </a:ext>
                </a:extLst>
              </p:cNvPr>
              <p:cNvSpPr txBox="1"/>
              <p:nvPr/>
            </p:nvSpPr>
            <p:spPr>
              <a:xfrm>
                <a:off x="848166" y="5401085"/>
                <a:ext cx="177228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효과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확장성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호환성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글로벌 진출 준비</a:t>
                </a:r>
              </a:p>
            </p:txBody>
          </p:sp>
        </p:grpSp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BF7B0579-EF78-FFEC-6E97-1DEB7345FEB4}"/>
              </a:ext>
            </a:extLst>
          </p:cNvPr>
          <p:cNvSpPr txBox="1"/>
          <p:nvPr/>
        </p:nvSpPr>
        <p:spPr>
          <a:xfrm>
            <a:off x="1689640" y="5951527"/>
            <a:ext cx="5764720" cy="161583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개발 산출물 표준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Git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리뷰 의무화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테스트 커버리지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90%+ · EDMS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전자문서 관리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연구노트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산출물 체계 보관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5838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0174-7283-E80B-5803-9945EC4E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CEF9C72-14D2-AE0B-C657-7250BC0E954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7B6A232-FFDF-D436-3477-A63F8244D9B3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F0D9B70-D5EE-F143-ABE4-22BBAB58818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75FF5B2-5BDC-BF46-2175-4878D8E2D0A4}"/>
                </a:ext>
              </a:extLst>
            </p:cNvPr>
            <p:cNvGrpSpPr/>
            <p:nvPr/>
          </p:nvGrpSpPr>
          <p:grpSpPr>
            <a:xfrm>
              <a:off x="404618" y="922962"/>
              <a:ext cx="8274468" cy="523558"/>
              <a:chOff x="404618" y="928733"/>
              <a:chExt cx="8274468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FB58B4-26E7-14A8-B441-7957719A183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58519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비용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인력 부담을 낮추는 단계 설계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각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Phase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종료 시점의 산출물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 게이트를 명확히 합니다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7430A75-D1CE-0174-ADBD-006D5C240B9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15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MVP 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확장의 단계적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현실적 로드맵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Phase 0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검증부터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Phase 3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고도화까지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개월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62F1590-5903-E959-FE91-A29BBC4C5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B9F429-815C-72C1-CF69-BD029AC5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4D87FA-A4DB-2AB8-19CE-BE3E1C014F1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업무분장 및 추진일정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30A2CA1B-5B25-9570-1146-BB07B694766C}"/>
              </a:ext>
            </a:extLst>
          </p:cNvPr>
          <p:cNvGraphicFramePr>
            <a:graphicFrameLocks noGrp="1"/>
          </p:cNvGraphicFramePr>
          <p:nvPr/>
        </p:nvGraphicFramePr>
        <p:xfrm>
          <a:off x="432001" y="2156245"/>
          <a:ext cx="8279999" cy="954000"/>
        </p:xfrm>
        <a:graphic>
          <a:graphicData uri="http://schemas.openxmlformats.org/drawingml/2006/table">
            <a:tbl>
              <a:tblPr/>
              <a:tblGrid>
                <a:gridCol w="1493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수행기관</a:t>
                      </a:r>
                      <a:endParaRPr lang="en-US" sz="900" b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기관별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내용</a:t>
                      </a:r>
                      <a:endParaRPr lang="en-US" sz="900" b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비중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(%)</a:t>
                      </a:r>
                      <a:endParaRPr lang="en-US" sz="900" b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주관연구개발기관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창업기업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: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딸기로컴퍼니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1·2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핵심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알고리즘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R&amp;D(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스코어링·융합·NLU·랭킹·LTR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·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파이프라인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웹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백테스팅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골든셋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100%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외부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전문기술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활용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해당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시)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AI/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빅데이터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파트너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기술자문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법무·IP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검토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'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연구활동비-외부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전문기술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활용비'로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계상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5EEDF64E-D69E-DD06-4E47-78F5BB1160D4}"/>
              </a:ext>
            </a:extLst>
          </p:cNvPr>
          <p:cNvGrpSpPr/>
          <p:nvPr/>
        </p:nvGrpSpPr>
        <p:grpSpPr>
          <a:xfrm>
            <a:off x="431999" y="3268406"/>
            <a:ext cx="8320557" cy="2139125"/>
            <a:chOff x="431999" y="3268406"/>
            <a:chExt cx="8320557" cy="21391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8E97E3-6F1B-A619-9259-3B472CF0DD7E}"/>
                </a:ext>
              </a:extLst>
            </p:cNvPr>
            <p:cNvSpPr txBox="1"/>
            <p:nvPr/>
          </p:nvSpPr>
          <p:spPr>
            <a:xfrm>
              <a:off x="431999" y="3268406"/>
              <a:ext cx="29360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112713" marR="0" lvl="0" indent="-11271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추진 일정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협약 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개월 (1차년도 M1~12 · 2차년도 M13~24)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030F9E-EF90-A3AE-E2CC-03C1CD6CAA4F}"/>
                </a:ext>
              </a:extLst>
            </p:cNvPr>
            <p:cNvSpPr txBox="1"/>
            <p:nvPr/>
          </p:nvSpPr>
          <p:spPr>
            <a:xfrm>
              <a:off x="431999" y="3495869"/>
              <a:ext cx="1023678" cy="12853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Phase 0 -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검증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PoC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2286E2-18A8-4DCD-C44E-22D40133B3FF}"/>
                </a:ext>
              </a:extLst>
            </p:cNvPr>
            <p:cNvSpPr txBox="1"/>
            <p:nvPr/>
          </p:nvSpPr>
          <p:spPr>
            <a:xfrm>
              <a:off x="431999" y="3643164"/>
              <a:ext cx="1948931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buClr>
                  <a:srgbClr val="EC6570"/>
                </a:buClr>
                <a:defRPr/>
              </a:pPr>
              <a:r>
                <a:rPr lang="ko-KR" altLang="en-US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오픈베타 데이터 수집 </a:t>
              </a:r>
              <a:r>
                <a:rPr lang="en-US" altLang="ko-KR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소스 2~3</a:t>
              </a:r>
              <a:r>
                <a:rPr lang="ko-KR" altLang="en-US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종 수집 </a:t>
              </a:r>
              <a:r>
                <a:rPr lang="en-US" altLang="ko-KR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lang="ko-KR" altLang="en-US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백테스팅 </a:t>
              </a:r>
              <a:r>
                <a:rPr lang="ko-KR" altLang="en-US" sz="700" spc="-30" err="1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1차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A1164C9-54BB-EC16-0666-1183557D13D4}"/>
                </a:ext>
              </a:extLst>
            </p:cNvPr>
            <p:cNvGrpSpPr/>
            <p:nvPr/>
          </p:nvGrpSpPr>
          <p:grpSpPr>
            <a:xfrm>
              <a:off x="431999" y="4292408"/>
              <a:ext cx="3152145" cy="263234"/>
              <a:chOff x="431999" y="4029239"/>
              <a:chExt cx="3152145" cy="31515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C1667D-815C-F1E3-8D85-E9EACBFA0CC1}"/>
                  </a:ext>
                </a:extLst>
              </p:cNvPr>
              <p:cNvSpPr txBox="1"/>
              <p:nvPr/>
            </p:nvSpPr>
            <p:spPr>
              <a:xfrm>
                <a:off x="431999" y="4029239"/>
                <a:ext cx="1461939" cy="1735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2 -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추천 개인화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정확도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9181B6-A215-7E33-8C87-DE2E55DCFA6F}"/>
                  </a:ext>
                </a:extLst>
              </p:cNvPr>
              <p:cNvSpPr txBox="1"/>
              <p:nvPr/>
            </p:nvSpPr>
            <p:spPr>
              <a:xfrm>
                <a:off x="431999" y="4215423"/>
                <a:ext cx="3152145" cy="128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 MVP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제안 자동화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맞춤 추천·피드백 루프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KPI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실측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LTR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베타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확대</a:t>
                </a: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29D5D9A-0C4A-0130-B613-4EF537E8B882}"/>
                </a:ext>
              </a:extLst>
            </p:cNvPr>
            <p:cNvGrpSpPr/>
            <p:nvPr/>
          </p:nvGrpSpPr>
          <p:grpSpPr>
            <a:xfrm>
              <a:off x="431999" y="4694785"/>
              <a:ext cx="2893421" cy="263234"/>
              <a:chOff x="431999" y="4029239"/>
              <a:chExt cx="2893421" cy="31515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D35DB-B9AB-2DCD-C171-616B7A9DE393}"/>
                  </a:ext>
                </a:extLst>
              </p:cNvPr>
              <p:cNvSpPr txBox="1"/>
              <p:nvPr/>
            </p:nvSpPr>
            <p:spPr>
              <a:xfrm>
                <a:off x="431999" y="4029239"/>
                <a:ext cx="1116652" cy="1735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3 -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고도화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3150EB-748A-42AD-2A49-A270A9FAA56D}"/>
                  </a:ext>
                </a:extLst>
              </p:cNvPr>
              <p:cNvSpPr txBox="1"/>
              <p:nvPr/>
            </p:nvSpPr>
            <p:spPr>
              <a:xfrm>
                <a:off x="431999" y="4215423"/>
                <a:ext cx="2893421" cy="128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buClr>
                    <a:srgbClr val="EC6570"/>
                  </a:buClr>
                  <a:defRPr/>
                </a:pP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채널 확장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도메인 특화 모델 · 해외 선행지표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For Visitors(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B2B SaaS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검토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94B23E8-427D-70E9-6908-D460B3BF9AF8}"/>
                </a:ext>
              </a:extLst>
            </p:cNvPr>
            <p:cNvGrpSpPr/>
            <p:nvPr/>
          </p:nvGrpSpPr>
          <p:grpSpPr>
            <a:xfrm>
              <a:off x="431999" y="5097164"/>
              <a:ext cx="2148665" cy="263234"/>
              <a:chOff x="431999" y="4029239"/>
              <a:chExt cx="2148665" cy="31515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78AF7C-DF22-C825-D55F-5900494AF20A}"/>
                  </a:ext>
                </a:extLst>
              </p:cNvPr>
              <p:cNvSpPr txBox="1"/>
              <p:nvPr/>
            </p:nvSpPr>
            <p:spPr>
              <a:xfrm>
                <a:off x="431999" y="4029239"/>
                <a:ext cx="1127553" cy="1735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상시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검증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품질 게이트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78EE3CA-80BD-85A5-8AD4-ADD7B010F888}"/>
                  </a:ext>
                </a:extLst>
              </p:cNvPr>
              <p:cNvSpPr txBox="1"/>
              <p:nvPr/>
            </p:nvSpPr>
            <p:spPr>
              <a:xfrm>
                <a:off x="431999" y="4215423"/>
                <a:ext cx="2148665" cy="128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buClr>
                    <a:srgbClr val="EC6570"/>
                  </a:buClr>
                  <a:defRPr/>
                </a:pP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lang="ko-KR" altLang="en-US" sz="700" spc="-30" err="1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골든셋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반복 측정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거버넌스 점검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보안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안전 조치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A990126E-FDED-7E0E-804D-6FA732569633}"/>
                </a:ext>
              </a:extLst>
            </p:cNvPr>
            <p:cNvCxnSpPr>
              <a:cxnSpLocks/>
            </p:cNvCxnSpPr>
            <p:nvPr/>
          </p:nvCxnSpPr>
          <p:spPr>
            <a:xfrm>
              <a:off x="3696052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C87CE23-CD91-316E-DAF9-89A368310C0D}"/>
                </a:ext>
              </a:extLst>
            </p:cNvPr>
            <p:cNvSpPr txBox="1"/>
            <p:nvPr/>
          </p:nvSpPr>
          <p:spPr>
            <a:xfrm>
              <a:off x="3634740" y="3272419"/>
              <a:ext cx="122625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37E1E632-B88D-E077-B5B8-1CDEDFB36A3F}"/>
                </a:ext>
              </a:extLst>
            </p:cNvPr>
            <p:cNvCxnSpPr>
              <a:cxnSpLocks/>
            </p:cNvCxnSpPr>
            <p:nvPr/>
          </p:nvCxnSpPr>
          <p:spPr>
            <a:xfrm>
              <a:off x="4316103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D2BFF45-D222-67CB-2888-5846635E2B66}"/>
                </a:ext>
              </a:extLst>
            </p:cNvPr>
            <p:cNvSpPr txBox="1"/>
            <p:nvPr/>
          </p:nvSpPr>
          <p:spPr>
            <a:xfrm>
              <a:off x="4247231" y="3272419"/>
              <a:ext cx="137746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M3</a:t>
              </a:r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16CFE6C2-E8B1-A659-D829-8635DCCA7A80}"/>
                </a:ext>
              </a:extLst>
            </p:cNvPr>
            <p:cNvCxnSpPr>
              <a:cxnSpLocks/>
            </p:cNvCxnSpPr>
            <p:nvPr/>
          </p:nvCxnSpPr>
          <p:spPr>
            <a:xfrm>
              <a:off x="4936155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09879E2-3C44-8749-8854-7EF016786684}"/>
                </a:ext>
              </a:extLst>
            </p:cNvPr>
            <p:cNvSpPr txBox="1"/>
            <p:nvPr/>
          </p:nvSpPr>
          <p:spPr>
            <a:xfrm>
              <a:off x="4867969" y="3272419"/>
              <a:ext cx="136371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M6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206B45E-3BA7-AB09-6C9C-AEEBB0DD20B3}"/>
                </a:ext>
              </a:extLst>
            </p:cNvPr>
            <p:cNvCxnSpPr>
              <a:cxnSpLocks/>
            </p:cNvCxnSpPr>
            <p:nvPr/>
          </p:nvCxnSpPr>
          <p:spPr>
            <a:xfrm>
              <a:off x="5556206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0C0AE37-5DF3-133B-9ACC-4249CD15B36E}"/>
                </a:ext>
              </a:extLst>
            </p:cNvPr>
            <p:cNvSpPr txBox="1"/>
            <p:nvPr/>
          </p:nvSpPr>
          <p:spPr>
            <a:xfrm>
              <a:off x="5488021" y="3272419"/>
              <a:ext cx="136371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M9</a:t>
              </a:r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906A0D1-1F10-2E43-B30B-44B15141D176}"/>
                </a:ext>
              </a:extLst>
            </p:cNvPr>
            <p:cNvCxnSpPr>
              <a:cxnSpLocks/>
            </p:cNvCxnSpPr>
            <p:nvPr/>
          </p:nvCxnSpPr>
          <p:spPr>
            <a:xfrm>
              <a:off x="6176258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6575A41-EAC9-1E08-A727-D7A05ABF9873}"/>
                </a:ext>
              </a:extLst>
            </p:cNvPr>
            <p:cNvSpPr txBox="1"/>
            <p:nvPr/>
          </p:nvSpPr>
          <p:spPr>
            <a:xfrm>
              <a:off x="6089789" y="3272419"/>
              <a:ext cx="17293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M12</a:t>
              </a:r>
            </a:p>
          </p:txBody>
        </p: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BDB6DC7-9614-6AD8-6AD4-6BE58474FD78}"/>
                </a:ext>
              </a:extLst>
            </p:cNvPr>
            <p:cNvCxnSpPr>
              <a:cxnSpLocks/>
            </p:cNvCxnSpPr>
            <p:nvPr/>
          </p:nvCxnSpPr>
          <p:spPr>
            <a:xfrm>
              <a:off x="6796309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E58F81D-A40B-2990-0E1C-CFD1579F2961}"/>
                </a:ext>
              </a:extLst>
            </p:cNvPr>
            <p:cNvSpPr txBox="1"/>
            <p:nvPr/>
          </p:nvSpPr>
          <p:spPr>
            <a:xfrm>
              <a:off x="6709840" y="3272419"/>
              <a:ext cx="17293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M15</a:t>
              </a:r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EBD2E15-A59E-B826-7F5E-9FB6488AD086}"/>
                </a:ext>
              </a:extLst>
            </p:cNvPr>
            <p:cNvCxnSpPr>
              <a:cxnSpLocks/>
            </p:cNvCxnSpPr>
            <p:nvPr/>
          </p:nvCxnSpPr>
          <p:spPr>
            <a:xfrm>
              <a:off x="7416360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C2F1826-EEC7-B6DA-3BD3-F41DE51AC0C3}"/>
                </a:ext>
              </a:extLst>
            </p:cNvPr>
            <p:cNvSpPr txBox="1"/>
            <p:nvPr/>
          </p:nvSpPr>
          <p:spPr>
            <a:xfrm>
              <a:off x="7329203" y="3272419"/>
              <a:ext cx="174314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M18</a:t>
              </a: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A1A215F-12BE-DB20-5C07-B2BD73DA699D}"/>
                </a:ext>
              </a:extLst>
            </p:cNvPr>
            <p:cNvCxnSpPr>
              <a:cxnSpLocks/>
            </p:cNvCxnSpPr>
            <p:nvPr/>
          </p:nvCxnSpPr>
          <p:spPr>
            <a:xfrm>
              <a:off x="8036412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C495420-F463-D99C-70F4-0E7EA8DE50DD}"/>
                </a:ext>
              </a:extLst>
            </p:cNvPr>
            <p:cNvSpPr txBox="1"/>
            <p:nvPr/>
          </p:nvSpPr>
          <p:spPr>
            <a:xfrm>
              <a:off x="7949943" y="3272419"/>
              <a:ext cx="17293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M21</a:t>
              </a: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FD55B6A3-8FC1-94DA-C30B-73DFACB49233}"/>
                </a:ext>
              </a:extLst>
            </p:cNvPr>
            <p:cNvCxnSpPr>
              <a:cxnSpLocks/>
            </p:cNvCxnSpPr>
            <p:nvPr/>
          </p:nvCxnSpPr>
          <p:spPr>
            <a:xfrm>
              <a:off x="8656463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2D71B5A-BAEE-C1B5-2732-0A2FCB02F718}"/>
                </a:ext>
              </a:extLst>
            </p:cNvPr>
            <p:cNvSpPr txBox="1"/>
            <p:nvPr/>
          </p:nvSpPr>
          <p:spPr>
            <a:xfrm>
              <a:off x="8560372" y="3272419"/>
              <a:ext cx="192184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M24</a:t>
              </a:r>
            </a:p>
          </p:txBody>
        </p:sp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593128D5-DCA4-E0C5-3024-77167F34A44D}"/>
                </a:ext>
              </a:extLst>
            </p:cNvPr>
            <p:cNvSpPr/>
            <p:nvPr/>
          </p:nvSpPr>
          <p:spPr>
            <a:xfrm>
              <a:off x="3696054" y="3519771"/>
              <a:ext cx="454361" cy="215467"/>
            </a:xfrm>
            <a:prstGeom prst="round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8D987F1A-A3C0-3DE1-6A33-CEE2035EE12C}"/>
                </a:ext>
              </a:extLst>
            </p:cNvPr>
            <p:cNvSpPr/>
            <p:nvPr/>
          </p:nvSpPr>
          <p:spPr>
            <a:xfrm>
              <a:off x="4765577" y="4324526"/>
              <a:ext cx="790629" cy="215467"/>
            </a:xfrm>
            <a:prstGeom prst="roundRect">
              <a:avLst/>
            </a:prstGeom>
            <a:solidFill>
              <a:srgbClr val="F293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A3EE2FE-067E-FF3E-FF31-8A5051BE336A}"/>
                </a:ext>
              </a:extLst>
            </p:cNvPr>
            <p:cNvSpPr txBox="1"/>
            <p:nvPr/>
          </p:nvSpPr>
          <p:spPr>
            <a:xfrm>
              <a:off x="3813395" y="3562268"/>
              <a:ext cx="21967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개월</a:t>
              </a: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113C95A8-6A66-FDFA-2C6F-B3F9140B5E4A}"/>
                </a:ext>
              </a:extLst>
            </p:cNvPr>
            <p:cNvGrpSpPr/>
            <p:nvPr/>
          </p:nvGrpSpPr>
          <p:grpSpPr>
            <a:xfrm>
              <a:off x="431999" y="3890031"/>
              <a:ext cx="4333578" cy="263234"/>
              <a:chOff x="431999" y="3940831"/>
              <a:chExt cx="4333578" cy="263234"/>
            </a:xfrm>
          </p:grpSpPr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911926EA-9387-6E1D-3E6A-D84ACCF0A93C}"/>
                  </a:ext>
                </a:extLst>
              </p:cNvPr>
              <p:cNvGrpSpPr/>
              <p:nvPr/>
            </p:nvGrpSpPr>
            <p:grpSpPr>
              <a:xfrm>
                <a:off x="431999" y="3940831"/>
                <a:ext cx="2046714" cy="263234"/>
                <a:chOff x="431999" y="3940831"/>
                <a:chExt cx="2046714" cy="263234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639EFBC-6FDA-667F-DADA-58BF993E4DA1}"/>
                    </a:ext>
                  </a:extLst>
                </p:cNvPr>
                <p:cNvSpPr txBox="1"/>
                <p:nvPr/>
              </p:nvSpPr>
              <p:spPr>
                <a:xfrm>
                  <a:off x="431999" y="3940831"/>
                  <a:ext cx="1278235" cy="1449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Phase 1 - MVP 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웹 서비스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F0A9EC-B0C3-B623-ACA8-C5C269918A37}"/>
                    </a:ext>
                  </a:extLst>
                </p:cNvPr>
                <p:cNvSpPr txBox="1"/>
                <p:nvPr/>
              </p:nvSpPr>
              <p:spPr>
                <a:xfrm>
                  <a:off x="431999" y="4096343"/>
                  <a:ext cx="204671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>
                    <a:buClr>
                      <a:srgbClr val="EC6570"/>
                    </a:buClr>
                    <a:defRPr/>
                  </a:pPr>
                  <a:r>
                    <a:rPr lang="ko-KR" altLang="en-US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고객 요청조건 DB </a:t>
                  </a:r>
                  <a:r>
                    <a:rPr lang="en-US" altLang="ko-KR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lang="ko-KR" altLang="en-US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공급자 제약 DB </a:t>
                  </a:r>
                  <a:r>
                    <a:rPr lang="en-US" altLang="ko-KR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lang="ko-KR" altLang="en-US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자동 파이프라인·스코어링</a:t>
                  </a: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7398D3E3-2ADB-919B-BD33-4FA99813E960}"/>
                  </a:ext>
                </a:extLst>
              </p:cNvPr>
              <p:cNvGrpSpPr/>
              <p:nvPr/>
            </p:nvGrpSpPr>
            <p:grpSpPr>
              <a:xfrm>
                <a:off x="4247231" y="3968842"/>
                <a:ext cx="518346" cy="215467"/>
                <a:chOff x="4247231" y="3972949"/>
                <a:chExt cx="518346" cy="215467"/>
              </a:xfrm>
            </p:grpSpPr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0EB487A6-7D93-60E3-E6AE-3A01A34DABFF}"/>
                    </a:ext>
                  </a:extLst>
                </p:cNvPr>
                <p:cNvSpPr/>
                <p:nvPr/>
              </p:nvSpPr>
              <p:spPr>
                <a:xfrm>
                  <a:off x="4247231" y="3972949"/>
                  <a:ext cx="518346" cy="215467"/>
                </a:xfrm>
                <a:prstGeom prst="roundRect">
                  <a:avLst/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74055F53-AB81-0CDB-030D-BBF50CC8DC1A}"/>
                    </a:ext>
                  </a:extLst>
                </p:cNvPr>
                <p:cNvSpPr txBox="1"/>
                <p:nvPr/>
              </p:nvSpPr>
              <p:spPr>
                <a:xfrm>
                  <a:off x="4395190" y="4015446"/>
                  <a:ext cx="222428" cy="13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개월</a:t>
                  </a:r>
                </a:p>
              </p:txBody>
            </p: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2FF889-A3A7-A8C0-26DA-3648C0F56014}"/>
                </a:ext>
              </a:extLst>
            </p:cNvPr>
            <p:cNvSpPr txBox="1"/>
            <p:nvPr/>
          </p:nvSpPr>
          <p:spPr>
            <a:xfrm>
              <a:off x="5049678" y="4367023"/>
              <a:ext cx="22242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개월</a:t>
              </a:r>
            </a:p>
          </p:txBody>
        </p:sp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80692F99-4449-E746-8CE1-FC28DBB17B95}"/>
                </a:ext>
              </a:extLst>
            </p:cNvPr>
            <p:cNvGrpSpPr/>
            <p:nvPr/>
          </p:nvGrpSpPr>
          <p:grpSpPr>
            <a:xfrm>
              <a:off x="5556206" y="4726904"/>
              <a:ext cx="3100258" cy="215467"/>
              <a:chOff x="5556206" y="4777704"/>
              <a:chExt cx="3100258" cy="215467"/>
            </a:xfrm>
          </p:grpSpPr>
          <p:sp>
            <p:nvSpPr>
              <p:cNvPr id="106" name="사각형: 둥근 모서리 105">
                <a:extLst>
                  <a:ext uri="{FF2B5EF4-FFF2-40B4-BE49-F238E27FC236}">
                    <a16:creationId xmlns:a16="http://schemas.microsoft.com/office/drawing/2014/main" id="{B4D204C7-28F0-089C-2598-6546EDCFD013}"/>
                  </a:ext>
                </a:extLst>
              </p:cNvPr>
              <p:cNvSpPr/>
              <p:nvPr/>
            </p:nvSpPr>
            <p:spPr>
              <a:xfrm>
                <a:off x="5556206" y="4777704"/>
                <a:ext cx="3100258" cy="215467"/>
              </a:xfrm>
              <a:prstGeom prst="roundRect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3E4E6F2-EF7A-7A51-5920-520049F8A546}"/>
                  </a:ext>
                </a:extLst>
              </p:cNvPr>
              <p:cNvSpPr txBox="1"/>
              <p:nvPr/>
            </p:nvSpPr>
            <p:spPr>
              <a:xfrm>
                <a:off x="6975463" y="4820201"/>
                <a:ext cx="261745" cy="1304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15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개월</a:t>
                </a:r>
              </a:p>
            </p:txBody>
          </p:sp>
        </p:grp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E4400823-4F71-AD1C-6869-442DF2F12717}"/>
                </a:ext>
              </a:extLst>
            </p:cNvPr>
            <p:cNvGrpSpPr/>
            <p:nvPr/>
          </p:nvGrpSpPr>
          <p:grpSpPr>
            <a:xfrm>
              <a:off x="3696051" y="5129282"/>
              <a:ext cx="4960413" cy="215467"/>
              <a:chOff x="3696051" y="5180082"/>
              <a:chExt cx="4960413" cy="215467"/>
            </a:xfrm>
          </p:grpSpPr>
          <p:sp>
            <p:nvSpPr>
              <p:cNvPr id="107" name="사각형: 둥근 모서리 106">
                <a:extLst>
                  <a:ext uri="{FF2B5EF4-FFF2-40B4-BE49-F238E27FC236}">
                    <a16:creationId xmlns:a16="http://schemas.microsoft.com/office/drawing/2014/main" id="{A7C10F3E-3035-5490-4F65-E4612A834857}"/>
                  </a:ext>
                </a:extLst>
              </p:cNvPr>
              <p:cNvSpPr/>
              <p:nvPr/>
            </p:nvSpPr>
            <p:spPr>
              <a:xfrm>
                <a:off x="3696051" y="5180082"/>
                <a:ext cx="4960413" cy="215467"/>
              </a:xfrm>
              <a:prstGeom prst="roundRect">
                <a:avLst/>
              </a:prstGeom>
              <a:solidFill>
                <a:srgbClr val="E9E9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1072A39-62F6-7E15-A6F2-4A130AE22F8F}"/>
                  </a:ext>
                </a:extLst>
              </p:cNvPr>
              <p:cNvSpPr txBox="1"/>
              <p:nvPr/>
            </p:nvSpPr>
            <p:spPr>
              <a:xfrm>
                <a:off x="6036450" y="5222579"/>
                <a:ext cx="279615" cy="1304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개월</a:t>
                </a: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5CCE41C8-1E80-1483-7DEF-2DF0F1332667}"/>
              </a:ext>
            </a:extLst>
          </p:cNvPr>
          <p:cNvGrpSpPr/>
          <p:nvPr/>
        </p:nvGrpSpPr>
        <p:grpSpPr>
          <a:xfrm>
            <a:off x="431999" y="5571427"/>
            <a:ext cx="8280000" cy="605715"/>
            <a:chOff x="432000" y="5584127"/>
            <a:chExt cx="8320556" cy="605715"/>
          </a:xfrm>
        </p:grpSpPr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F3636728-20D9-C8D0-18FB-AA6669422476}"/>
                </a:ext>
              </a:extLst>
            </p:cNvPr>
            <p:cNvGrpSpPr/>
            <p:nvPr/>
          </p:nvGrpSpPr>
          <p:grpSpPr>
            <a:xfrm>
              <a:off x="432000" y="5584127"/>
              <a:ext cx="1937465" cy="605715"/>
              <a:chOff x="432000" y="5647627"/>
              <a:chExt cx="1937465" cy="605715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88898450-3EEE-0954-879A-4411B9C76BB9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90583A69-57D7-AEC3-AAE9-4414EB4C4CB5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267335" cy="411300"/>
                <a:chOff x="431999" y="4029239"/>
                <a:chExt cx="1267335" cy="463883"/>
              </a:xfrm>
            </p:grpSpPr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DC8FBBF-E5F0-7206-4AFB-0BAEF737F412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179857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M2</a:t>
                  </a: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2AF39AB-3278-D6EF-953A-470E412DCCDD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267335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PoC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게이트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백테스팅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차 리포트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리드타임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오탐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실측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BBA3F88D-46E5-AC3E-037F-92311D7B69A5}"/>
                </a:ext>
              </a:extLst>
            </p:cNvPr>
            <p:cNvGrpSpPr/>
            <p:nvPr/>
          </p:nvGrpSpPr>
          <p:grpSpPr>
            <a:xfrm>
              <a:off x="2559697" y="5584127"/>
              <a:ext cx="1937465" cy="605715"/>
              <a:chOff x="432000" y="5647627"/>
              <a:chExt cx="1937465" cy="605715"/>
            </a:xfrm>
          </p:grpSpPr>
          <p:sp>
            <p:nvSpPr>
              <p:cNvPr id="195" name="사각형: 둥근 모서리 194">
                <a:extLst>
                  <a:ext uri="{FF2B5EF4-FFF2-40B4-BE49-F238E27FC236}">
                    <a16:creationId xmlns:a16="http://schemas.microsoft.com/office/drawing/2014/main" id="{E11D713B-2547-8D28-6600-5C9367FE6B71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7327D080-3D70-A406-534C-239E85D951B0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167627" cy="411300"/>
                <a:chOff x="431999" y="4029239"/>
                <a:chExt cx="1167627" cy="463883"/>
              </a:xfrm>
            </p:grpSpPr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61EDB6EB-779A-972E-1E57-15B9372434F4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181460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M5</a:t>
                  </a: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65ABA912-7615-97B1-C9B1-2568026DAB15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167627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MVP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오픈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대시보드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알림 베타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골든셋 평가표</a:t>
                  </a:r>
                </a:p>
              </p:txBody>
            </p:sp>
          </p:grpSp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BBACAA57-1EC6-DB39-E47C-69BFAE5467F3}"/>
                </a:ext>
              </a:extLst>
            </p:cNvPr>
            <p:cNvGrpSpPr/>
            <p:nvPr/>
          </p:nvGrpSpPr>
          <p:grpSpPr>
            <a:xfrm>
              <a:off x="4687394" y="5584127"/>
              <a:ext cx="1937465" cy="605715"/>
              <a:chOff x="432000" y="5647627"/>
              <a:chExt cx="1937465" cy="605715"/>
            </a:xfrm>
          </p:grpSpPr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242D77F4-287C-04EB-FF7B-DF801081EA0A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9B6565A6-1FCE-270F-0813-08A7FE711690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051570" cy="411300"/>
                <a:chOff x="431999" y="4029239"/>
                <a:chExt cx="1051570" cy="463883"/>
              </a:xfrm>
            </p:grpSpPr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A30EE4BC-5DA0-C1C6-0DB1-50BA74A602C7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183063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M9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22B08483-589C-4128-477D-B084ABF1D486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051570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KPI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게이트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1·2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목표치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대비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달성률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점검</a:t>
                  </a:r>
                </a:p>
              </p:txBody>
            </p:sp>
          </p:grp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92345231-54D9-F005-2B82-D0B2A6446BF2}"/>
                </a:ext>
              </a:extLst>
            </p:cNvPr>
            <p:cNvGrpSpPr/>
            <p:nvPr/>
          </p:nvGrpSpPr>
          <p:grpSpPr>
            <a:xfrm>
              <a:off x="6815091" y="5584127"/>
              <a:ext cx="1937465" cy="605715"/>
              <a:chOff x="432000" y="5647627"/>
              <a:chExt cx="1937465" cy="605715"/>
            </a:xfrm>
          </p:grpSpPr>
          <p:sp>
            <p:nvSpPr>
              <p:cNvPr id="205" name="사각형: 둥근 모서리 204">
                <a:extLst>
                  <a:ext uri="{FF2B5EF4-FFF2-40B4-BE49-F238E27FC236}">
                    <a16:creationId xmlns:a16="http://schemas.microsoft.com/office/drawing/2014/main" id="{98A4C45C-84C0-2216-F7F3-8E421EB22A76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B7F409C6-9389-AD7D-A471-F38D29C17815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116011" cy="411300"/>
                <a:chOff x="431999" y="4029239"/>
                <a:chExt cx="1116011" cy="463883"/>
              </a:xfrm>
            </p:grpSpPr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EF9DAF39-232E-71B5-952F-F6777D3A456D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257763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M24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48F0FEC-4F12-E7A5-F154-47BFE478F817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116011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최종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KPI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달성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SaaS/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글로벌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확장 준비 완료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20514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D072-9F6E-3EE8-7359-AFAC99CF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A1A9513-65B6-2F7D-2027-4B122060108C}"/>
              </a:ext>
            </a:extLst>
          </p:cNvPr>
          <p:cNvSpPr/>
          <p:nvPr/>
        </p:nvSpPr>
        <p:spPr>
          <a:xfrm>
            <a:off x="432000" y="2271231"/>
            <a:ext cx="2628000" cy="1660573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E16112A-F326-6E51-5C65-9B39A4CF8347}"/>
              </a:ext>
            </a:extLst>
          </p:cNvPr>
          <p:cNvSpPr/>
          <p:nvPr/>
        </p:nvSpPr>
        <p:spPr>
          <a:xfrm>
            <a:off x="6107388" y="2271231"/>
            <a:ext cx="2604612" cy="1660573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22CC25E-CC6A-B46F-AADA-40E0579608EA}"/>
              </a:ext>
            </a:extLst>
          </p:cNvPr>
          <p:cNvSpPr/>
          <p:nvPr/>
        </p:nvSpPr>
        <p:spPr>
          <a:xfrm>
            <a:off x="3258000" y="2271231"/>
            <a:ext cx="2628000" cy="1660573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A1E7CA2-6A11-338D-9761-B786DB5F5F21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6C23764-76E0-D608-827D-FA0E1BB05695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3C67732-F80F-4282-C91B-F0EC2B5D132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58A63C-D416-32EE-5B57-701FC2384052}"/>
                </a:ext>
              </a:extLst>
            </p:cNvPr>
            <p:cNvGrpSpPr/>
            <p:nvPr/>
          </p:nvGrpSpPr>
          <p:grpSpPr>
            <a:xfrm>
              <a:off x="404618" y="922962"/>
              <a:ext cx="7704994" cy="523558"/>
              <a:chOff x="404618" y="928733"/>
              <a:chExt cx="7704994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F8D6C7-10CE-B1D6-BF54-9E9A165A75B9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7049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각 리스크는 발생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가능성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아니라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탐지 시점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게이트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완화 장치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폴백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경로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관리합니다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간트의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상시 검증 게이트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(p.30)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와 직접 연동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E3DAA0-A03F-F4FE-DAF6-59DFCC5F12A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7659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실패 경로를 먼저 설계했습니다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- 6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 리스크 + B2B 운영 리스크의 완화 장치와 게이트 연동 대응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1338C0B6-5C0C-74D5-A138-B325050210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33FE83-22F5-EEFA-DA51-498A1D04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E84B0-560A-BB47-E708-A3AD91226D31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6.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리스크 관리 및 대응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(Risk &amp; Mitigation)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D2A1806-9578-6FB4-7922-9793F14C524E}"/>
              </a:ext>
            </a:extLst>
          </p:cNvPr>
          <p:cNvGrpSpPr/>
          <p:nvPr/>
        </p:nvGrpSpPr>
        <p:grpSpPr>
          <a:xfrm>
            <a:off x="432000" y="5839023"/>
            <a:ext cx="8280000" cy="351308"/>
            <a:chOff x="432000" y="5735326"/>
            <a:chExt cx="8280000" cy="35130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223C2FA-FD46-8B03-B2C0-4A81AF7FF440}"/>
                </a:ext>
              </a:extLst>
            </p:cNvPr>
            <p:cNvSpPr/>
            <p:nvPr/>
          </p:nvSpPr>
          <p:spPr>
            <a:xfrm>
              <a:off x="432000" y="5735326"/>
              <a:ext cx="8280000" cy="351308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ADFE58-FA4D-16E8-7950-05751B9FF5F9}"/>
                </a:ext>
              </a:extLst>
            </p:cNvPr>
            <p:cNvSpPr txBox="1"/>
            <p:nvPr/>
          </p:nvSpPr>
          <p:spPr>
            <a:xfrm>
              <a:off x="1159393" y="5841731"/>
              <a:ext cx="677493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리스크는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없다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 아니라 게이트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(M2·M5·M9·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에서 조기 탐지 → 사전 정의된 완화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폴백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경로로 흡수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좁고 깊은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MVP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설계 자체가 최대의 리스크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헤지입니다 · B2B 운영 리스크 6종(입점사 공급 불가 · 응답 지연 · 리드타임 불일치 · 혹서기 배송 품질 · 자동 제안 오류 · 단체주문 CS)은 공급자 제약 DB 사전검증 + 담당자 확인 폴백 + 콜드체인 SLA + CS 전담 라우팅으로 흡수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542E42-3062-E525-0009-255719CF5F93}"/>
                </a:ext>
              </a:extLst>
            </p:cNvPr>
            <p:cNvSpPr txBox="1"/>
            <p:nvPr/>
          </p:nvSpPr>
          <p:spPr>
            <a:xfrm>
              <a:off x="565868" y="5830189"/>
              <a:ext cx="482504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대응 원칙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19D886E-86C8-F367-BB9C-3A9070216FA0}"/>
              </a:ext>
            </a:extLst>
          </p:cNvPr>
          <p:cNvSpPr txBox="1"/>
          <p:nvPr/>
        </p:nvSpPr>
        <p:spPr>
          <a:xfrm>
            <a:off x="5318760" y="10330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887E11D-2CF7-89AD-6003-C181FD3EADED}"/>
              </a:ext>
            </a:extLst>
          </p:cNvPr>
          <p:cNvGrpSpPr/>
          <p:nvPr/>
        </p:nvGrpSpPr>
        <p:grpSpPr>
          <a:xfrm>
            <a:off x="612000" y="2433217"/>
            <a:ext cx="7931694" cy="1336600"/>
            <a:chOff x="612000" y="2403204"/>
            <a:chExt cx="7931694" cy="1336600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6BDE50-B56F-092A-5CAF-3E4002001A76}"/>
                </a:ext>
              </a:extLst>
            </p:cNvPr>
            <p:cNvGrpSpPr/>
            <p:nvPr/>
          </p:nvGrpSpPr>
          <p:grpSpPr>
            <a:xfrm>
              <a:off x="612000" y="2403204"/>
              <a:ext cx="2268000" cy="1172452"/>
              <a:chOff x="532868" y="2419194"/>
              <a:chExt cx="2268000" cy="1172452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4F3282-8DAA-BAB9-BD78-632A5B0FC76C}"/>
                  </a:ext>
                </a:extLst>
              </p:cNvPr>
              <p:cNvSpPr txBox="1"/>
              <p:nvPr/>
            </p:nvSpPr>
            <p:spPr>
              <a:xfrm>
                <a:off x="532868" y="2419194"/>
                <a:ext cx="147861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기술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-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정확도 미달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CC3492-2697-88C8-2FF5-238AAD3075D0}"/>
                  </a:ext>
                </a:extLst>
              </p:cNvPr>
              <p:cNvSpPr txBox="1"/>
              <p:nvPr/>
            </p:nvSpPr>
            <p:spPr>
              <a:xfrm>
                <a:off x="532868" y="2657284"/>
                <a:ext cx="1405193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성장기 탐지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(0.7~0.85)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미달할 가능성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47DBDB-5C18-EC91-F160-B0E65328C849}"/>
                  </a:ext>
                </a:extLst>
              </p:cNvPr>
              <p:cNvSpPr txBox="1"/>
              <p:nvPr/>
            </p:nvSpPr>
            <p:spPr>
              <a:xfrm>
                <a:off x="532868" y="3124852"/>
                <a:ext cx="2124621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베이스라인 대비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개선폭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설계해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절대치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리스크 축소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M2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게이트에서 조기 실측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미달 시 가중치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 재설계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픽미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폴백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유지</a:t>
                </a:r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AB082970-CE7D-6EAF-93AF-41508A3C84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51935"/>
                <a:ext cx="2268000" cy="0"/>
              </a:xfrm>
              <a:prstGeom prst="line">
                <a:avLst/>
              </a:prstGeom>
              <a:gradFill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FA5CF5A-7111-3D15-D2D3-2BA66BC514A2}"/>
                </a:ext>
              </a:extLst>
            </p:cNvPr>
            <p:cNvGrpSpPr/>
            <p:nvPr/>
          </p:nvGrpSpPr>
          <p:grpSpPr>
            <a:xfrm>
              <a:off x="3438000" y="2403204"/>
              <a:ext cx="2268000" cy="1172452"/>
              <a:chOff x="532868" y="2419194"/>
              <a:chExt cx="2268000" cy="117245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DFE51F-E13E-54EF-CFCB-ABEB54C421FE}"/>
                  </a:ext>
                </a:extLst>
              </p:cNvPr>
              <p:cNvSpPr txBox="1"/>
              <p:nvPr/>
            </p:nvSpPr>
            <p:spPr>
              <a:xfrm>
                <a:off x="532868" y="2419194"/>
                <a:ext cx="1800493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-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소스 차단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약관 변경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D95484-9D3B-0C06-6703-5F3C2BCA9CFF}"/>
                  </a:ext>
                </a:extLst>
              </p:cNvPr>
              <p:cNvSpPr txBox="1"/>
              <p:nvPr/>
            </p:nvSpPr>
            <p:spPr>
              <a:xfrm>
                <a:off x="532868" y="2657284"/>
                <a:ext cx="1337226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소스의 정책 변경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차단으로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 공백 발생 가능성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DE725C-7911-A188-0C34-CD7C02399F8E}"/>
                  </a:ext>
                </a:extLst>
              </p:cNvPr>
              <p:cNvSpPr txBox="1"/>
              <p:nvPr/>
            </p:nvSpPr>
            <p:spPr>
              <a:xfrm>
                <a:off x="532868" y="3124852"/>
                <a:ext cx="2218556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무료 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랩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유튜브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우선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 이중화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원문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미보관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집계 지표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구조라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비용 최소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거버넌스 문서화로 준법 리스크 차단</a:t>
                </a: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156D1224-A19B-4D46-CD80-D60B3D578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51935"/>
                <a:ext cx="2268000" cy="0"/>
              </a:xfrm>
              <a:prstGeom prst="line">
                <a:avLst/>
              </a:prstGeom>
              <a:gradFill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69FE531-0DD1-7F94-AA1E-ACC957C4DC2F}"/>
                </a:ext>
              </a:extLst>
            </p:cNvPr>
            <p:cNvGrpSpPr/>
            <p:nvPr/>
          </p:nvGrpSpPr>
          <p:grpSpPr>
            <a:xfrm>
              <a:off x="6275694" y="2403204"/>
              <a:ext cx="2268000" cy="1336600"/>
              <a:chOff x="532868" y="2419194"/>
              <a:chExt cx="2268000" cy="1336600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59EC86-8654-152D-F8F3-1D3F985262FE}"/>
                  </a:ext>
                </a:extLst>
              </p:cNvPr>
              <p:cNvSpPr txBox="1"/>
              <p:nvPr/>
            </p:nvSpPr>
            <p:spPr>
              <a:xfrm>
                <a:off x="532868" y="2419194"/>
                <a:ext cx="185211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비용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의존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-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단가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정책 변동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3C1ADD-3E6B-96EE-C1BE-EED125992E13}"/>
                  </a:ext>
                </a:extLst>
              </p:cNvPr>
              <p:cNvSpPr txBox="1"/>
              <p:nvPr/>
            </p:nvSpPr>
            <p:spPr>
              <a:xfrm>
                <a:off x="532868" y="2657284"/>
                <a:ext cx="1438855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LLM 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단가 인상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정책 변경으로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운영비 급증 가능성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1B18056-2EB1-10A8-80B0-679C538D0C60}"/>
                  </a:ext>
                </a:extLst>
              </p:cNvPr>
              <p:cNvSpPr txBox="1"/>
              <p:nvPr/>
            </p:nvSpPr>
            <p:spPr>
              <a:xfrm>
                <a:off x="532868" y="3124852"/>
                <a:ext cx="2062103" cy="6309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티어링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50%↓ +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캐싱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월 토큰 상한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(budget cap) · 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(Claude/GPT/Gemini)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호출 추상화 계층으로 모델 교체 가능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개발도구는 정액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($200/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FB97A59A-15BC-ADE6-2128-080B75205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51935"/>
                <a:ext cx="2268000" cy="0"/>
              </a:xfrm>
              <a:prstGeom prst="line">
                <a:avLst/>
              </a:prstGeom>
              <a:gradFill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AD4140-9609-BECF-D070-D59E978AB46A}"/>
              </a:ext>
            </a:extLst>
          </p:cNvPr>
          <p:cNvSpPr/>
          <p:nvPr/>
        </p:nvSpPr>
        <p:spPr>
          <a:xfrm>
            <a:off x="432000" y="4038209"/>
            <a:ext cx="2628000" cy="1660573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FB58FCC-B586-1F30-AB2D-D97B59D79EA9}"/>
              </a:ext>
            </a:extLst>
          </p:cNvPr>
          <p:cNvSpPr/>
          <p:nvPr/>
        </p:nvSpPr>
        <p:spPr>
          <a:xfrm>
            <a:off x="6107388" y="4038209"/>
            <a:ext cx="2604612" cy="1660573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E310E82-7B58-84E6-780F-0ECDF4A74F4E}"/>
              </a:ext>
            </a:extLst>
          </p:cNvPr>
          <p:cNvSpPr/>
          <p:nvPr/>
        </p:nvSpPr>
        <p:spPr>
          <a:xfrm>
            <a:off x="3258000" y="4038209"/>
            <a:ext cx="2628000" cy="1660573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6888EC2-6F25-745E-5523-00B0221B5A9A}"/>
              </a:ext>
            </a:extLst>
          </p:cNvPr>
          <p:cNvGrpSpPr/>
          <p:nvPr/>
        </p:nvGrpSpPr>
        <p:grpSpPr>
          <a:xfrm>
            <a:off x="612000" y="4200195"/>
            <a:ext cx="2268000" cy="1172452"/>
            <a:chOff x="532868" y="2419194"/>
            <a:chExt cx="2268000" cy="117245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DE0AEC-536A-E55B-2101-7165D5161A64}"/>
                </a:ext>
              </a:extLst>
            </p:cNvPr>
            <p:cNvSpPr txBox="1"/>
            <p:nvPr/>
          </p:nvSpPr>
          <p:spPr>
            <a:xfrm>
              <a:off x="532868" y="2419194"/>
              <a:ext cx="166584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인력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AI </a:t>
              </a:r>
              <a:r>
                <a:rPr kumimoji="0" lang="ko-KR" altLang="en-US" sz="13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석사급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채용 지연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EA7614-68EA-4B92-DDFA-C734F9F7B3D9}"/>
                </a:ext>
              </a:extLst>
            </p:cNvPr>
            <p:cNvSpPr txBox="1"/>
            <p:nvPr/>
          </p:nvSpPr>
          <p:spPr>
            <a:xfrm>
              <a:off x="532868" y="2657284"/>
              <a:ext cx="1453283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R&amp;D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직접인력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(8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+)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채용 지연 시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일정 리스크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87C7174-D3AA-D8E4-57CF-17D49547E54A}"/>
                </a:ext>
              </a:extLst>
            </p:cNvPr>
            <p:cNvSpPr txBox="1"/>
            <p:nvPr/>
          </p:nvSpPr>
          <p:spPr>
            <a:xfrm>
              <a:off x="532868" y="3124852"/>
              <a:ext cx="2020425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XPLAT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그로스해커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7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 브리지 투입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참여연구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·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인재채용 지원 활용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청년 의무채용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트랙과 연계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직무발명보상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공제로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리텐션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FBB63502-C82B-0C49-6A95-77B4B0588EDA}"/>
                </a:ext>
              </a:extLst>
            </p:cNvPr>
            <p:cNvCxnSpPr>
              <a:cxnSpLocks/>
            </p:cNvCxnSpPr>
            <p:nvPr/>
          </p:nvCxnSpPr>
          <p:spPr>
            <a:xfrm>
              <a:off x="532868" y="3051935"/>
              <a:ext cx="2268000" cy="0"/>
            </a:xfrm>
            <a:prstGeom prst="line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13D9152-90D3-FB09-B71F-54031FD602FD}"/>
              </a:ext>
            </a:extLst>
          </p:cNvPr>
          <p:cNvGrpSpPr/>
          <p:nvPr/>
        </p:nvGrpSpPr>
        <p:grpSpPr>
          <a:xfrm>
            <a:off x="3438000" y="4200195"/>
            <a:ext cx="2297745" cy="1172452"/>
            <a:chOff x="532868" y="2419194"/>
            <a:chExt cx="2297745" cy="117245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23BD63E-3083-6FC1-C5B7-1D443410A387}"/>
                </a:ext>
              </a:extLst>
            </p:cNvPr>
            <p:cNvSpPr txBox="1"/>
            <p:nvPr/>
          </p:nvSpPr>
          <p:spPr>
            <a:xfrm>
              <a:off x="532868" y="2419194"/>
              <a:ext cx="1997342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시장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B2B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전환 지연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경쟁 진입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FA958C1-5DB4-F582-FC17-C8BAA4BAE754}"/>
                </a:ext>
              </a:extLst>
            </p:cNvPr>
            <p:cNvSpPr txBox="1"/>
            <p:nvPr/>
          </p:nvSpPr>
          <p:spPr>
            <a:xfrm>
              <a:off x="532868" y="2657284"/>
              <a:ext cx="1245854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정기계약 확산 지연 또는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대형사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유사 서비스 진입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5533D0-3DBE-EE26-59BC-F5C5A95D6E48}"/>
                </a:ext>
              </a:extLst>
            </p:cNvPr>
            <p:cNvSpPr txBox="1"/>
            <p:nvPr/>
          </p:nvSpPr>
          <p:spPr>
            <a:xfrm>
              <a:off x="532868" y="3124852"/>
              <a:ext cx="2297745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테스트베드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50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개사 파이프라인으로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초기 수요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선확보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B2C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캐시플로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(LTV/CAC 6.7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병행으로 런웨이 방어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특허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IP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장벽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해자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C55851AD-5DC3-FCCD-3D2C-8F983D1CA18E}"/>
                </a:ext>
              </a:extLst>
            </p:cNvPr>
            <p:cNvCxnSpPr>
              <a:cxnSpLocks/>
            </p:cNvCxnSpPr>
            <p:nvPr/>
          </p:nvCxnSpPr>
          <p:spPr>
            <a:xfrm>
              <a:off x="532868" y="3051935"/>
              <a:ext cx="2268000" cy="0"/>
            </a:xfrm>
            <a:prstGeom prst="line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856DDAF-862D-8A95-DEDF-42AC86BF5A00}"/>
              </a:ext>
            </a:extLst>
          </p:cNvPr>
          <p:cNvGrpSpPr/>
          <p:nvPr/>
        </p:nvGrpSpPr>
        <p:grpSpPr>
          <a:xfrm>
            <a:off x="6275694" y="4200195"/>
            <a:ext cx="2268000" cy="1172452"/>
            <a:chOff x="532868" y="2419194"/>
            <a:chExt cx="2268000" cy="117245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9903BC-24A5-58EC-2EB6-4E20F8C6BBE8}"/>
                </a:ext>
              </a:extLst>
            </p:cNvPr>
            <p:cNvSpPr txBox="1"/>
            <p:nvPr/>
          </p:nvSpPr>
          <p:spPr>
            <a:xfrm>
              <a:off x="532868" y="2419194"/>
              <a:ext cx="2049920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규제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개인정보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저작권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표시광고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A12BD25-83B6-ED13-382A-BF589120C60B}"/>
                </a:ext>
              </a:extLst>
            </p:cNvPr>
            <p:cNvSpPr txBox="1"/>
            <p:nvPr/>
          </p:nvSpPr>
          <p:spPr>
            <a:xfrm>
              <a:off x="532868" y="2657284"/>
              <a:ext cx="1097736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수집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 표기 관련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컴플라이언스 이슈 가능성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C70D36-F3F3-1D6A-69A2-B73383AD0906}"/>
                </a:ext>
              </a:extLst>
            </p:cNvPr>
            <p:cNvSpPr txBox="1"/>
            <p:nvPr/>
          </p:nvSpPr>
          <p:spPr>
            <a:xfrm>
              <a:off x="532868" y="3124852"/>
              <a:ext cx="1927131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원문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미보관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robots/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약관 준수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’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라벨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감사로그 분리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법률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)·IP(MAPS)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자문 상시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ISMS-P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로드맵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('26.3Q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신청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81F57ECC-00BB-8E69-55E9-69985897F034}"/>
                </a:ext>
              </a:extLst>
            </p:cNvPr>
            <p:cNvCxnSpPr>
              <a:cxnSpLocks/>
            </p:cNvCxnSpPr>
            <p:nvPr/>
          </p:nvCxnSpPr>
          <p:spPr>
            <a:xfrm>
              <a:off x="532868" y="3051935"/>
              <a:ext cx="2268000" cy="0"/>
            </a:xfrm>
            <a:prstGeom prst="line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CB0060F-368A-FDC5-0F9D-B48EA20BEB0E}"/>
              </a:ext>
            </a:extLst>
          </p:cNvPr>
          <p:cNvGrpSpPr/>
          <p:nvPr/>
        </p:nvGrpSpPr>
        <p:grpSpPr>
          <a:xfrm>
            <a:off x="2270610" y="2148105"/>
            <a:ext cx="828598" cy="233295"/>
            <a:chOff x="1875875" y="3065402"/>
            <a:chExt cx="812271" cy="233295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F5B4212-BDCC-7051-3BC3-A5FA3F4288E7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52BBCE-CA9F-241C-481A-4A6BB3DB10DB}"/>
                </a:ext>
              </a:extLst>
            </p:cNvPr>
            <p:cNvSpPr txBox="1"/>
            <p:nvPr/>
          </p:nvSpPr>
          <p:spPr>
            <a:xfrm>
              <a:off x="1956280" y="3112800"/>
              <a:ext cx="6514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게이트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M2·M9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7A89E028-440B-E298-71DD-9605665C3EF1}"/>
              </a:ext>
            </a:extLst>
          </p:cNvPr>
          <p:cNvGrpSpPr/>
          <p:nvPr/>
        </p:nvGrpSpPr>
        <p:grpSpPr>
          <a:xfrm>
            <a:off x="5096610" y="2148105"/>
            <a:ext cx="828598" cy="233295"/>
            <a:chOff x="1875875" y="3065402"/>
            <a:chExt cx="812271" cy="233295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34305D95-8C33-6405-5677-B2F71AF48F1A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191AC94-C2FC-325C-ABA3-B8B99BBF08BC}"/>
                </a:ext>
              </a:extLst>
            </p:cNvPr>
            <p:cNvSpPr txBox="1"/>
            <p:nvPr/>
          </p:nvSpPr>
          <p:spPr>
            <a:xfrm>
              <a:off x="2036397" y="3112800"/>
              <a:ext cx="4912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상시 게이트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83D6C40-5C99-EB91-DF7D-2A1986855434}"/>
              </a:ext>
            </a:extLst>
          </p:cNvPr>
          <p:cNvGrpSpPr/>
          <p:nvPr/>
        </p:nvGrpSpPr>
        <p:grpSpPr>
          <a:xfrm>
            <a:off x="7934304" y="2148105"/>
            <a:ext cx="828598" cy="233295"/>
            <a:chOff x="1875875" y="3065402"/>
            <a:chExt cx="812271" cy="233295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1B8DAF06-26AB-7A33-E30B-70B426EB5D09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8CD5575-4CF4-57AB-C1E7-EE5AB79C72B2}"/>
                </a:ext>
              </a:extLst>
            </p:cNvPr>
            <p:cNvSpPr txBox="1"/>
            <p:nvPr/>
          </p:nvSpPr>
          <p:spPr>
            <a:xfrm>
              <a:off x="1978097" y="3112800"/>
              <a:ext cx="6078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월간 비용 리뷰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1388779-6EDB-40F4-CB81-3678A8151A3A}"/>
              </a:ext>
            </a:extLst>
          </p:cNvPr>
          <p:cNvGrpSpPr/>
          <p:nvPr/>
        </p:nvGrpSpPr>
        <p:grpSpPr>
          <a:xfrm>
            <a:off x="2270610" y="3915083"/>
            <a:ext cx="828598" cy="233295"/>
            <a:chOff x="1875875" y="3065402"/>
            <a:chExt cx="812271" cy="233295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DB954EA5-F54B-0AD9-DC54-147FF59F9DAB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562A917-F423-D125-09FE-FA66061670AD}"/>
                </a:ext>
              </a:extLst>
            </p:cNvPr>
            <p:cNvSpPr txBox="1"/>
            <p:nvPr/>
          </p:nvSpPr>
          <p:spPr>
            <a:xfrm>
              <a:off x="1991456" y="3112800"/>
              <a:ext cx="58111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M2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인력 점검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01C9760-4EF9-EF4F-655E-8AC54BADD74A}"/>
              </a:ext>
            </a:extLst>
          </p:cNvPr>
          <p:cNvGrpSpPr/>
          <p:nvPr/>
        </p:nvGrpSpPr>
        <p:grpSpPr>
          <a:xfrm>
            <a:off x="5096610" y="3915083"/>
            <a:ext cx="828598" cy="233295"/>
            <a:chOff x="1875875" y="3065402"/>
            <a:chExt cx="812271" cy="233295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050E8EB3-7AAF-9EDA-87D4-F617EAEDDF7C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1FF6E4-1B82-43F6-E7E9-8EFEE52D97B0}"/>
                </a:ext>
              </a:extLst>
            </p:cNvPr>
            <p:cNvSpPr txBox="1"/>
            <p:nvPr/>
          </p:nvSpPr>
          <p:spPr>
            <a:xfrm>
              <a:off x="1956280" y="3112800"/>
              <a:ext cx="6514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Q3 100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건 점검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6A6425F-5C74-6B0F-2DFC-35EE25A4EF57}"/>
              </a:ext>
            </a:extLst>
          </p:cNvPr>
          <p:cNvGrpSpPr/>
          <p:nvPr/>
        </p:nvGrpSpPr>
        <p:grpSpPr>
          <a:xfrm>
            <a:off x="7934304" y="3915083"/>
            <a:ext cx="828598" cy="233295"/>
            <a:chOff x="1875875" y="3065402"/>
            <a:chExt cx="812271" cy="233295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85D8358B-182C-9522-7AD6-8E1F370DB5F0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71ECA4-0BC7-4F71-2418-11325930DFC1}"/>
                </a:ext>
              </a:extLst>
            </p:cNvPr>
            <p:cNvSpPr txBox="1"/>
            <p:nvPr/>
          </p:nvSpPr>
          <p:spPr>
            <a:xfrm>
              <a:off x="1978097" y="3112800"/>
              <a:ext cx="6078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분기 준법 점검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6029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E44C-8B0D-AEA0-E285-E97B0C4C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3D3A842F-7052-ABBE-BE95-D9590B84F5C0}"/>
              </a:ext>
            </a:extLst>
          </p:cNvPr>
          <p:cNvSpPr/>
          <p:nvPr/>
        </p:nvSpPr>
        <p:spPr>
          <a:xfrm>
            <a:off x="0" y="4864231"/>
            <a:ext cx="9143999" cy="1517714"/>
          </a:xfrm>
          <a:prstGeom prst="round2SameRect">
            <a:avLst>
              <a:gd name="adj1" fmla="val 13117"/>
              <a:gd name="adj2" fmla="val 0"/>
            </a:avLst>
          </a:prstGeom>
          <a:solidFill>
            <a:srgbClr val="74AA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3F66D44-A1CE-3CCC-0863-08B81DDE07F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F17E18B-B79A-6257-1958-DFABB4A6D6C4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9B6646F-8069-888B-A346-6DBF6A78890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0ECF163-0D1A-2773-95AC-AF1735C79C11}"/>
                </a:ext>
              </a:extLst>
            </p:cNvPr>
            <p:cNvGrpSpPr/>
            <p:nvPr/>
          </p:nvGrpSpPr>
          <p:grpSpPr>
            <a:xfrm>
              <a:off x="404618" y="922962"/>
              <a:ext cx="8317429" cy="523558"/>
              <a:chOff x="404618" y="928733"/>
              <a:chExt cx="831742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3DDE759-D3ED-F5BF-76D2-ECE3AE4904E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3888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없던 시장을 만들어 선점 → 대체재의 한계 해결 →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 방어막으로 후발 진입 차단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(Creating &amp; Preempting)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6FCA5D-7C1F-E769-E1E8-A65596F6CD1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585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직접 경쟁 전무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(Blue Ocean),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 대안의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구조적 결함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파고드는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통합 모델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F0C96EF-7C22-91A5-9E66-B9DC54D5CD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154C99-7FBC-6B09-382E-481E3B1D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70AAB-87B2-8E00-900F-3DE506ACC800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목표시장 및 경쟁사 현황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75E73DB3-8E7D-BE62-29E0-68C1C3597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199362"/>
              </p:ext>
            </p:extLst>
          </p:nvPr>
        </p:nvGraphicFramePr>
        <p:xfrm>
          <a:off x="377190" y="2470348"/>
          <a:ext cx="4948830" cy="2316000"/>
        </p:xfrm>
        <a:graphic>
          <a:graphicData uri="http://schemas.openxmlformats.org/drawingml/2006/table">
            <a:tbl>
              <a:tblPr/>
              <a:tblGrid>
                <a:gridCol w="887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예시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 한계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O2O 배달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배달의민족 · 쿠팡이츠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주문 중심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— 예측·구독형 불가, 맞춤 큐레이션 제한적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인스타 공구 ·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맘카페 공구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인스타그램 · 지역 맘카페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신뢰성 한계 · 수작업 주문/정산 · 확장성 부재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지역 커뮤니티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당근마켓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범위의 한계 · 일회성 거래 · 품질 보증 불가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프랜차이즈 대량주문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파리바게뜨 · 뚜레쥬르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다양성·혁신성 낮음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— 트렌디 니즈 미충족 · 획일적 대량주문 (유통 78% 독점)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답례품몰 · 기업간식몰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 답례품 쇼핑몰 · 복지몰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규격품 카탈로그 중심 — 트렌드·맞춤 큐레이션 부재, 로컬 브랜드 소싱 불가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14164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오픈마켓 단체주문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네이버 스마트스토어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문의·견적 게시판 수작업 —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공급 제약(MOQ·리드타임) 검증 없음, 매칭 실패 빈발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9919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과제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예측 → 추천 → 랭킹 통합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 불가능성 해소 : 트렌드 조기예측 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자연어 매칭 + 구독·대량주문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국내외 동일 통합 모델 전무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29C5C679-AD21-E71D-F25D-4134387A187D}"/>
              </a:ext>
            </a:extLst>
          </p:cNvPr>
          <p:cNvGrpSpPr/>
          <p:nvPr/>
        </p:nvGrpSpPr>
        <p:grpSpPr>
          <a:xfrm>
            <a:off x="342000" y="2211040"/>
            <a:ext cx="1973488" cy="187074"/>
            <a:chOff x="448028" y="1746916"/>
            <a:chExt cx="1973488" cy="187074"/>
          </a:xfrm>
        </p:grpSpPr>
        <p:pic>
          <p:nvPicPr>
            <p:cNvPr id="9" name="Picture 2" descr="딸기로픽">
              <a:extLst>
                <a:ext uri="{FF2B5EF4-FFF2-40B4-BE49-F238E27FC236}">
                  <a16:creationId xmlns:a16="http://schemas.microsoft.com/office/drawing/2014/main" id="{D3BEB967-4152-DFDC-56D4-1BA4538139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53A85B-360C-F8B2-FBDC-224996A36043}"/>
                </a:ext>
              </a:extLst>
            </p:cNvPr>
            <p:cNvSpPr txBox="1"/>
            <p:nvPr/>
          </p:nvSpPr>
          <p:spPr>
            <a:xfrm>
              <a:off x="739004" y="1748120"/>
              <a:ext cx="168251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간접 경쟁 대안과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구조적 한계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FED0EEA-705A-A98C-0EA8-BAFD90355DC3}"/>
              </a:ext>
            </a:extLst>
          </p:cNvPr>
          <p:cNvGrpSpPr/>
          <p:nvPr/>
        </p:nvGrpSpPr>
        <p:grpSpPr>
          <a:xfrm>
            <a:off x="5463540" y="2211040"/>
            <a:ext cx="2191817" cy="187074"/>
            <a:chOff x="5613770" y="2211040"/>
            <a:chExt cx="2191817" cy="187074"/>
          </a:xfrm>
        </p:grpSpPr>
        <p:pic>
          <p:nvPicPr>
            <p:cNvPr id="15" name="Picture 2" descr="딸기로픽">
              <a:extLst>
                <a:ext uri="{FF2B5EF4-FFF2-40B4-BE49-F238E27FC236}">
                  <a16:creationId xmlns:a16="http://schemas.microsoft.com/office/drawing/2014/main" id="{6FC44C64-D9B6-892C-5997-2C5919122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5613770" y="2211040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B2A95B-99B9-481F-3B79-7F4714C2490A}"/>
                </a:ext>
              </a:extLst>
            </p:cNvPr>
            <p:cNvSpPr txBox="1"/>
            <p:nvPr/>
          </p:nvSpPr>
          <p:spPr>
            <a:xfrm>
              <a:off x="5904746" y="2212244"/>
              <a:ext cx="190084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후발주자 진입을 막는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 방어막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1B57C79-CDFE-561F-B8B8-83FF43469797}"/>
              </a:ext>
            </a:extLst>
          </p:cNvPr>
          <p:cNvGrpSpPr/>
          <p:nvPr/>
        </p:nvGrpSpPr>
        <p:grpSpPr>
          <a:xfrm>
            <a:off x="5463540" y="2470348"/>
            <a:ext cx="3338460" cy="2316000"/>
            <a:chOff x="5463540" y="2470348"/>
            <a:chExt cx="3338460" cy="216238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9D56CCA-B7C3-2E76-65C2-2AB05ADCC5B3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3010942"/>
              <a:ext cx="33384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0075BA2-CF37-953E-FAAA-89FEBB2FAE0E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2470348"/>
              <a:ext cx="3338460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E5CCDF0-B299-ABD0-880B-1F36C970E272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4632728"/>
              <a:ext cx="3338460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40BB67-5851-ABD6-CB05-642D30E831B1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4092130"/>
              <a:ext cx="33384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DAC670E5-FB21-0B2C-80CD-79B1F674D86F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3551536"/>
              <a:ext cx="33384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7205B2C-B566-45AD-2F1B-C8DF09DF1B8A}"/>
                </a:ext>
              </a:extLst>
            </p:cNvPr>
            <p:cNvGrpSpPr/>
            <p:nvPr/>
          </p:nvGrpSpPr>
          <p:grpSpPr>
            <a:xfrm>
              <a:off x="5538355" y="2594831"/>
              <a:ext cx="3242554" cy="291628"/>
              <a:chOff x="5761038" y="2646362"/>
              <a:chExt cx="3242554" cy="29162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B897430-AAC8-0719-5388-40908BD8CDB4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69858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① 데이터 선점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BA5F38-C25F-EFB0-199A-49231CA9EF7F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3242554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실거래 로그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(GMV 1.1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×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 로그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×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공동연구 자산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경쟁사가 살 수 없는 학습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 데이터</a:t>
                </a:r>
                <a:endParaRPr kumimoji="0" lang="en-US" altLang="ko-KR" sz="7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62D2665-DC1B-CF79-1C5B-CC79CA0DE547}"/>
                </a:ext>
              </a:extLst>
            </p:cNvPr>
            <p:cNvGrpSpPr/>
            <p:nvPr/>
          </p:nvGrpSpPr>
          <p:grpSpPr>
            <a:xfrm>
              <a:off x="5538355" y="3135425"/>
              <a:ext cx="2291012" cy="291628"/>
              <a:chOff x="5761038" y="2646362"/>
              <a:chExt cx="2291012" cy="291628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B605906-9B7B-D7C1-5BCF-2A4233D579D4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84414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② AI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고도화 격차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BA6BEC-7586-5026-9057-96D274057C96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2291012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피드백 루프로 시간이 갈수록 추천 정확도 격차 확대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비선형 성장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3627A646-6533-ECBB-C047-2B3E722022D8}"/>
                </a:ext>
              </a:extLst>
            </p:cNvPr>
            <p:cNvGrpSpPr/>
            <p:nvPr/>
          </p:nvGrpSpPr>
          <p:grpSpPr>
            <a:xfrm>
              <a:off x="5538355" y="3676019"/>
              <a:ext cx="1747594" cy="291628"/>
              <a:chOff x="5761038" y="2646362"/>
              <a:chExt cx="1747594" cy="29162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3814AA-BDFE-1FB8-A5D3-5CE3AED5E91B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81176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③ 네트워크 효과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0894537-0812-3DBA-24CE-0F2C3E50FD28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1747594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입점사↑ ↔ 고객↑의 양면 락인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평판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커뮤니티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D68E2E9-4E29-BAFE-3BEA-36409DB8896A}"/>
                </a:ext>
              </a:extLst>
            </p:cNvPr>
            <p:cNvGrpSpPr/>
            <p:nvPr/>
          </p:nvGrpSpPr>
          <p:grpSpPr>
            <a:xfrm>
              <a:off x="5538355" y="4216613"/>
              <a:ext cx="2382383" cy="291628"/>
              <a:chOff x="5761038" y="2646362"/>
              <a:chExt cx="2382383" cy="291628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83E057-F69E-99CA-B3B0-B22D5527932F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4876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④ IP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해자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F0508E-AD96-435E-5BDE-DE713996E5AB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2382383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특허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건 출원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인기도지수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통합추천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플랫폼의 권리 장벽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6FB6A56-956E-454D-17F4-340E24B2DED6}"/>
              </a:ext>
            </a:extLst>
          </p:cNvPr>
          <p:cNvGrpSpPr/>
          <p:nvPr/>
        </p:nvGrpSpPr>
        <p:grpSpPr>
          <a:xfrm>
            <a:off x="342000" y="5068540"/>
            <a:ext cx="4705967" cy="187074"/>
            <a:chOff x="448028" y="1746916"/>
            <a:chExt cx="4705967" cy="187074"/>
          </a:xfrm>
        </p:grpSpPr>
        <p:pic>
          <p:nvPicPr>
            <p:cNvPr id="49" name="Picture 2" descr="딸기로픽">
              <a:extLst>
                <a:ext uri="{FF2B5EF4-FFF2-40B4-BE49-F238E27FC236}">
                  <a16:creationId xmlns:a16="http://schemas.microsoft.com/office/drawing/2014/main" id="{5A4CE1E5-3964-950D-F00B-5185A2C15E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61146E8-6546-10F8-EC71-FF2D4723269A}"/>
                </a:ext>
              </a:extLst>
            </p:cNvPr>
            <p:cNvSpPr txBox="1"/>
            <p:nvPr/>
          </p:nvSpPr>
          <p:spPr>
            <a:xfrm>
              <a:off x="739004" y="1748120"/>
              <a:ext cx="44149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차 목표 시장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—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프리미엄 니치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4,000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억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5%)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에서 시작해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14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조로 확장</a:t>
              </a: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3B56534-F520-5FEB-A414-9A427A871BE6}"/>
              </a:ext>
            </a:extLst>
          </p:cNvPr>
          <p:cNvSpPr/>
          <p:nvPr/>
        </p:nvSpPr>
        <p:spPr>
          <a:xfrm>
            <a:off x="342000" y="5358772"/>
            <a:ext cx="2737738" cy="842003"/>
          </a:xfrm>
          <a:prstGeom prst="roundRect">
            <a:avLst>
              <a:gd name="adj" fmla="val 7693"/>
            </a:avLst>
          </a:prstGeom>
          <a:solidFill>
            <a:schemeClr val="bg1"/>
          </a:solidFill>
          <a:ln>
            <a:noFill/>
          </a:ln>
          <a:effectLst>
            <a:outerShdw blurRad="101600" dist="101600" dir="5400000" sx="94000" sy="94000" algn="t" rotWithShape="0">
              <a:srgbClr val="438DD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42973EF-6348-3FCC-4D6B-D4723B792FA5}"/>
              </a:ext>
            </a:extLst>
          </p:cNvPr>
          <p:cNvSpPr/>
          <p:nvPr/>
        </p:nvSpPr>
        <p:spPr>
          <a:xfrm>
            <a:off x="3203131" y="5358772"/>
            <a:ext cx="2737738" cy="842003"/>
          </a:xfrm>
          <a:prstGeom prst="roundRect">
            <a:avLst>
              <a:gd name="adj" fmla="val 7693"/>
            </a:avLst>
          </a:prstGeom>
          <a:solidFill>
            <a:schemeClr val="bg1"/>
          </a:solidFill>
          <a:ln>
            <a:noFill/>
          </a:ln>
          <a:effectLst>
            <a:outerShdw blurRad="101600" dist="101600" dir="5400000" sx="94000" sy="94000" algn="t" rotWithShape="0">
              <a:srgbClr val="438DD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887798A-15FA-E94E-4A2D-4742FE782FD9}"/>
              </a:ext>
            </a:extLst>
          </p:cNvPr>
          <p:cNvSpPr/>
          <p:nvPr/>
        </p:nvSpPr>
        <p:spPr>
          <a:xfrm>
            <a:off x="6064262" y="5358772"/>
            <a:ext cx="2737738" cy="842003"/>
          </a:xfrm>
          <a:prstGeom prst="roundRect">
            <a:avLst>
              <a:gd name="adj" fmla="val 7693"/>
            </a:avLst>
          </a:prstGeom>
          <a:solidFill>
            <a:schemeClr val="bg1"/>
          </a:solidFill>
          <a:ln>
            <a:noFill/>
          </a:ln>
          <a:effectLst>
            <a:outerShdw blurRad="101600" dist="101600" dir="5400000" sx="94000" sy="94000" algn="t" rotWithShape="0">
              <a:srgbClr val="438DD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5EDE055-D032-F27E-7995-88DDF13AC709}"/>
              </a:ext>
            </a:extLst>
          </p:cNvPr>
          <p:cNvGrpSpPr/>
          <p:nvPr/>
        </p:nvGrpSpPr>
        <p:grpSpPr>
          <a:xfrm>
            <a:off x="822646" y="5502548"/>
            <a:ext cx="1776448" cy="554450"/>
            <a:chOff x="822645" y="5490317"/>
            <a:chExt cx="1776448" cy="55445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F386ECA-CFAD-867F-A0E3-052EDF6062CD}"/>
                </a:ext>
              </a:extLst>
            </p:cNvPr>
            <p:cNvSpPr txBox="1"/>
            <p:nvPr/>
          </p:nvSpPr>
          <p:spPr>
            <a:xfrm>
              <a:off x="1209931" y="5490317"/>
              <a:ext cx="100187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B2C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개인 소비자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4FCED6-CBD1-BBE4-C512-D65B88B257EE}"/>
                </a:ext>
              </a:extLst>
            </p:cNvPr>
            <p:cNvSpPr txBox="1"/>
            <p:nvPr/>
          </p:nvSpPr>
          <p:spPr>
            <a:xfrm>
              <a:off x="822645" y="5724166"/>
              <a:ext cx="1776448" cy="3206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높은 지불의사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(WTP) 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강력한 충성도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전환율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49.5%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 실증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5349199-BDF2-6DAD-2308-D174026851E7}"/>
              </a:ext>
            </a:extLst>
          </p:cNvPr>
          <p:cNvGrpSpPr/>
          <p:nvPr/>
        </p:nvGrpSpPr>
        <p:grpSpPr>
          <a:xfrm>
            <a:off x="3691150" y="5502548"/>
            <a:ext cx="1761701" cy="554450"/>
            <a:chOff x="830018" y="5490317"/>
            <a:chExt cx="1761701" cy="55445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FF4F08-4B61-303D-E72E-D2DA29D0C7D4}"/>
                </a:ext>
              </a:extLst>
            </p:cNvPr>
            <p:cNvSpPr txBox="1"/>
            <p:nvPr/>
          </p:nvSpPr>
          <p:spPr>
            <a:xfrm>
              <a:off x="1280943" y="5490317"/>
              <a:ext cx="85985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B2B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기업 고객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60C6B46-AC6A-ED91-1993-1206CDB7C1D4}"/>
                </a:ext>
              </a:extLst>
            </p:cNvPr>
            <p:cNvSpPr txBox="1"/>
            <p:nvPr/>
          </p:nvSpPr>
          <p:spPr>
            <a:xfrm>
              <a:off x="830018" y="5724166"/>
              <a:ext cx="1761701" cy="3206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직원 복지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(IT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기업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· VIP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사은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이벤트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50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개사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POC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B0ECEC6-F7FE-830F-4861-7CD8C7433CBC}"/>
              </a:ext>
            </a:extLst>
          </p:cNvPr>
          <p:cNvGrpSpPr/>
          <p:nvPr/>
        </p:nvGrpSpPr>
        <p:grpSpPr>
          <a:xfrm>
            <a:off x="6715307" y="5502548"/>
            <a:ext cx="1435649" cy="554450"/>
            <a:chOff x="993044" y="5490317"/>
            <a:chExt cx="1435649" cy="55445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EDEF3BB-336C-5D0A-96BF-317B2F0E8517}"/>
                </a:ext>
              </a:extLst>
            </p:cNvPr>
            <p:cNvSpPr txBox="1"/>
            <p:nvPr/>
          </p:nvSpPr>
          <p:spPr>
            <a:xfrm>
              <a:off x="1183000" y="5490317"/>
              <a:ext cx="105573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B2B2C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교차 영역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906BF6D-07E3-CB3A-4B17-A70E7BA4B633}"/>
                </a:ext>
              </a:extLst>
            </p:cNvPr>
            <p:cNvSpPr txBox="1"/>
            <p:nvPr/>
          </p:nvSpPr>
          <p:spPr>
            <a:xfrm>
              <a:off x="993044" y="5724166"/>
              <a:ext cx="1435649" cy="3206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기업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×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커뮤니티 신규 부상 시장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전통 유통 미충족 공백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2406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8906-D38F-485E-BFC4-069A438F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118EF718-9445-D10D-70E9-30522B419FA8}"/>
              </a:ext>
            </a:extLst>
          </p:cNvPr>
          <p:cNvSpPr/>
          <p:nvPr/>
        </p:nvSpPr>
        <p:spPr>
          <a:xfrm>
            <a:off x="3377252" y="4319930"/>
            <a:ext cx="617257" cy="617257"/>
          </a:xfrm>
          <a:prstGeom prst="ellipse">
            <a:avLst/>
          </a:prstGeom>
          <a:solidFill>
            <a:srgbClr val="438DD1">
              <a:alpha val="15000"/>
            </a:srgb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3AF554-0645-6015-C98E-14057F89B56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D770F80-E771-262C-0CC3-98F4FE29AF66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78848DB-46C4-9220-ECAB-36CB31109F2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D42D991-DA05-B212-3818-597348DDA677}"/>
                </a:ext>
              </a:extLst>
            </p:cNvPr>
            <p:cNvGrpSpPr/>
            <p:nvPr/>
          </p:nvGrpSpPr>
          <p:grpSpPr>
            <a:xfrm>
              <a:off x="404618" y="922962"/>
              <a:ext cx="7389611" cy="523558"/>
              <a:chOff x="404618" y="928733"/>
              <a:chExt cx="738961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915BB7-BD3A-D6B7-B702-D28BEFB0169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76563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모든 화살표의 거래 로그가 다시 엔진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해자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환류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거래할수록 추천이 정확해지는 구조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 장 플라이휠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8BFDAB-0A79-4D86-6325-8F5B32B0C937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0307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양면 시장의 한가운데서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갈래 수익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해외를 잇는 플랫폼 머니 플로우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159E67C9-958F-1014-9F2E-8E0B8625FB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F5ADAA-5B1B-2F41-35E6-D6C3255E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FFF12-DCE0-BBD6-C54D-560CE09669C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비즈니스 모델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가치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수익 흐름도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82D7FAF6-65D7-C98C-DFA5-052A6D44EEDD}"/>
              </a:ext>
            </a:extLst>
          </p:cNvPr>
          <p:cNvGrpSpPr/>
          <p:nvPr/>
        </p:nvGrpSpPr>
        <p:grpSpPr>
          <a:xfrm>
            <a:off x="387106" y="5713544"/>
            <a:ext cx="8369788" cy="373486"/>
            <a:chOff x="387106" y="5629724"/>
            <a:chExt cx="8369788" cy="373486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7E8E8CD7-BA6C-8700-599A-66E8CD1AD3D8}"/>
                </a:ext>
              </a:extLst>
            </p:cNvPr>
            <p:cNvGrpSpPr/>
            <p:nvPr/>
          </p:nvGrpSpPr>
          <p:grpSpPr>
            <a:xfrm>
              <a:off x="387106" y="5629724"/>
              <a:ext cx="8369788" cy="184666"/>
              <a:chOff x="387106" y="5629724"/>
              <a:chExt cx="8369788" cy="184666"/>
            </a:xfrm>
          </p:grpSpPr>
          <p:sp>
            <p:nvSpPr>
              <p:cNvPr id="189" name="화살표: 왼쪽/오른쪽 188">
                <a:extLst>
                  <a:ext uri="{FF2B5EF4-FFF2-40B4-BE49-F238E27FC236}">
                    <a16:creationId xmlns:a16="http://schemas.microsoft.com/office/drawing/2014/main" id="{C8DEACE5-DD12-BAC3-2376-014D6DBA264A}"/>
                  </a:ext>
                </a:extLst>
              </p:cNvPr>
              <p:cNvSpPr/>
              <p:nvPr/>
            </p:nvSpPr>
            <p:spPr>
              <a:xfrm>
                <a:off x="387106" y="5634427"/>
                <a:ext cx="8369788" cy="175260"/>
              </a:xfrm>
              <a:prstGeom prst="leftRightArrow">
                <a:avLst>
                  <a:gd name="adj1" fmla="val 50000"/>
                  <a:gd name="adj2" fmla="val 78986"/>
                </a:avLst>
              </a:prstGeom>
              <a:gradFill flip="none" rotWithShape="1">
                <a:gsLst>
                  <a:gs pos="88000">
                    <a:srgbClr val="6585BD">
                      <a:alpha val="0"/>
                    </a:srgbClr>
                  </a:gs>
                  <a:gs pos="12000">
                    <a:srgbClr val="BF708A">
                      <a:alpha val="0"/>
                    </a:srgbClr>
                  </a:gs>
                  <a:gs pos="0">
                    <a:srgbClr val="EC6570">
                      <a:alpha val="40000"/>
                    </a:srgbClr>
                  </a:gs>
                  <a:gs pos="50000">
                    <a:srgbClr val="917BA4">
                      <a:alpha val="0"/>
                    </a:srgbClr>
                  </a:gs>
                  <a:gs pos="100000">
                    <a:srgbClr val="438DD1">
                      <a:alpha val="4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^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3A50F1-D93D-9C93-F93B-AEA16213B0BF}"/>
                  </a:ext>
                </a:extLst>
              </p:cNvPr>
              <p:cNvSpPr txBox="1"/>
              <p:nvPr/>
            </p:nvSpPr>
            <p:spPr>
              <a:xfrm>
                <a:off x="1440855" y="5629724"/>
                <a:ext cx="626229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모든 거래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질의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클릭 로그  →  데이터 해자  →  스코어링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랭킹 가중치 재학습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경쟁사가 살 수 없는 학습 데이터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64C5BC1-100A-9E9A-E5A6-35F7F33F3A81}"/>
                </a:ext>
              </a:extLst>
            </p:cNvPr>
            <p:cNvSpPr txBox="1"/>
            <p:nvPr/>
          </p:nvSpPr>
          <p:spPr>
            <a:xfrm>
              <a:off x="801096" y="5864711"/>
              <a:ext cx="7541808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수익모델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갈래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①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단체주문 중개수수료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②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프리미엄 매칭 수수료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③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정기 간식 구독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④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 트렌드 리포트  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SaaS·API 이용료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(+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B2C 수수료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·리퍼럴·광고 병행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사업화 계획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(다음 장)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의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3축·매출 산식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과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1:1 정합 </a:t>
              </a:r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5A2F4A4F-62CF-C265-3CD9-5473C6302E7C}"/>
              </a:ext>
            </a:extLst>
          </p:cNvPr>
          <p:cNvGrpSpPr/>
          <p:nvPr/>
        </p:nvGrpSpPr>
        <p:grpSpPr>
          <a:xfrm>
            <a:off x="404618" y="2269891"/>
            <a:ext cx="8334765" cy="3192260"/>
            <a:chOff x="404618" y="2288941"/>
            <a:chExt cx="8334765" cy="3192260"/>
          </a:xfrm>
        </p:grpSpPr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D3E35750-6A9B-0C38-2B0D-E6035ABC1BD1}"/>
                </a:ext>
              </a:extLst>
            </p:cNvPr>
            <p:cNvSpPr/>
            <p:nvPr/>
          </p:nvSpPr>
          <p:spPr>
            <a:xfrm>
              <a:off x="3486873" y="2799944"/>
              <a:ext cx="2170255" cy="2170255"/>
            </a:xfrm>
            <a:prstGeom prst="ellipse">
              <a:avLst/>
            </a:prstGeom>
            <a:gradFill>
              <a:gsLst>
                <a:gs pos="32000">
                  <a:srgbClr val="EC6570"/>
                </a:gs>
                <a:gs pos="100000">
                  <a:srgbClr val="EC6570">
                    <a:lumMod val="82000"/>
                    <a:lumOff val="18000"/>
                  </a:srgbClr>
                </a:gs>
              </a:gsLst>
              <a:lin ang="13800000" scaled="0"/>
            </a:gradFill>
            <a:ln>
              <a:noFill/>
            </a:ln>
            <a:effectLst>
              <a:outerShdw blurRad="317500" dist="520700" dir="7200000" sx="80000" sy="80000" algn="t" rotWithShape="0">
                <a:srgbClr val="438DD1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3816C-FAF4-9442-9576-CB1B6DE92BDA}"/>
                </a:ext>
              </a:extLst>
            </p:cNvPr>
            <p:cNvSpPr/>
            <p:nvPr/>
          </p:nvSpPr>
          <p:spPr>
            <a:xfrm>
              <a:off x="3486873" y="2799944"/>
              <a:ext cx="2170255" cy="2170255"/>
            </a:xfrm>
            <a:prstGeom prst="ellipse">
              <a:avLst/>
            </a:prstGeom>
            <a:gradFill>
              <a:gsLst>
                <a:gs pos="32000">
                  <a:srgbClr val="EC6570"/>
                </a:gs>
                <a:gs pos="100000">
                  <a:srgbClr val="EC6570">
                    <a:lumMod val="82000"/>
                    <a:lumOff val="18000"/>
                  </a:srgbClr>
                </a:gs>
              </a:gsLst>
              <a:lin ang="13800000" scaled="0"/>
            </a:gradFill>
            <a:ln>
              <a:noFill/>
            </a:ln>
            <a:effectLst>
              <a:outerShdw blurRad="317500" dist="520700" sx="80000" sy="80000" algn="t" rotWithShape="0">
                <a:srgbClr val="E52B38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94A09A66-EE4D-4C3A-4414-7A91F5D8D1D6}"/>
                </a:ext>
              </a:extLst>
            </p:cNvPr>
            <p:cNvGrpSpPr/>
            <p:nvPr/>
          </p:nvGrpSpPr>
          <p:grpSpPr>
            <a:xfrm>
              <a:off x="2783626" y="2782706"/>
              <a:ext cx="696421" cy="2204730"/>
              <a:chOff x="2783626" y="2838466"/>
              <a:chExt cx="696421" cy="2204730"/>
            </a:xfrm>
          </p:grpSpPr>
          <p:sp>
            <p:nvSpPr>
              <p:cNvPr id="86" name="그래픽 57">
                <a:extLst>
                  <a:ext uri="{FF2B5EF4-FFF2-40B4-BE49-F238E27FC236}">
                    <a16:creationId xmlns:a16="http://schemas.microsoft.com/office/drawing/2014/main" id="{68ACE09F-FAC7-61FF-F4E7-B0D96179A04C}"/>
                  </a:ext>
                </a:extLst>
              </p:cNvPr>
              <p:cNvSpPr/>
              <p:nvPr/>
            </p:nvSpPr>
            <p:spPr>
              <a:xfrm>
                <a:off x="2798024" y="2838466"/>
                <a:ext cx="327469" cy="2204730"/>
              </a:xfrm>
              <a:custGeom>
                <a:avLst/>
                <a:gdLst>
                  <a:gd name="connsiteX0" fmla="*/ 0 w 327469"/>
                  <a:gd name="connsiteY0" fmla="*/ 0 h 1756219"/>
                  <a:gd name="connsiteX1" fmla="*/ 327470 w 327469"/>
                  <a:gd name="connsiteY1" fmla="*/ 0 h 1756219"/>
                  <a:gd name="connsiteX2" fmla="*/ 327470 w 327469"/>
                  <a:gd name="connsiteY2" fmla="*/ 1756220 h 1756219"/>
                  <a:gd name="connsiteX3" fmla="*/ 0 w 327469"/>
                  <a:gd name="connsiteY3" fmla="*/ 1756220 h 175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469" h="1756219">
                    <a:moveTo>
                      <a:pt x="0" y="0"/>
                    </a:moveTo>
                    <a:lnTo>
                      <a:pt x="327470" y="0"/>
                    </a:lnTo>
                    <a:lnTo>
                      <a:pt x="327470" y="1756220"/>
                    </a:lnTo>
                    <a:lnTo>
                      <a:pt x="0" y="1756220"/>
                    </a:lnTo>
                  </a:path>
                </a:pathLst>
              </a:cu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F6CEAD53-45BC-811D-634E-21727F7C46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626" y="3940831"/>
                <a:ext cx="696421" cy="0"/>
              </a:xfrm>
              <a:prstGeom prst="line">
                <a:avLst/>
              </a:pr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</p:cxn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1425B59-E095-B876-3C96-8AEDC21BF3DE}"/>
                </a:ext>
              </a:extLst>
            </p:cNvPr>
            <p:cNvGrpSpPr/>
            <p:nvPr/>
          </p:nvGrpSpPr>
          <p:grpSpPr>
            <a:xfrm>
              <a:off x="5651858" y="3345816"/>
              <a:ext cx="682022" cy="1102364"/>
              <a:chOff x="5651858" y="2838466"/>
              <a:chExt cx="682022" cy="1102364"/>
            </a:xfrm>
          </p:grpSpPr>
          <p:sp>
            <p:nvSpPr>
              <p:cNvPr id="69" name="그래픽 57">
                <a:extLst>
                  <a:ext uri="{FF2B5EF4-FFF2-40B4-BE49-F238E27FC236}">
                    <a16:creationId xmlns:a16="http://schemas.microsoft.com/office/drawing/2014/main" id="{ADFBC6B1-9784-748E-83A4-D70200054FB0}"/>
                  </a:ext>
                </a:extLst>
              </p:cNvPr>
              <p:cNvSpPr/>
              <p:nvPr/>
            </p:nvSpPr>
            <p:spPr>
              <a:xfrm flipH="1">
                <a:off x="6006411" y="2838466"/>
                <a:ext cx="327469" cy="1102364"/>
              </a:xfrm>
              <a:custGeom>
                <a:avLst/>
                <a:gdLst>
                  <a:gd name="connsiteX0" fmla="*/ 0 w 327469"/>
                  <a:gd name="connsiteY0" fmla="*/ 0 h 1756219"/>
                  <a:gd name="connsiteX1" fmla="*/ 327470 w 327469"/>
                  <a:gd name="connsiteY1" fmla="*/ 0 h 1756219"/>
                  <a:gd name="connsiteX2" fmla="*/ 327470 w 327469"/>
                  <a:gd name="connsiteY2" fmla="*/ 1756220 h 1756219"/>
                  <a:gd name="connsiteX3" fmla="*/ 0 w 327469"/>
                  <a:gd name="connsiteY3" fmla="*/ 1756220 h 175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469" h="1756219">
                    <a:moveTo>
                      <a:pt x="0" y="0"/>
                    </a:moveTo>
                    <a:lnTo>
                      <a:pt x="327470" y="0"/>
                    </a:lnTo>
                    <a:lnTo>
                      <a:pt x="327470" y="1756220"/>
                    </a:lnTo>
                    <a:lnTo>
                      <a:pt x="0" y="1756220"/>
                    </a:lnTo>
                  </a:path>
                </a:pathLst>
              </a:cu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06A25D39-FF75-EFD2-E168-EAB383A75F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51858" y="3389648"/>
                <a:ext cx="348892" cy="0"/>
              </a:xfrm>
              <a:prstGeom prst="line">
                <a:avLst/>
              </a:pr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</p:cxnSp>
        </p:grp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B242E72A-77BE-B7AB-FA6C-18A34DD79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8505" y="2650842"/>
              <a:ext cx="606991" cy="606991"/>
            </a:xfrm>
            <a:prstGeom prst="rect">
              <a:avLst/>
            </a:prstGeom>
            <a:effectLst>
              <a:outerShdw blurRad="101600" dist="152400" dir="5400000" sx="85000" sy="85000" algn="t" rotWithShape="0">
                <a:srgbClr val="E52B38">
                  <a:alpha val="24000"/>
                </a:srgbClr>
              </a:outerShdw>
            </a:effectLst>
          </p:spPr>
        </p:pic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34B6D0FD-D839-C646-934D-099BCA07F876}"/>
                </a:ext>
              </a:extLst>
            </p:cNvPr>
            <p:cNvGrpSpPr/>
            <p:nvPr/>
          </p:nvGrpSpPr>
          <p:grpSpPr>
            <a:xfrm>
              <a:off x="3749339" y="3402680"/>
              <a:ext cx="1645322" cy="1091783"/>
              <a:chOff x="3749339" y="3386805"/>
              <a:chExt cx="1645322" cy="1091783"/>
            </a:xfrm>
          </p:grpSpPr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E858C491-A0B2-2C5C-7D8B-66AAA7C5993A}"/>
                  </a:ext>
                </a:extLst>
              </p:cNvPr>
              <p:cNvGrpSpPr/>
              <p:nvPr/>
            </p:nvGrpSpPr>
            <p:grpSpPr>
              <a:xfrm>
                <a:off x="3749339" y="3386805"/>
                <a:ext cx="1645322" cy="749840"/>
                <a:chOff x="3749339" y="3522773"/>
                <a:chExt cx="1645322" cy="749840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286C1B1-2C69-2C67-B42E-F0BA641591EA}"/>
                    </a:ext>
                  </a:extLst>
                </p:cNvPr>
                <p:cNvSpPr txBox="1"/>
                <p:nvPr/>
              </p:nvSpPr>
              <p:spPr>
                <a:xfrm>
                  <a:off x="4025056" y="3522773"/>
                  <a:ext cx="1093889" cy="384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25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딸기로픽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704CEFF-E035-AD6E-5197-08792DD5326D}"/>
                    </a:ext>
                  </a:extLst>
                </p:cNvPr>
                <p:cNvSpPr txBox="1"/>
                <p:nvPr/>
              </p:nvSpPr>
              <p:spPr>
                <a:xfrm>
                  <a:off x="3749339" y="3969966"/>
                  <a:ext cx="1645322" cy="302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엔진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1) ×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추천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랭킹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2)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×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주문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OMS</a:t>
                  </a:r>
                </a:p>
              </p:txBody>
            </p: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A24384AF-6460-52DB-7632-C2C67B6709FA}"/>
                  </a:ext>
                </a:extLst>
              </p:cNvPr>
              <p:cNvGrpSpPr/>
              <p:nvPr/>
            </p:nvGrpSpPr>
            <p:grpSpPr>
              <a:xfrm>
                <a:off x="3926682" y="4225759"/>
                <a:ext cx="1290637" cy="252829"/>
                <a:chOff x="3926682" y="4361727"/>
                <a:chExt cx="1290637" cy="252829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56A73A27-E083-4817-3ED5-A5347A9B59E3}"/>
                    </a:ext>
                  </a:extLst>
                </p:cNvPr>
                <p:cNvSpPr/>
                <p:nvPr/>
              </p:nvSpPr>
              <p:spPr>
                <a:xfrm>
                  <a:off x="3926682" y="4361727"/>
                  <a:ext cx="1290637" cy="25282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C6570">
                        <a:lumMod val="22000"/>
                        <a:lumOff val="78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1EFF027-0104-D93C-41CA-C55F50A8C4F6}"/>
                    </a:ext>
                  </a:extLst>
                </p:cNvPr>
                <p:cNvSpPr txBox="1"/>
                <p:nvPr/>
              </p:nvSpPr>
              <p:spPr>
                <a:xfrm>
                  <a:off x="4066734" y="4418892"/>
                  <a:ext cx="10105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데이터 해자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환류 허브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A3B92EF6-2FD0-C517-94EC-5641F69F0E6C}"/>
                </a:ext>
              </a:extLst>
            </p:cNvPr>
            <p:cNvGrpSpPr/>
            <p:nvPr/>
          </p:nvGrpSpPr>
          <p:grpSpPr>
            <a:xfrm>
              <a:off x="404618" y="2288941"/>
              <a:ext cx="2379008" cy="972362"/>
              <a:chOff x="404618" y="2336566"/>
              <a:chExt cx="2379008" cy="972362"/>
            </a:xfrm>
          </p:grpSpPr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AF6E3FD8-7B81-6855-45B5-5E256A8286B6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EC65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B2DCD242-6CAF-6F07-9DC8-785A982EBC2B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447512" cy="423215"/>
                <a:chOff x="806198" y="2597847"/>
                <a:chExt cx="1447512" cy="423215"/>
              </a:xfrm>
            </p:grpSpPr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43000AC6-E9FC-00C7-9365-42039276B884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893193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B2C </a:t>
                  </a: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소비자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A1786C67-4DAB-CA92-96F3-B861E06E27E7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447512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전환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49.5%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재방문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70.6%</a:t>
                  </a:r>
                </a:p>
              </p:txBody>
            </p:sp>
          </p:grpSp>
          <p:sp>
            <p:nvSpPr>
              <p:cNvPr id="156" name="사각형: 둥근 위쪽 모서리 155">
                <a:extLst>
                  <a:ext uri="{FF2B5EF4-FFF2-40B4-BE49-F238E27FC236}">
                    <a16:creationId xmlns:a16="http://schemas.microsoft.com/office/drawing/2014/main" id="{1D88C73E-E0A1-D41C-7273-40D8AA190427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EC657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3FE0A61-EB78-2E8C-F63D-9650C98B6026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945452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구독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단건 주문 결제</a:t>
                </a: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B0B554EE-7EDC-DFF0-6CD2-062C18C62368}"/>
                </a:ext>
              </a:extLst>
            </p:cNvPr>
            <p:cNvGrpSpPr/>
            <p:nvPr/>
          </p:nvGrpSpPr>
          <p:grpSpPr>
            <a:xfrm>
              <a:off x="404618" y="3398890"/>
              <a:ext cx="2379008" cy="972362"/>
              <a:chOff x="404618" y="2336566"/>
              <a:chExt cx="2379008" cy="972362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3BF4B7C1-93A9-D141-13A7-BA909D239DEC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EC65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7C208132-5952-9010-28B7-19B775EF9E16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332096" cy="423215"/>
                <a:chOff x="806198" y="2597847"/>
                <a:chExt cx="1332096" cy="423215"/>
              </a:xfrm>
            </p:grpSpPr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FF9B5AC-65F7-CDA9-53C3-9804153221F3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714298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B2B </a:t>
                  </a: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기업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A998D165-5145-0B2C-6CA1-A679C13289ED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33209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교보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+ 50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개사 파이프라인</a:t>
                  </a:r>
                </a:p>
              </p:txBody>
            </p:sp>
          </p:grpSp>
          <p:sp>
            <p:nvSpPr>
              <p:cNvPr id="163" name="사각형: 둥근 위쪽 모서리 162">
                <a:extLst>
                  <a:ext uri="{FF2B5EF4-FFF2-40B4-BE49-F238E27FC236}">
                    <a16:creationId xmlns:a16="http://schemas.microsoft.com/office/drawing/2014/main" id="{03E19664-8137-194A-6581-3E6B100EC534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EC657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1B6A336-0EA2-F730-8999-A7B6402E4964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895438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정기계약·단체주문 수수료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간식 구독</a:t>
                </a:r>
              </a:p>
            </p:txBody>
          </p:sp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B2F51C87-E9BA-3FD9-BA2B-8E6AE34B9F02}"/>
                </a:ext>
              </a:extLst>
            </p:cNvPr>
            <p:cNvGrpSpPr/>
            <p:nvPr/>
          </p:nvGrpSpPr>
          <p:grpSpPr>
            <a:xfrm>
              <a:off x="404618" y="4508839"/>
              <a:ext cx="2379008" cy="972362"/>
              <a:chOff x="404618" y="2336566"/>
              <a:chExt cx="2379008" cy="972362"/>
            </a:xfrm>
          </p:grpSpPr>
          <p:sp>
            <p:nvSpPr>
              <p:cNvPr id="168" name="사각형: 둥근 모서리 167">
                <a:extLst>
                  <a:ext uri="{FF2B5EF4-FFF2-40B4-BE49-F238E27FC236}">
                    <a16:creationId xmlns:a16="http://schemas.microsoft.com/office/drawing/2014/main" id="{51C9D7FC-3C15-82F2-7001-FB7C6050EFFE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EC65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323911E4-E1B8-A905-100E-538B9EB059B7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271182" cy="423215"/>
                <a:chOff x="806198" y="2597847"/>
                <a:chExt cx="1271182" cy="423215"/>
              </a:xfrm>
            </p:grpSpPr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43FDDD3-0F43-6800-B9DA-9F5B5BB26A17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1271182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커뮤니티 </a:t>
                  </a:r>
                  <a:r>
                    <a:rPr kumimoji="0" lang="en-US" altLang="ko-KR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아파트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1879B218-C0EB-E941-EFCB-217D33C72895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21571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수도권 거점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580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 세대</a:t>
                  </a:r>
                </a:p>
              </p:txBody>
            </p:sp>
          </p:grpSp>
          <p:sp>
            <p:nvSpPr>
              <p:cNvPr id="170" name="사각형: 둥근 위쪽 모서리 169">
                <a:extLst>
                  <a:ext uri="{FF2B5EF4-FFF2-40B4-BE49-F238E27FC236}">
                    <a16:creationId xmlns:a16="http://schemas.microsoft.com/office/drawing/2014/main" id="{72E769CF-68BE-BB3B-E8EF-37409201AC08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EC657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5013FFE-8451-F204-0166-ADED4F6A6D3A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763671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하이퍼로컬 공구</a:t>
                </a:r>
              </a:p>
            </p:txBody>
          </p:sp>
        </p:grp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FBE1D8C0-53B6-77A4-435F-42C28BB0C441}"/>
                </a:ext>
              </a:extLst>
            </p:cNvPr>
            <p:cNvGrpSpPr/>
            <p:nvPr/>
          </p:nvGrpSpPr>
          <p:grpSpPr>
            <a:xfrm>
              <a:off x="6360375" y="2843916"/>
              <a:ext cx="2379008" cy="972362"/>
              <a:chOff x="404618" y="2336566"/>
              <a:chExt cx="2379008" cy="972362"/>
            </a:xfrm>
          </p:grpSpPr>
          <p:sp>
            <p:nvSpPr>
              <p:cNvPr id="183" name="사각형: 둥근 모서리 182">
                <a:extLst>
                  <a:ext uri="{FF2B5EF4-FFF2-40B4-BE49-F238E27FC236}">
                    <a16:creationId xmlns:a16="http://schemas.microsoft.com/office/drawing/2014/main" id="{96EC844D-800A-0FCB-4F44-09F7057A0971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438D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EFA0DA2-D43D-B166-1049-2BFBF6557748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447512" cy="423215"/>
                <a:chOff x="806198" y="2597847"/>
                <a:chExt cx="1447512" cy="423215"/>
              </a:xfrm>
            </p:grpSpPr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9A3B3456-6220-BBB5-49A5-38064CBF988F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1018227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입점 소상공인</a:t>
                  </a:r>
                </a:p>
              </p:txBody>
            </p: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871093ED-F328-ED7A-F596-6E76B22470D6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447512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정보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대량 판로 제공</a:t>
                  </a:r>
                </a:p>
              </p:txBody>
            </p:sp>
          </p:grpSp>
          <p:sp>
            <p:nvSpPr>
              <p:cNvPr id="185" name="사각형: 둥근 위쪽 모서리 184">
                <a:extLst>
                  <a:ext uri="{FF2B5EF4-FFF2-40B4-BE49-F238E27FC236}">
                    <a16:creationId xmlns:a16="http://schemas.microsoft.com/office/drawing/2014/main" id="{16EDE8D2-C05A-3067-59C8-68E1B4223CA1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438DD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4FBE264-1155-CA7A-92E5-B88E8F358904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1550104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중개 수수료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+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프리미엄 매칭 가산</a:t>
                </a:r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E794BC34-E8C3-2184-E6F5-B8B9648C3EDE}"/>
                </a:ext>
              </a:extLst>
            </p:cNvPr>
            <p:cNvGrpSpPr/>
            <p:nvPr/>
          </p:nvGrpSpPr>
          <p:grpSpPr>
            <a:xfrm>
              <a:off x="6360375" y="3953865"/>
              <a:ext cx="2379008" cy="972362"/>
              <a:chOff x="404618" y="2336566"/>
              <a:chExt cx="2379008" cy="972362"/>
            </a:xfrm>
          </p:grpSpPr>
          <p:sp>
            <p:nvSpPr>
              <p:cNvPr id="177" name="사각형: 둥근 모서리 176">
                <a:extLst>
                  <a:ext uri="{FF2B5EF4-FFF2-40B4-BE49-F238E27FC236}">
                    <a16:creationId xmlns:a16="http://schemas.microsoft.com/office/drawing/2014/main" id="{1A480FA1-C1BB-6094-C575-0FB69132A054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438D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38DEE7FB-0160-2083-0E51-5E74B4CC7CE8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392369" cy="423215"/>
                <a:chOff x="806198" y="2597847"/>
                <a:chExt cx="1392369" cy="423215"/>
              </a:xfrm>
            </p:grpSpPr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3EF58EA-E047-8346-184F-48DA4A71CBEB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1222129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비입점 전국 업체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D101107-A152-970E-6449-420DD0F2CF8F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39236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발견 관문 → 입점 전환 리드</a:t>
                  </a:r>
                </a:p>
              </p:txBody>
            </p:sp>
          </p:grpSp>
          <p:sp>
            <p:nvSpPr>
              <p:cNvPr id="179" name="사각형: 둥근 위쪽 모서리 178">
                <a:extLst>
                  <a:ext uri="{FF2B5EF4-FFF2-40B4-BE49-F238E27FC236}">
                    <a16:creationId xmlns:a16="http://schemas.microsoft.com/office/drawing/2014/main" id="{0C1D0120-3EDD-A555-9A5B-7867D634D809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438DD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B6B9069-5F07-8692-7BFB-8F94AC200DA3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1575431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연결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예약 리퍼럴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'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광고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라벨 슬롯</a:t>
                </a:r>
              </a:p>
            </p:txBody>
          </p:sp>
        </p:grpSp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BA7D1150-33CD-90E4-D9D9-F800EE73B3F0}"/>
                </a:ext>
              </a:extLst>
            </p:cNvPr>
            <p:cNvGrpSpPr/>
            <p:nvPr/>
          </p:nvGrpSpPr>
          <p:grpSpPr>
            <a:xfrm>
              <a:off x="3831894" y="5108317"/>
              <a:ext cx="1480213" cy="300105"/>
              <a:chOff x="3935641" y="2299130"/>
              <a:chExt cx="1480213" cy="300105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A3270225-9BED-9F01-71C1-42F68FA8FC93}"/>
                  </a:ext>
                </a:extLst>
              </p:cNvPr>
              <p:cNvSpPr txBox="1"/>
              <p:nvPr/>
            </p:nvSpPr>
            <p:spPr>
              <a:xfrm>
                <a:off x="4062760" y="2299130"/>
                <a:ext cx="122597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해외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(Phase 1~2)</a:t>
                </a:r>
                <a:endPara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CD7B2D0-7CF4-2F98-B0CD-F9850DE5F6D1}"/>
                  </a:ext>
                </a:extLst>
              </p:cNvPr>
              <p:cNvSpPr txBox="1"/>
              <p:nvPr/>
            </p:nvSpPr>
            <p:spPr>
              <a:xfrm>
                <a:off x="3935641" y="2491513"/>
                <a:ext cx="1480213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리포트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엔진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SaaS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라이선스</a:t>
                </a:r>
              </a:p>
            </p:txBody>
          </p:sp>
        </p:grpSp>
      </p:grpSp>
      <p:sp>
        <p:nvSpPr>
          <p:cNvPr id="198" name="타원 197">
            <a:extLst>
              <a:ext uri="{FF2B5EF4-FFF2-40B4-BE49-F238E27FC236}">
                <a16:creationId xmlns:a16="http://schemas.microsoft.com/office/drawing/2014/main" id="{8D52E36D-C7CD-CC2F-6722-8CD4CF41555D}"/>
              </a:ext>
            </a:extLst>
          </p:cNvPr>
          <p:cNvSpPr/>
          <p:nvPr/>
        </p:nvSpPr>
        <p:spPr>
          <a:xfrm>
            <a:off x="5065825" y="2756258"/>
            <a:ext cx="746881" cy="746881"/>
          </a:xfrm>
          <a:prstGeom prst="ellipse">
            <a:avLst/>
          </a:prstGeom>
          <a:solidFill>
            <a:srgbClr val="EC6570">
              <a:alpha val="15000"/>
            </a:srgb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065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12F6-DF32-8618-6287-6286FE91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4FBE4A-4EF9-BE4B-1B2D-702E3C072FF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552AF71-8EA4-55D1-1504-3391EAE9C3B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F416388-55A0-5A22-6DC5-BBA5C8E199D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57610DA-63E2-91D2-7202-029383323481}"/>
                </a:ext>
              </a:extLst>
            </p:cNvPr>
            <p:cNvGrpSpPr/>
            <p:nvPr/>
          </p:nvGrpSpPr>
          <p:grpSpPr>
            <a:xfrm>
              <a:off x="404618" y="922962"/>
              <a:ext cx="8097410" cy="523558"/>
              <a:chOff x="404618" y="928733"/>
              <a:chExt cx="8097410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AF091E-2715-FF34-48DB-F08346F16D0D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0974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거래액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매출 극대화를 위해 고단가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대량 주문의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B2B/B2B2C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전장을 확대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TIPS·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신보 자금은 그 고성능 엔진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자체 플랫폼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+AI)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구축에 투입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0796A9-CE60-8735-3D01-F39E07BAA85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259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 중개 →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큐레이션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비즈니스 모델 혁신과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2026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스케일업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 전략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ADF1390-6990-4B80-F1E4-2A8185C5DF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B29945-D8FB-2064-6D5A-4D7C884A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87780-1BE2-D771-6D60-32F92A2C1D1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계획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476918-0752-4B2E-3C80-D2A729735E3E}"/>
              </a:ext>
            </a:extLst>
          </p:cNvPr>
          <p:cNvGrpSpPr/>
          <p:nvPr/>
        </p:nvGrpSpPr>
        <p:grpSpPr>
          <a:xfrm>
            <a:off x="342000" y="2211040"/>
            <a:ext cx="2452786" cy="187074"/>
            <a:chOff x="448028" y="1746916"/>
            <a:chExt cx="2452786" cy="187074"/>
          </a:xfrm>
        </p:grpSpPr>
        <p:pic>
          <p:nvPicPr>
            <p:cNvPr id="3" name="Picture 2" descr="딸기로픽">
              <a:extLst>
                <a:ext uri="{FF2B5EF4-FFF2-40B4-BE49-F238E27FC236}">
                  <a16:creationId xmlns:a16="http://schemas.microsoft.com/office/drawing/2014/main" id="{FD1A96C7-F59E-F75B-F9D2-E550328BD8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20F75B-87FC-A429-8004-B3CF36595809}"/>
                </a:ext>
              </a:extLst>
            </p:cNvPr>
            <p:cNvSpPr txBox="1"/>
            <p:nvPr/>
          </p:nvSpPr>
          <p:spPr>
            <a:xfrm>
              <a:off x="739004" y="1748120"/>
              <a:ext cx="216181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비즈니스 모델 혁신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(As-Is → Now → To-Be)</a:t>
              </a:r>
            </a:p>
          </p:txBody>
        </p:sp>
      </p:grp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8E826F6-84FC-A316-FCC7-9664801F3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03605"/>
              </p:ext>
            </p:extLst>
          </p:nvPr>
        </p:nvGraphicFramePr>
        <p:xfrm>
          <a:off x="377190" y="2470348"/>
          <a:ext cx="4948830" cy="1512000"/>
        </p:xfrm>
        <a:graphic>
          <a:graphicData uri="http://schemas.openxmlformats.org/drawingml/2006/table">
            <a:tbl>
              <a:tblPr/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99887766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As-Is (현재)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Now (B2B 오픈베타)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To-Be (R&amp;D 후 : AI 수요예측·매칭)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 가치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중개·큐레이션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단체주문 검증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예측 큐레이션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 매출원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B2C 일회성 중심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파일럿 (교보+50개사)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수요예측·단체주문 매칭 기반 B2B/B2B2C 대량주문 주력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수익모델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단일 중개 수수료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중개 + 견적 제안 (수작업)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다각화 </a:t>
                      </a:r>
                    </a:p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(수수료+구독+데이터/SaaS)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운영방식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100% 인력 의존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상담·매칭 로그 데이터화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자동화 </a:t>
                      </a:r>
                    </a:p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— 매출↑일수록 이익률↑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B7A2B134-16FC-CB21-5014-17C5CC1002D0}"/>
              </a:ext>
            </a:extLst>
          </p:cNvPr>
          <p:cNvGrpSpPr/>
          <p:nvPr/>
        </p:nvGrpSpPr>
        <p:grpSpPr>
          <a:xfrm>
            <a:off x="5462640" y="2211040"/>
            <a:ext cx="3200106" cy="187074"/>
            <a:chOff x="448028" y="1746916"/>
            <a:chExt cx="3200106" cy="187074"/>
          </a:xfrm>
        </p:grpSpPr>
        <p:pic>
          <p:nvPicPr>
            <p:cNvPr id="10" name="Picture 2" descr="딸기로픽">
              <a:extLst>
                <a:ext uri="{FF2B5EF4-FFF2-40B4-BE49-F238E27FC236}">
                  <a16:creationId xmlns:a16="http://schemas.microsoft.com/office/drawing/2014/main" id="{89535750-768F-55CF-CFCB-34CFA2A36B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42A38E-9C9B-70B4-2793-890715AE568C}"/>
                </a:ext>
              </a:extLst>
            </p:cNvPr>
            <p:cNvSpPr txBox="1"/>
            <p:nvPr/>
          </p:nvSpPr>
          <p:spPr>
            <a:xfrm>
              <a:off x="739004" y="1748120"/>
              <a:ext cx="290913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2026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스케일업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 실행 전략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(Strategic Pillars)</a:t>
              </a: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34ACCAB-5F17-02C6-2A07-9CD61B129B44}"/>
              </a:ext>
            </a:extLst>
          </p:cNvPr>
          <p:cNvGrpSpPr/>
          <p:nvPr/>
        </p:nvGrpSpPr>
        <p:grpSpPr>
          <a:xfrm>
            <a:off x="342000" y="5288574"/>
            <a:ext cx="8460000" cy="967287"/>
            <a:chOff x="342000" y="5288574"/>
            <a:chExt cx="8460000" cy="967287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9CD7D3DF-76F1-BD3A-9F39-8C8A0E1A4035}"/>
                </a:ext>
              </a:extLst>
            </p:cNvPr>
            <p:cNvGrpSpPr/>
            <p:nvPr/>
          </p:nvGrpSpPr>
          <p:grpSpPr>
            <a:xfrm>
              <a:off x="342000" y="5288574"/>
              <a:ext cx="1604660" cy="967287"/>
              <a:chOff x="342000" y="5288574"/>
              <a:chExt cx="1604660" cy="96728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D2666AB7-2F57-8964-49AE-20867F151B21}"/>
                  </a:ext>
                </a:extLst>
              </p:cNvPr>
              <p:cNvSpPr/>
              <p:nvPr/>
            </p:nvSpPr>
            <p:spPr>
              <a:xfrm>
                <a:off x="342000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A4BFA3F2-F945-268D-E649-6DDA3DF41ABC}"/>
                  </a:ext>
                </a:extLst>
              </p:cNvPr>
              <p:cNvGrpSpPr/>
              <p:nvPr/>
            </p:nvGrpSpPr>
            <p:grpSpPr>
              <a:xfrm>
                <a:off x="786861" y="5416429"/>
                <a:ext cx="714939" cy="711577"/>
                <a:chOff x="786860" y="5322311"/>
                <a:chExt cx="714939" cy="711577"/>
              </a:xfrm>
            </p:grpSpPr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1EA17A94-C011-D086-3B50-F7DD4AFA55DF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20" name="사각형: 둥근 모서리 19">
                    <a:extLst>
                      <a:ext uri="{FF2B5EF4-FFF2-40B4-BE49-F238E27FC236}">
                        <a16:creationId xmlns:a16="http://schemas.microsoft.com/office/drawing/2014/main" id="{4D6214FD-51A2-A74B-5EE4-4B97F2375D48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232323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0E8836AA-6ACE-A117-8FA4-676F67BF12FC}"/>
                      </a:ext>
                    </a:extLst>
                  </p:cNvPr>
                  <p:cNvSpPr txBox="1"/>
                  <p:nvPr/>
                </p:nvSpPr>
                <p:spPr>
                  <a:xfrm>
                    <a:off x="4444081" y="4318399"/>
                    <a:ext cx="255839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'25.12</a:t>
                    </a:r>
                  </a:p>
                </p:txBody>
              </p: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459F7F8B-2172-87F1-15C7-6EDE6F4A2233}"/>
                    </a:ext>
                  </a:extLst>
                </p:cNvPr>
                <p:cNvGrpSpPr/>
                <p:nvPr/>
              </p:nvGrpSpPr>
              <p:grpSpPr>
                <a:xfrm>
                  <a:off x="786860" y="5546553"/>
                  <a:ext cx="714939" cy="487335"/>
                  <a:chOff x="854455" y="4703590"/>
                  <a:chExt cx="714939" cy="487335"/>
                </a:xfrm>
              </p:grpSpPr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BF608F9-6CF2-9D65-6D36-0A15868EF0F3}"/>
                      </a:ext>
                    </a:extLst>
                  </p:cNvPr>
                  <p:cNvSpPr txBox="1"/>
                  <p:nvPr/>
                </p:nvSpPr>
                <p:spPr>
                  <a:xfrm>
                    <a:off x="937009" y="4703590"/>
                    <a:ext cx="549831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재원 확보</a:t>
                    </a: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F95D1FB-170D-0EB6-3148-C4D8483EC11D}"/>
                      </a:ext>
                    </a:extLst>
                  </p:cNvPr>
                  <p:cNvSpPr txBox="1"/>
                  <p:nvPr/>
                </p:nvSpPr>
                <p:spPr>
                  <a:xfrm>
                    <a:off x="854455" y="4919056"/>
                    <a:ext cx="714939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신보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R&amp;D 3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억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+</a:t>
                    </a: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스케일업 전략 수립</a:t>
                    </a:r>
                  </a:p>
                </p:txBody>
              </p:sp>
            </p:grpSp>
          </p:grp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65FF6623-3F29-BCBC-1023-435357C9B256}"/>
                </a:ext>
              </a:extLst>
            </p:cNvPr>
            <p:cNvGrpSpPr/>
            <p:nvPr/>
          </p:nvGrpSpPr>
          <p:grpSpPr>
            <a:xfrm>
              <a:off x="2055835" y="5288574"/>
              <a:ext cx="1604660" cy="967287"/>
              <a:chOff x="2055835" y="5288574"/>
              <a:chExt cx="1604660" cy="967287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511FC610-EF04-F216-25DA-BEBB0DDDEF3A}"/>
                  </a:ext>
                </a:extLst>
              </p:cNvPr>
              <p:cNvSpPr/>
              <p:nvPr/>
            </p:nvSpPr>
            <p:spPr>
              <a:xfrm>
                <a:off x="2055835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88349CAD-49D3-79E4-C5FE-5748879FD320}"/>
                  </a:ext>
                </a:extLst>
              </p:cNvPr>
              <p:cNvGrpSpPr/>
              <p:nvPr/>
            </p:nvGrpSpPr>
            <p:grpSpPr>
              <a:xfrm>
                <a:off x="2155089" y="5416429"/>
                <a:ext cx="1406154" cy="711577"/>
                <a:chOff x="441253" y="5322311"/>
                <a:chExt cx="1406154" cy="711577"/>
              </a:xfrm>
            </p:grpSpPr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D139B00D-6A22-6550-8ED3-773A36EE1E55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36" name="사각형: 둥근 모서리 35">
                    <a:extLst>
                      <a:ext uri="{FF2B5EF4-FFF2-40B4-BE49-F238E27FC236}">
                        <a16:creationId xmlns:a16="http://schemas.microsoft.com/office/drawing/2014/main" id="{C9F92EB4-BD22-683C-ABE5-CE4B8F7ACCEC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438DD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DE16EC3-954D-4E41-BBC7-95B2FB2E8251}"/>
                      </a:ext>
                    </a:extLst>
                  </p:cNvPr>
                  <p:cNvSpPr txBox="1"/>
                  <p:nvPr/>
                </p:nvSpPr>
                <p:spPr>
                  <a:xfrm>
                    <a:off x="4436867" y="4318399"/>
                    <a:ext cx="270267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1Q</a:t>
                    </a:r>
                  </a:p>
                </p:txBody>
              </p:sp>
            </p:grp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B3DBC140-F56F-8304-A818-75B800D1E6E0}"/>
                    </a:ext>
                  </a:extLst>
                </p:cNvPr>
                <p:cNvGrpSpPr/>
                <p:nvPr/>
              </p:nvGrpSpPr>
              <p:grpSpPr>
                <a:xfrm>
                  <a:off x="441253" y="5546553"/>
                  <a:ext cx="1406154" cy="487335"/>
                  <a:chOff x="508848" y="4703590"/>
                  <a:chExt cx="1406154" cy="487335"/>
                </a:xfrm>
              </p:grpSpPr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CC9DFB41-4D01-7534-8F66-04D09B0BC197}"/>
                      </a:ext>
                    </a:extLst>
                  </p:cNvPr>
                  <p:cNvSpPr txBox="1"/>
                  <p:nvPr/>
                </p:nvSpPr>
                <p:spPr>
                  <a:xfrm>
                    <a:off x="508848" y="4703590"/>
                    <a:ext cx="1406154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TIPS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착수 </a:t>
                    </a: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· B2B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파일럿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D4AF62F-35DC-187D-8443-3FA295B1F855}"/>
                      </a:ext>
                    </a:extLst>
                  </p:cNvPr>
                  <p:cNvSpPr txBox="1"/>
                  <p:nvPr/>
                </p:nvSpPr>
                <p:spPr>
                  <a:xfrm>
                    <a:off x="683896" y="4919056"/>
                    <a:ext cx="1056058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과제 협약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 B2B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전용 베타로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초기 레퍼런스</a:t>
                    </a:r>
                  </a:p>
                </p:txBody>
              </p:sp>
            </p:grpSp>
          </p:grp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47975343-5528-4066-9A9A-03B60B3F5870}"/>
                </a:ext>
              </a:extLst>
            </p:cNvPr>
            <p:cNvGrpSpPr/>
            <p:nvPr/>
          </p:nvGrpSpPr>
          <p:grpSpPr>
            <a:xfrm>
              <a:off x="3769670" y="5288574"/>
              <a:ext cx="1604660" cy="967287"/>
              <a:chOff x="3769670" y="5288574"/>
              <a:chExt cx="1604660" cy="967287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7AD37C0E-5B98-2609-CBF4-15E4CAF24D60}"/>
                  </a:ext>
                </a:extLst>
              </p:cNvPr>
              <p:cNvSpPr/>
              <p:nvPr/>
            </p:nvSpPr>
            <p:spPr>
              <a:xfrm>
                <a:off x="3769670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CEF13634-63BE-FDE2-6DF7-EFFE73B288D6}"/>
                  </a:ext>
                </a:extLst>
              </p:cNvPr>
              <p:cNvGrpSpPr/>
              <p:nvPr/>
            </p:nvGrpSpPr>
            <p:grpSpPr>
              <a:xfrm>
                <a:off x="4086772" y="5416429"/>
                <a:ext cx="970458" cy="711577"/>
                <a:chOff x="659101" y="5322311"/>
                <a:chExt cx="970458" cy="711577"/>
              </a:xfrm>
            </p:grpSpPr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F05627B5-DAD4-3561-93B3-36500207ECC2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47" name="사각형: 둥근 모서리 46">
                    <a:extLst>
                      <a:ext uri="{FF2B5EF4-FFF2-40B4-BE49-F238E27FC236}">
                        <a16:creationId xmlns:a16="http://schemas.microsoft.com/office/drawing/2014/main" id="{938702F7-2A97-FD16-1479-025AD69AA5BE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EC657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2834425C-3E5F-4BAA-7C6F-0FB79180D04E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54" y="4318399"/>
                    <a:ext cx="284694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2Q</a:t>
                    </a:r>
                  </a:p>
                </p:txBody>
              </p:sp>
            </p:grpSp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06595F57-58DB-C307-7D42-A730B3A2AC5C}"/>
                    </a:ext>
                  </a:extLst>
                </p:cNvPr>
                <p:cNvGrpSpPr/>
                <p:nvPr/>
              </p:nvGrpSpPr>
              <p:grpSpPr>
                <a:xfrm>
                  <a:off x="659101" y="5546553"/>
                  <a:ext cx="970458" cy="487335"/>
                  <a:chOff x="726696" y="4703590"/>
                  <a:chExt cx="970458" cy="487335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6BAE7BD-E39B-182A-3A89-CB3CFF7D3AE1}"/>
                      </a:ext>
                    </a:extLst>
                  </p:cNvPr>
                  <p:cNvSpPr txBox="1"/>
                  <p:nvPr/>
                </p:nvSpPr>
                <p:spPr>
                  <a:xfrm>
                    <a:off x="726696" y="4703590"/>
                    <a:ext cx="97045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독자 플랫폼 오픈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ABB110DA-F363-89DF-D5E0-C00C5F0C00CE}"/>
                      </a:ext>
                    </a:extLst>
                  </p:cNvPr>
                  <p:cNvSpPr txBox="1"/>
                  <p:nvPr/>
                </p:nvSpPr>
                <p:spPr>
                  <a:xfrm>
                    <a:off x="739038" y="4919056"/>
                    <a:ext cx="945772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대량주문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공구 기능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자체 플랫폼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데이터 이관</a:t>
                    </a:r>
                  </a:p>
                </p:txBody>
              </p:sp>
            </p:grpSp>
          </p:grp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22FF7A2C-C9E4-EEF2-72D3-214A7996D63F}"/>
                </a:ext>
              </a:extLst>
            </p:cNvPr>
            <p:cNvGrpSpPr/>
            <p:nvPr/>
          </p:nvGrpSpPr>
          <p:grpSpPr>
            <a:xfrm>
              <a:off x="5483505" y="5288574"/>
              <a:ext cx="1604660" cy="967287"/>
              <a:chOff x="5483505" y="5288574"/>
              <a:chExt cx="1604660" cy="967287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17C87640-FD49-4082-3667-1B296F2D3AEE}"/>
                  </a:ext>
                </a:extLst>
              </p:cNvPr>
              <p:cNvSpPr/>
              <p:nvPr/>
            </p:nvSpPr>
            <p:spPr>
              <a:xfrm>
                <a:off x="5483505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0631BD30-7D92-9BDD-FDD6-0F69953EF0AE}"/>
                  </a:ext>
                </a:extLst>
              </p:cNvPr>
              <p:cNvGrpSpPr/>
              <p:nvPr/>
            </p:nvGrpSpPr>
            <p:grpSpPr>
              <a:xfrm>
                <a:off x="5798042" y="5416429"/>
                <a:ext cx="975587" cy="711577"/>
                <a:chOff x="656536" y="5322311"/>
                <a:chExt cx="975587" cy="711577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9DAE0302-12B0-0E74-154B-44AE08EAC43D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56" name="사각형: 둥근 모서리 55">
                    <a:extLst>
                      <a:ext uri="{FF2B5EF4-FFF2-40B4-BE49-F238E27FC236}">
                        <a16:creationId xmlns:a16="http://schemas.microsoft.com/office/drawing/2014/main" id="{86ED78C4-EB4D-8DB8-89B0-28E727B914F4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438DD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E4D948C6-683F-1718-A81C-71728D6320B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8051" y="4318399"/>
                    <a:ext cx="287899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3Q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6FB5AEB-BE1C-352A-544E-0B9B2FF36EF5}"/>
                    </a:ext>
                  </a:extLst>
                </p:cNvPr>
                <p:cNvGrpSpPr/>
                <p:nvPr/>
              </p:nvGrpSpPr>
              <p:grpSpPr>
                <a:xfrm>
                  <a:off x="656536" y="5546553"/>
                  <a:ext cx="975587" cy="487335"/>
                  <a:chOff x="724131" y="4703590"/>
                  <a:chExt cx="975587" cy="487335"/>
                </a:xfrm>
              </p:grpSpPr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50EE31F-6993-A22A-1F3E-1547EA9E7708}"/>
                      </a:ext>
                    </a:extLst>
                  </p:cNvPr>
                  <p:cNvSpPr txBox="1"/>
                  <p:nvPr/>
                </p:nvSpPr>
                <p:spPr>
                  <a:xfrm>
                    <a:off x="791296" y="4703590"/>
                    <a:ext cx="84125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시장 확장 가속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C0A75AF-0B07-F588-EF23-A1DA3C89EC5D}"/>
                      </a:ext>
                    </a:extLst>
                  </p:cNvPr>
                  <p:cNvSpPr txBox="1"/>
                  <p:nvPr/>
                </p:nvSpPr>
                <p:spPr>
                  <a:xfrm>
                    <a:off x="724131" y="4919056"/>
                    <a:ext cx="975587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거점 지역 공격 마케팅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B2B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정기계약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100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건 목표</a:t>
                    </a:r>
                  </a:p>
                </p:txBody>
              </p:sp>
            </p:grpSp>
          </p:grp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AC13C62-9F55-E614-F776-928C21149BFC}"/>
                </a:ext>
              </a:extLst>
            </p:cNvPr>
            <p:cNvGrpSpPr/>
            <p:nvPr/>
          </p:nvGrpSpPr>
          <p:grpSpPr>
            <a:xfrm>
              <a:off x="7197340" y="5288574"/>
              <a:ext cx="1604660" cy="967287"/>
              <a:chOff x="7197340" y="5288574"/>
              <a:chExt cx="1604660" cy="967287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0E040176-423A-3CBB-D881-71C937DBCDF5}"/>
                  </a:ext>
                </a:extLst>
              </p:cNvPr>
              <p:cNvSpPr/>
              <p:nvPr/>
            </p:nvSpPr>
            <p:spPr>
              <a:xfrm>
                <a:off x="7197340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C1EC31A2-9CFC-DD7F-9776-DDAA591C7BA9}"/>
                  </a:ext>
                </a:extLst>
              </p:cNvPr>
              <p:cNvGrpSpPr/>
              <p:nvPr/>
            </p:nvGrpSpPr>
            <p:grpSpPr>
              <a:xfrm>
                <a:off x="7473725" y="5416429"/>
                <a:ext cx="1051891" cy="711577"/>
                <a:chOff x="618384" y="5322311"/>
                <a:chExt cx="1051891" cy="711577"/>
              </a:xfrm>
            </p:grpSpPr>
            <p:grpSp>
              <p:nvGrpSpPr>
                <p:cNvPr id="60" name="그룹 59">
                  <a:extLst>
                    <a:ext uri="{FF2B5EF4-FFF2-40B4-BE49-F238E27FC236}">
                      <a16:creationId xmlns:a16="http://schemas.microsoft.com/office/drawing/2014/main" id="{B280B4AB-20DD-1CAB-5C3B-417B907DBDA5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64" name="사각형: 둥근 모서리 63">
                    <a:extLst>
                      <a:ext uri="{FF2B5EF4-FFF2-40B4-BE49-F238E27FC236}">
                        <a16:creationId xmlns:a16="http://schemas.microsoft.com/office/drawing/2014/main" id="{11FA4ABD-E91D-155B-5220-E0CA002B8636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EC657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D1553A60-493D-5372-42D6-01A6B60DE6A5}"/>
                      </a:ext>
                    </a:extLst>
                  </p:cNvPr>
                  <p:cNvSpPr txBox="1"/>
                  <p:nvPr/>
                </p:nvSpPr>
                <p:spPr>
                  <a:xfrm>
                    <a:off x="4427249" y="4318399"/>
                    <a:ext cx="289503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4Q</a:t>
                    </a:r>
                  </a:p>
                </p:txBody>
              </p:sp>
            </p:grp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B4B48C8E-7D72-2A58-FEB8-D845192BA4A3}"/>
                    </a:ext>
                  </a:extLst>
                </p:cNvPr>
                <p:cNvGrpSpPr/>
                <p:nvPr/>
              </p:nvGrpSpPr>
              <p:grpSpPr>
                <a:xfrm>
                  <a:off x="618384" y="5546553"/>
                  <a:ext cx="1051891" cy="487335"/>
                  <a:chOff x="685979" y="4703590"/>
                  <a:chExt cx="1051891" cy="487335"/>
                </a:xfrm>
              </p:grpSpPr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978007BC-D9DC-7608-4A77-93F74E2DE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85979" y="4703590"/>
                    <a:ext cx="1051891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AI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고도화 </a:t>
                    </a: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·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수익화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22ED3F02-FC64-2E0A-3E62-CF3226CF0C40}"/>
                      </a:ext>
                    </a:extLst>
                  </p:cNvPr>
                  <p:cNvSpPr txBox="1"/>
                  <p:nvPr/>
                </p:nvSpPr>
                <p:spPr>
                  <a:xfrm>
                    <a:off x="783121" y="4919056"/>
                    <a:ext cx="857607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AI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자동매칭 전면 도입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월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BEP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달성 도전</a:t>
                    </a:r>
                  </a:p>
                </p:txBody>
              </p:sp>
            </p:grpSp>
          </p:grpSp>
        </p:grpSp>
        <p:sp>
          <p:nvSpPr>
            <p:cNvPr id="75" name="화살표: 오른쪽 74">
              <a:extLst>
                <a:ext uri="{FF2B5EF4-FFF2-40B4-BE49-F238E27FC236}">
                  <a16:creationId xmlns:a16="http://schemas.microsoft.com/office/drawing/2014/main" id="{35361CEE-B06E-B910-B1E1-E29C4D7F5BCA}"/>
                </a:ext>
              </a:extLst>
            </p:cNvPr>
            <p:cNvSpPr/>
            <p:nvPr/>
          </p:nvSpPr>
          <p:spPr>
            <a:xfrm>
              <a:off x="1943156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438DD1"/>
                </a:gs>
                <a:gs pos="100000">
                  <a:srgbClr val="438DD1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화살표: 오른쪽 75">
              <a:extLst>
                <a:ext uri="{FF2B5EF4-FFF2-40B4-BE49-F238E27FC236}">
                  <a16:creationId xmlns:a16="http://schemas.microsoft.com/office/drawing/2014/main" id="{E4FD99DF-A546-92D9-617C-ECA1C5885B3D}"/>
                </a:ext>
              </a:extLst>
            </p:cNvPr>
            <p:cNvSpPr/>
            <p:nvPr/>
          </p:nvSpPr>
          <p:spPr>
            <a:xfrm>
              <a:off x="3658159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EC6570"/>
                </a:gs>
                <a:gs pos="100000">
                  <a:srgbClr val="EC657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화살표: 오른쪽 76">
              <a:extLst>
                <a:ext uri="{FF2B5EF4-FFF2-40B4-BE49-F238E27FC236}">
                  <a16:creationId xmlns:a16="http://schemas.microsoft.com/office/drawing/2014/main" id="{10E613BD-BFA8-6AEB-7B64-32E5B6E1C635}"/>
                </a:ext>
              </a:extLst>
            </p:cNvPr>
            <p:cNvSpPr/>
            <p:nvPr/>
          </p:nvSpPr>
          <p:spPr>
            <a:xfrm>
              <a:off x="5373162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438DD1"/>
                </a:gs>
                <a:gs pos="100000">
                  <a:srgbClr val="438DD1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화살표: 오른쪽 77">
              <a:extLst>
                <a:ext uri="{FF2B5EF4-FFF2-40B4-BE49-F238E27FC236}">
                  <a16:creationId xmlns:a16="http://schemas.microsoft.com/office/drawing/2014/main" id="{368D6ACE-BAB4-F1DB-C792-587CD4F131B2}"/>
                </a:ext>
              </a:extLst>
            </p:cNvPr>
            <p:cNvSpPr/>
            <p:nvPr/>
          </p:nvSpPr>
          <p:spPr>
            <a:xfrm>
              <a:off x="7088165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EC6570"/>
                </a:gs>
                <a:gs pos="100000">
                  <a:srgbClr val="EC657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8CCE9FA-C1AB-4511-306A-995CE9AB1586}"/>
              </a:ext>
            </a:extLst>
          </p:cNvPr>
          <p:cNvGrpSpPr/>
          <p:nvPr/>
        </p:nvGrpSpPr>
        <p:grpSpPr>
          <a:xfrm>
            <a:off x="377191" y="4061459"/>
            <a:ext cx="789621" cy="1035685"/>
            <a:chOff x="377191" y="4091939"/>
            <a:chExt cx="789621" cy="1035685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AFE8341-93E9-3C03-3AFC-80F5FA035D27}"/>
                </a:ext>
              </a:extLst>
            </p:cNvPr>
            <p:cNvSpPr/>
            <p:nvPr/>
          </p:nvSpPr>
          <p:spPr>
            <a:xfrm>
              <a:off x="377191" y="4091939"/>
              <a:ext cx="789621" cy="1035685"/>
            </a:xfrm>
            <a:prstGeom prst="roundRect">
              <a:avLst>
                <a:gd name="adj" fmla="val 7313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1BE063E-1B06-3785-5B1B-D26A397FF42B}"/>
                </a:ext>
              </a:extLst>
            </p:cNvPr>
            <p:cNvSpPr txBox="1"/>
            <p:nvPr/>
          </p:nvSpPr>
          <p:spPr>
            <a:xfrm>
              <a:off x="578198" y="4332783"/>
              <a:ext cx="387607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수익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다각화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(3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축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)</a:t>
              </a:r>
              <a:endPara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6D21973-70CB-207D-4229-793AFA684860}"/>
              </a:ext>
            </a:extLst>
          </p:cNvPr>
          <p:cNvGrpSpPr/>
          <p:nvPr/>
        </p:nvGrpSpPr>
        <p:grpSpPr>
          <a:xfrm>
            <a:off x="1276350" y="4122703"/>
            <a:ext cx="4049670" cy="913197"/>
            <a:chOff x="1276350" y="4150282"/>
            <a:chExt cx="4049670" cy="913197"/>
          </a:xfrm>
        </p:grpSpPr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18A4E093-4746-AA1E-3CF1-FAEB5FB549DE}"/>
                </a:ext>
              </a:extLst>
            </p:cNvPr>
            <p:cNvCxnSpPr/>
            <p:nvPr/>
          </p:nvCxnSpPr>
          <p:spPr>
            <a:xfrm>
              <a:off x="1276350" y="4430668"/>
              <a:ext cx="4049670" cy="0"/>
            </a:xfrm>
            <a:prstGeom prst="line">
              <a:avLst/>
            </a:prstGeom>
            <a:ln>
              <a:solidFill>
                <a:srgbClr val="EC6570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2988E21B-F5B4-453D-C51B-7C6A1105410E}"/>
                </a:ext>
              </a:extLst>
            </p:cNvPr>
            <p:cNvCxnSpPr/>
            <p:nvPr/>
          </p:nvCxnSpPr>
          <p:spPr>
            <a:xfrm>
              <a:off x="1276350" y="4783094"/>
              <a:ext cx="4049670" cy="0"/>
            </a:xfrm>
            <a:prstGeom prst="line">
              <a:avLst/>
            </a:prstGeom>
            <a:ln>
              <a:solidFill>
                <a:srgbClr val="EC6570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83C8294-18DA-3D7F-9667-11B058311EE8}"/>
                </a:ext>
              </a:extLst>
            </p:cNvPr>
            <p:cNvGrpSpPr/>
            <p:nvPr/>
          </p:nvGrpSpPr>
          <p:grpSpPr>
            <a:xfrm>
              <a:off x="1296002" y="4150282"/>
              <a:ext cx="3876257" cy="208346"/>
              <a:chOff x="1296002" y="4150282"/>
              <a:chExt cx="3876257" cy="208346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9489808-D63A-751B-B233-1C0FA26A1E82}"/>
                  </a:ext>
                </a:extLst>
              </p:cNvPr>
              <p:cNvSpPr txBox="1"/>
              <p:nvPr/>
            </p:nvSpPr>
            <p:spPr>
              <a:xfrm>
                <a:off x="2297113" y="4185206"/>
                <a:ext cx="287514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중개 수수료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B2B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정기계약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프리미엄 매칭 차등 수수료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BFC29789-84C1-5441-338C-595617DAFE36}"/>
                  </a:ext>
                </a:extLst>
              </p:cNvPr>
              <p:cNvGrpSpPr/>
              <p:nvPr/>
            </p:nvGrpSpPr>
            <p:grpSpPr>
              <a:xfrm>
                <a:off x="1296002" y="4150282"/>
                <a:ext cx="745147" cy="208346"/>
                <a:chOff x="1296002" y="4150282"/>
                <a:chExt cx="745147" cy="208346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E466687-A33F-E54F-EB3D-FB620D6FACF7}"/>
                    </a:ext>
                  </a:extLst>
                </p:cNvPr>
                <p:cNvSpPr txBox="1"/>
                <p:nvPr/>
              </p:nvSpPr>
              <p:spPr>
                <a:xfrm>
                  <a:off x="1587499" y="4177511"/>
                  <a:ext cx="453650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거래 수익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96" name="그룹 95">
                  <a:extLst>
                    <a:ext uri="{FF2B5EF4-FFF2-40B4-BE49-F238E27FC236}">
                      <a16:creationId xmlns:a16="http://schemas.microsoft.com/office/drawing/2014/main" id="{519299DC-B711-E55B-8A94-D3D82FFEA852}"/>
                    </a:ext>
                  </a:extLst>
                </p:cNvPr>
                <p:cNvGrpSpPr/>
                <p:nvPr/>
              </p:nvGrpSpPr>
              <p:grpSpPr>
                <a:xfrm>
                  <a:off x="1296002" y="4150282"/>
                  <a:ext cx="208346" cy="208346"/>
                  <a:chOff x="1296002" y="4146392"/>
                  <a:chExt cx="208346" cy="208346"/>
                </a:xfrm>
              </p:grpSpPr>
              <p:sp>
                <p:nvSpPr>
                  <p:cNvPr id="94" name="타원 93">
                    <a:extLst>
                      <a:ext uri="{FF2B5EF4-FFF2-40B4-BE49-F238E27FC236}">
                        <a16:creationId xmlns:a16="http://schemas.microsoft.com/office/drawing/2014/main" id="{675A064A-AB49-12DB-63F3-A3F23B5FFB1D}"/>
                      </a:ext>
                    </a:extLst>
                  </p:cNvPr>
                  <p:cNvSpPr/>
                  <p:nvPr/>
                </p:nvSpPr>
                <p:spPr>
                  <a:xfrm>
                    <a:off x="1296002" y="4146392"/>
                    <a:ext cx="208346" cy="208346"/>
                  </a:xfrm>
                  <a:prstGeom prst="ellipse">
                    <a:avLst/>
                  </a:prstGeom>
                  <a:solidFill>
                    <a:srgbClr val="EC657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4E9DDFE3-0003-6C3C-37F1-0DF5D08640AB}"/>
                      </a:ext>
                    </a:extLst>
                  </p:cNvPr>
                  <p:cNvSpPr txBox="1"/>
                  <p:nvPr/>
                </p:nvSpPr>
                <p:spPr>
                  <a:xfrm>
                    <a:off x="1375649" y="4181315"/>
                    <a:ext cx="49052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</a:t>
                    </a:r>
                  </a:p>
                </p:txBody>
              </p:sp>
            </p:grpSp>
          </p:grp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6247D36D-FA21-31DF-C50C-12D68976D757}"/>
                </a:ext>
              </a:extLst>
            </p:cNvPr>
            <p:cNvGrpSpPr/>
            <p:nvPr/>
          </p:nvGrpSpPr>
          <p:grpSpPr>
            <a:xfrm>
              <a:off x="1296002" y="4502708"/>
              <a:ext cx="3169974" cy="208346"/>
              <a:chOff x="1296002" y="4150282"/>
              <a:chExt cx="3169974" cy="208346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CB0D00C-D72E-3FA0-3B90-20435B140723}"/>
                  </a:ext>
                </a:extLst>
              </p:cNvPr>
              <p:cNvSpPr txBox="1"/>
              <p:nvPr/>
            </p:nvSpPr>
            <p:spPr>
              <a:xfrm>
                <a:off x="2297113" y="4185206"/>
                <a:ext cx="21688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비입점 중개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예약 리퍼럴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상한 투명 운영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BE3D4C11-84C7-EEDF-4069-7D4F21A7354B}"/>
                  </a:ext>
                </a:extLst>
              </p:cNvPr>
              <p:cNvGrpSpPr/>
              <p:nvPr/>
            </p:nvGrpSpPr>
            <p:grpSpPr>
              <a:xfrm>
                <a:off x="1296002" y="4150282"/>
                <a:ext cx="745147" cy="208346"/>
                <a:chOff x="1296002" y="4150282"/>
                <a:chExt cx="745147" cy="208346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C605E5F4-5400-5B89-C5CC-72A3BA47AAA1}"/>
                    </a:ext>
                  </a:extLst>
                </p:cNvPr>
                <p:cNvSpPr txBox="1"/>
                <p:nvPr/>
              </p:nvSpPr>
              <p:spPr>
                <a:xfrm>
                  <a:off x="1587499" y="4177511"/>
                  <a:ext cx="453650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연결 수익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108" name="그룹 107">
                  <a:extLst>
                    <a:ext uri="{FF2B5EF4-FFF2-40B4-BE49-F238E27FC236}">
                      <a16:creationId xmlns:a16="http://schemas.microsoft.com/office/drawing/2014/main" id="{3B590719-D281-1739-5484-39B1F6DB9C54}"/>
                    </a:ext>
                  </a:extLst>
                </p:cNvPr>
                <p:cNvGrpSpPr/>
                <p:nvPr/>
              </p:nvGrpSpPr>
              <p:grpSpPr>
                <a:xfrm>
                  <a:off x="1296002" y="4150282"/>
                  <a:ext cx="208346" cy="208346"/>
                  <a:chOff x="1296002" y="4146392"/>
                  <a:chExt cx="208346" cy="208346"/>
                </a:xfrm>
              </p:grpSpPr>
              <p:sp>
                <p:nvSpPr>
                  <p:cNvPr id="109" name="타원 108">
                    <a:extLst>
                      <a:ext uri="{FF2B5EF4-FFF2-40B4-BE49-F238E27FC236}">
                        <a16:creationId xmlns:a16="http://schemas.microsoft.com/office/drawing/2014/main" id="{334B4AC2-7E1B-A30E-D4C9-523A842FFD4E}"/>
                      </a:ext>
                    </a:extLst>
                  </p:cNvPr>
                  <p:cNvSpPr/>
                  <p:nvPr/>
                </p:nvSpPr>
                <p:spPr>
                  <a:xfrm>
                    <a:off x="1296002" y="4146392"/>
                    <a:ext cx="208346" cy="208346"/>
                  </a:xfrm>
                  <a:prstGeom prst="ellipse">
                    <a:avLst/>
                  </a:prstGeom>
                  <a:solidFill>
                    <a:srgbClr val="EC657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8F65A011-1B74-E3E5-5B33-33D96F08BF6B}"/>
                      </a:ext>
                    </a:extLst>
                  </p:cNvPr>
                  <p:cNvSpPr txBox="1"/>
                  <p:nvPr/>
                </p:nvSpPr>
                <p:spPr>
                  <a:xfrm>
                    <a:off x="1367634" y="4181315"/>
                    <a:ext cx="65082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</a:t>
                    </a:r>
                  </a:p>
                </p:txBody>
              </p:sp>
            </p:grpSp>
          </p:grpSp>
        </p:grp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BB2C9D94-E22B-7FC7-B276-F5388C7B7850}"/>
                </a:ext>
              </a:extLst>
            </p:cNvPr>
            <p:cNvGrpSpPr/>
            <p:nvPr/>
          </p:nvGrpSpPr>
          <p:grpSpPr>
            <a:xfrm>
              <a:off x="1296002" y="4855133"/>
              <a:ext cx="3526482" cy="208346"/>
              <a:chOff x="1296002" y="4150282"/>
              <a:chExt cx="3526482" cy="208346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7E411F9-6AF1-D1AB-EECB-599F0DE577A8}"/>
                  </a:ext>
                </a:extLst>
              </p:cNvPr>
              <p:cNvSpPr txBox="1"/>
              <p:nvPr/>
            </p:nvSpPr>
            <p:spPr>
              <a:xfrm>
                <a:off x="2297113" y="4185206"/>
                <a:ext cx="2525371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리포트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엔진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SaaS —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신규 부가 수익</a:t>
                </a:r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870FE461-5CB3-7EAF-2D37-4B8194B00506}"/>
                  </a:ext>
                </a:extLst>
              </p:cNvPr>
              <p:cNvGrpSpPr/>
              <p:nvPr/>
            </p:nvGrpSpPr>
            <p:grpSpPr>
              <a:xfrm>
                <a:off x="1296002" y="4150282"/>
                <a:ext cx="955781" cy="208346"/>
                <a:chOff x="1296002" y="4150282"/>
                <a:chExt cx="955781" cy="208346"/>
              </a:xfrm>
            </p:grpSpPr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D3557F7-4A99-7419-BF0C-9002F7DC4DCD}"/>
                    </a:ext>
                  </a:extLst>
                </p:cNvPr>
                <p:cNvSpPr txBox="1"/>
                <p:nvPr/>
              </p:nvSpPr>
              <p:spPr>
                <a:xfrm>
                  <a:off x="1587499" y="4177511"/>
                  <a:ext cx="66428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데이터</a:t>
                  </a: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·SaaS </a:t>
                  </a:r>
                </a:p>
              </p:txBody>
            </p: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C963CA3C-9721-1758-3559-F185780742A4}"/>
                    </a:ext>
                  </a:extLst>
                </p:cNvPr>
                <p:cNvGrpSpPr/>
                <p:nvPr/>
              </p:nvGrpSpPr>
              <p:grpSpPr>
                <a:xfrm>
                  <a:off x="1296002" y="4150282"/>
                  <a:ext cx="208346" cy="208346"/>
                  <a:chOff x="1296002" y="4146392"/>
                  <a:chExt cx="208346" cy="208346"/>
                </a:xfrm>
              </p:grpSpPr>
              <p:sp>
                <p:nvSpPr>
                  <p:cNvPr id="122" name="타원 121">
                    <a:extLst>
                      <a:ext uri="{FF2B5EF4-FFF2-40B4-BE49-F238E27FC236}">
                        <a16:creationId xmlns:a16="http://schemas.microsoft.com/office/drawing/2014/main" id="{8B3F62DE-A632-BF04-5527-41FE59008AD9}"/>
                      </a:ext>
                    </a:extLst>
                  </p:cNvPr>
                  <p:cNvSpPr/>
                  <p:nvPr/>
                </p:nvSpPr>
                <p:spPr>
                  <a:xfrm>
                    <a:off x="1296002" y="4146392"/>
                    <a:ext cx="208346" cy="208346"/>
                  </a:xfrm>
                  <a:prstGeom prst="ellipse">
                    <a:avLst/>
                  </a:prstGeom>
                  <a:solidFill>
                    <a:srgbClr val="EC657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70F198F4-F87B-9A21-67E5-156EA90597EE}"/>
                      </a:ext>
                    </a:extLst>
                  </p:cNvPr>
                  <p:cNvSpPr txBox="1"/>
                  <p:nvPr/>
                </p:nvSpPr>
                <p:spPr>
                  <a:xfrm>
                    <a:off x="1366031" y="4181315"/>
                    <a:ext cx="68288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3</a:t>
                    </a:r>
                  </a:p>
                </p:txBody>
              </p:sp>
            </p:grpSp>
          </p:grpSp>
        </p:grp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9D601D4A-53D5-F80B-19C3-DE2D2E0DF18C}"/>
              </a:ext>
            </a:extLst>
          </p:cNvPr>
          <p:cNvGrpSpPr/>
          <p:nvPr/>
        </p:nvGrpSpPr>
        <p:grpSpPr>
          <a:xfrm>
            <a:off x="5462639" y="2470348"/>
            <a:ext cx="3304169" cy="2626793"/>
            <a:chOff x="5462639" y="2470348"/>
            <a:chExt cx="3304169" cy="2626793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69F94E27-2FEC-9247-5884-3ECA11456209}"/>
                </a:ext>
              </a:extLst>
            </p:cNvPr>
            <p:cNvSpPr/>
            <p:nvPr/>
          </p:nvSpPr>
          <p:spPr>
            <a:xfrm>
              <a:off x="5462639" y="2470348"/>
              <a:ext cx="3304169" cy="2626793"/>
            </a:xfrm>
            <a:prstGeom prst="rect">
              <a:avLst/>
            </a:prstGeom>
            <a:gradFill>
              <a:gsLst>
                <a:gs pos="0">
                  <a:srgbClr val="EC6570">
                    <a:alpha val="10000"/>
                  </a:srgbClr>
                </a:gs>
                <a:gs pos="100000">
                  <a:srgbClr val="EC6570">
                    <a:alpha val="2000"/>
                  </a:srgb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2C88506E-8EEB-90C1-E5C0-836900678E62}"/>
                </a:ext>
              </a:extLst>
            </p:cNvPr>
            <p:cNvGrpSpPr/>
            <p:nvPr/>
          </p:nvGrpSpPr>
          <p:grpSpPr>
            <a:xfrm>
              <a:off x="5657850" y="2631682"/>
              <a:ext cx="2894703" cy="2304124"/>
              <a:chOff x="5657850" y="2660650"/>
              <a:chExt cx="2894703" cy="2304124"/>
            </a:xfrm>
          </p:grpSpPr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5C1238E4-C436-6379-4905-5E6AF2411564}"/>
                  </a:ext>
                </a:extLst>
              </p:cNvPr>
              <p:cNvGrpSpPr/>
              <p:nvPr/>
            </p:nvGrpSpPr>
            <p:grpSpPr>
              <a:xfrm>
                <a:off x="5657850" y="2660650"/>
                <a:ext cx="2894703" cy="644234"/>
                <a:chOff x="5657850" y="2660650"/>
                <a:chExt cx="2894703" cy="644234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D4C4D584-AF69-6292-4D87-4E1681D49874}"/>
                    </a:ext>
                  </a:extLst>
                </p:cNvPr>
                <p:cNvGrpSpPr/>
                <p:nvPr/>
              </p:nvGrpSpPr>
              <p:grpSpPr>
                <a:xfrm>
                  <a:off x="5657850" y="2813050"/>
                  <a:ext cx="2894703" cy="491834"/>
                  <a:chOff x="5800725" y="2743200"/>
                  <a:chExt cx="2894703" cy="491834"/>
                </a:xfrm>
              </p:grpSpPr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C4E8309A-B7D5-E34C-BF3C-1AF184583410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743200"/>
                    <a:ext cx="1610377" cy="200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B2B · 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커뮤니티 시장 침투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EAC753B1-43A8-68FE-BACC-51B691DD646C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975989"/>
                    <a:ext cx="2894703" cy="259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기업 담당자의 업무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수요조사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정산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대행 솔루션으로 진입장벽 구축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강남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/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판교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/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동탄 등 구매력 높은 거점 아파트 하이퍼 로컬 공구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게이미피케이션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</a:t>
                    </a:r>
                  </a:p>
                </p:txBody>
              </p:sp>
            </p:grp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67D926BB-8DC8-6433-327E-2BC99C6BA266}"/>
                    </a:ext>
                  </a:extLst>
                </p:cNvPr>
                <p:cNvSpPr txBox="1"/>
                <p:nvPr/>
              </p:nvSpPr>
              <p:spPr>
                <a:xfrm>
                  <a:off x="5657850" y="2660650"/>
                  <a:ext cx="293350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01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2ADF9566-39FD-797E-55BE-265FC69513F6}"/>
                  </a:ext>
                </a:extLst>
              </p:cNvPr>
              <p:cNvGrpSpPr/>
              <p:nvPr/>
            </p:nvGrpSpPr>
            <p:grpSpPr>
              <a:xfrm>
                <a:off x="5657850" y="3422628"/>
                <a:ext cx="2766463" cy="780169"/>
                <a:chOff x="5657850" y="3284833"/>
                <a:chExt cx="2766463" cy="780169"/>
              </a:xfrm>
            </p:grpSpPr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2D2DA9A2-6024-6585-5883-37E63192D5CC}"/>
                    </a:ext>
                  </a:extLst>
                </p:cNvPr>
                <p:cNvGrpSpPr/>
                <p:nvPr/>
              </p:nvGrpSpPr>
              <p:grpSpPr>
                <a:xfrm>
                  <a:off x="5657850" y="3437233"/>
                  <a:ext cx="2766463" cy="627769"/>
                  <a:chOff x="5800725" y="2743200"/>
                  <a:chExt cx="2766463" cy="627769"/>
                </a:xfrm>
              </p:grpSpPr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D3278F-E926-F657-625D-D27E91ABDADA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743200"/>
                    <a:ext cx="2153475" cy="200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독자 엔진 구축 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(TIPS R&amp;D 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직결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)</a:t>
                    </a: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7BC1520C-06A7-C286-10B2-E65398944232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975989"/>
                    <a:ext cx="2766463" cy="3949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대량 주문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복잡한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B2B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프로세스를 감당할 자체 시스템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— AI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수요예측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자동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큐레이션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안건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1)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으로 사람이 처리 불가능한 규모의 매칭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B2B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전용 결제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법인카드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후불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공구 자동결제</a:t>
                    </a:r>
                  </a:p>
                </p:txBody>
              </p:sp>
            </p:grp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E68FC7A2-457D-7C57-726C-332081C48FA7}"/>
                    </a:ext>
                  </a:extLst>
                </p:cNvPr>
                <p:cNvSpPr txBox="1"/>
                <p:nvPr/>
              </p:nvSpPr>
              <p:spPr>
                <a:xfrm>
                  <a:off x="5657850" y="3284833"/>
                  <a:ext cx="307777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02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3C4AB0D0-BB28-D64F-F9FE-046B368AFB56}"/>
                  </a:ext>
                </a:extLst>
              </p:cNvPr>
              <p:cNvGrpSpPr/>
              <p:nvPr/>
            </p:nvGrpSpPr>
            <p:grpSpPr>
              <a:xfrm>
                <a:off x="5657850" y="4320540"/>
                <a:ext cx="2498761" cy="644234"/>
                <a:chOff x="5657850" y="4229100"/>
                <a:chExt cx="2498761" cy="644234"/>
              </a:xfrm>
            </p:grpSpPr>
            <p:grpSp>
              <p:nvGrpSpPr>
                <p:cNvPr id="132" name="그룹 131">
                  <a:extLst>
                    <a:ext uri="{FF2B5EF4-FFF2-40B4-BE49-F238E27FC236}">
                      <a16:creationId xmlns:a16="http://schemas.microsoft.com/office/drawing/2014/main" id="{5D5828A3-2B8D-9CCD-DBD2-D8883C9570B6}"/>
                    </a:ext>
                  </a:extLst>
                </p:cNvPr>
                <p:cNvGrpSpPr/>
                <p:nvPr/>
              </p:nvGrpSpPr>
              <p:grpSpPr>
                <a:xfrm>
                  <a:off x="5657850" y="4381500"/>
                  <a:ext cx="2498761" cy="491834"/>
                  <a:chOff x="5800725" y="2743200"/>
                  <a:chExt cx="2498761" cy="491834"/>
                </a:xfrm>
              </p:grpSpPr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FD4BF19C-3A0F-E156-ED52-CBD4D9CB4FF2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743200"/>
                    <a:ext cx="1904047" cy="200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데이터 플라이휠 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(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안건 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 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직결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)</a:t>
                    </a:r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49E05CB0-BFFD-5AE3-5E9C-C878799BF413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975989"/>
                    <a:ext cx="2498761" cy="259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축적 데이터로 기업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/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커뮤니티에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'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다음 주 간식 메뉴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'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를 먼저 제안하는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Outbound Sales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자동화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선호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위치 결합 타깃 팝업 알림</a:t>
                    </a:r>
                  </a:p>
                </p:txBody>
              </p:sp>
            </p:grp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D12FB78-4793-5A94-C23D-75F41B702E76}"/>
                    </a:ext>
                  </a:extLst>
                </p:cNvPr>
                <p:cNvSpPr txBox="1"/>
                <p:nvPr/>
              </p:nvSpPr>
              <p:spPr>
                <a:xfrm>
                  <a:off x="5657850" y="4229100"/>
                  <a:ext cx="310983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03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89645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12F6-DF32-8618-6287-6286FE91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4FBE4A-4EF9-BE4B-1B2D-702E3C072FF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552AF71-8EA4-55D1-1504-3391EAE9C3B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F416388-55A0-5A22-6DC5-BBA5C8E199D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57610DA-63E2-91D2-7202-029383323481}"/>
                </a:ext>
              </a:extLst>
            </p:cNvPr>
            <p:cNvGrpSpPr/>
            <p:nvPr/>
          </p:nvGrpSpPr>
          <p:grpSpPr>
            <a:xfrm>
              <a:off x="404618" y="922962"/>
              <a:ext cx="8500812" cy="523558"/>
              <a:chOff x="404618" y="928733"/>
              <a:chExt cx="850081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AF091E-2715-FF34-48DB-F08346F16D0D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90958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플라이휠의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각 마디는 이미 실측 지표로 돌기 시작했습니다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R&amp;D(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이 바퀴의 회전 속도를 올리는 투자입니다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0796A9-CE60-8735-3D01-F39E07BAA85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141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시간이 지날수록 이기는 구조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거래가 데이터를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데이터가 정확도를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정확도가 다시 거래를 만드는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 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플라이휠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ADF1390-6990-4B80-F1E4-2A8185C5DF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B29945-D8FB-2064-6D5A-4D7C884A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87780-1BE2-D771-6D60-32F92A2C1D1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계획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플라이휠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E99742AA-0BDE-7361-3669-F20A32D3D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343356"/>
              </p:ext>
            </p:extLst>
          </p:nvPr>
        </p:nvGraphicFramePr>
        <p:xfrm>
          <a:off x="4643300" y="2371903"/>
          <a:ext cx="4068700" cy="2145825"/>
        </p:xfrm>
        <a:graphic>
          <a:graphicData uri="http://schemas.openxmlformats.org/drawingml/2006/table">
            <a:tbl>
              <a:tblPr/>
              <a:tblGrid>
                <a:gridCol w="85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플라이휠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마디</a:t>
                      </a:r>
                      <a:endParaRPr lang="en-US" sz="9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이미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도는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증거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실측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R&amp;D가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올리는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것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②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거래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GMV 1.1억 ·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4,905건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대량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AOV ·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회전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③ 데이터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질의·B2B 상담·견적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클릭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로그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라벨 품질·커버리지 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④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정확도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픽미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v1 (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가중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S-curve · LTR —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개선폭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KPI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⑤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브랜드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실거래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 25~30개 온보딩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⑥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재방문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70.6%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45~50%+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코어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목표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C9E1299-31F7-1B45-0C35-3DC26374F3A5}"/>
              </a:ext>
            </a:extLst>
          </p:cNvPr>
          <p:cNvSpPr/>
          <p:nvPr/>
        </p:nvSpPr>
        <p:spPr>
          <a:xfrm>
            <a:off x="4643300" y="4711067"/>
            <a:ext cx="4068700" cy="1325797"/>
          </a:xfrm>
          <a:prstGeom prst="roundRect">
            <a:avLst>
              <a:gd name="adj" fmla="val 419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9AD3284A-B894-F89B-0955-3473C52D5B99}"/>
              </a:ext>
            </a:extLst>
          </p:cNvPr>
          <p:cNvGrpSpPr/>
          <p:nvPr/>
        </p:nvGrpSpPr>
        <p:grpSpPr>
          <a:xfrm>
            <a:off x="432000" y="2347135"/>
            <a:ext cx="3844736" cy="3533133"/>
            <a:chOff x="398284" y="2295752"/>
            <a:chExt cx="3844736" cy="3533133"/>
          </a:xfrm>
        </p:grpSpPr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6D6D2D9C-DB6E-7117-2909-BD59EA30BE0C}"/>
                </a:ext>
              </a:extLst>
            </p:cNvPr>
            <p:cNvSpPr/>
            <p:nvPr/>
          </p:nvSpPr>
          <p:spPr>
            <a:xfrm>
              <a:off x="953395" y="2695061"/>
              <a:ext cx="2734515" cy="273451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EC6570">
                  <a:alpha val="65000"/>
                </a:srgb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8E624E2A-D388-7B3B-3361-94A07E06047E}"/>
                </a:ext>
              </a:extLst>
            </p:cNvPr>
            <p:cNvSpPr/>
            <p:nvPr/>
          </p:nvSpPr>
          <p:spPr>
            <a:xfrm>
              <a:off x="1386797" y="3128463"/>
              <a:ext cx="1867711" cy="1867711"/>
            </a:xfrm>
            <a:prstGeom prst="ellipse">
              <a:avLst/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AAD5CA5B-060D-DAF7-DDDD-500331E67DEF}"/>
                </a:ext>
              </a:extLst>
            </p:cNvPr>
            <p:cNvSpPr/>
            <p:nvPr/>
          </p:nvSpPr>
          <p:spPr>
            <a:xfrm>
              <a:off x="1548871" y="3290537"/>
              <a:ext cx="1543563" cy="1543563"/>
            </a:xfrm>
            <a:prstGeom prst="ellipse">
              <a:avLst/>
            </a:prstGeom>
            <a:gradFill>
              <a:gsLst>
                <a:gs pos="32000">
                  <a:srgbClr val="EC6570"/>
                </a:gs>
                <a:gs pos="100000">
                  <a:srgbClr val="EC6570">
                    <a:lumMod val="82000"/>
                    <a:lumOff val="18000"/>
                  </a:srgbClr>
                </a:gs>
              </a:gsLst>
              <a:lin ang="13800000" scaled="0"/>
            </a:gradFill>
            <a:ln>
              <a:noFill/>
            </a:ln>
            <a:effectLst>
              <a:outerShdw blurRad="317500" dist="520700" sx="80000" sy="80000" algn="t" rotWithShape="0">
                <a:srgbClr val="E52B38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1DD889F5-7ABF-EE72-0128-C53D20D0FAD5}"/>
                </a:ext>
              </a:extLst>
            </p:cNvPr>
            <p:cNvSpPr/>
            <p:nvPr/>
          </p:nvSpPr>
          <p:spPr>
            <a:xfrm>
              <a:off x="1619033" y="2295752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7741DB07-7516-10CA-6540-DCDABEA91A7C}"/>
                </a:ext>
              </a:extLst>
            </p:cNvPr>
            <p:cNvGrpSpPr/>
            <p:nvPr/>
          </p:nvGrpSpPr>
          <p:grpSpPr>
            <a:xfrm>
              <a:off x="1736274" y="2445266"/>
              <a:ext cx="846707" cy="302434"/>
              <a:chOff x="1736274" y="2526472"/>
              <a:chExt cx="846707" cy="302434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18A6A39-E57C-4770-08D9-253A842D5793}"/>
                  </a:ext>
                </a:extLst>
              </p:cNvPr>
              <p:cNvSpPr txBox="1"/>
              <p:nvPr/>
            </p:nvSpPr>
            <p:spPr>
              <a:xfrm>
                <a:off x="1736274" y="2526472"/>
                <a:ext cx="56041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정확한 추천</a:t>
                </a: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E8005D9A-82EA-74F6-1645-D99F12E8924F}"/>
                  </a:ext>
                </a:extLst>
              </p:cNvPr>
              <p:cNvSpPr txBox="1"/>
              <p:nvPr/>
            </p:nvSpPr>
            <p:spPr>
              <a:xfrm>
                <a:off x="1736274" y="2705795"/>
                <a:ext cx="84670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1·2)</a:t>
                </a:r>
                <a:endPara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288049DF-B59F-851F-9E9F-AAF327C94C15}"/>
                </a:ext>
              </a:extLst>
            </p:cNvPr>
            <p:cNvGrpSpPr/>
            <p:nvPr/>
          </p:nvGrpSpPr>
          <p:grpSpPr>
            <a:xfrm>
              <a:off x="2814832" y="2351858"/>
              <a:ext cx="153888" cy="153888"/>
              <a:chOff x="2814538" y="2415809"/>
              <a:chExt cx="153888" cy="153888"/>
            </a:xfrm>
          </p:grpSpPr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E805C752-44C4-6934-9FFC-528677BC31A1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785BB0E-939E-926F-2103-A98B56692B3B}"/>
                  </a:ext>
                </a:extLst>
              </p:cNvPr>
              <p:cNvSpPr txBox="1"/>
              <p:nvPr/>
            </p:nvSpPr>
            <p:spPr>
              <a:xfrm>
                <a:off x="2872566" y="2438892"/>
                <a:ext cx="3783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1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44C02313-EF3E-C4AE-584D-4A6128347FD3}"/>
                </a:ext>
              </a:extLst>
            </p:cNvPr>
            <p:cNvSpPr/>
            <p:nvPr/>
          </p:nvSpPr>
          <p:spPr>
            <a:xfrm>
              <a:off x="398284" y="3187200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0988249-30E7-A649-FFE0-AE57638A19F3}"/>
                </a:ext>
              </a:extLst>
            </p:cNvPr>
            <p:cNvGrpSpPr/>
            <p:nvPr/>
          </p:nvGrpSpPr>
          <p:grpSpPr>
            <a:xfrm>
              <a:off x="515525" y="3336714"/>
              <a:ext cx="1139094" cy="302434"/>
              <a:chOff x="515525" y="3417920"/>
              <a:chExt cx="1139094" cy="302434"/>
            </a:xfrm>
          </p:grpSpPr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99509FF5-306C-C549-85AC-5597DC890AEA}"/>
                  </a:ext>
                </a:extLst>
              </p:cNvPr>
              <p:cNvSpPr txBox="1"/>
              <p:nvPr/>
            </p:nvSpPr>
            <p:spPr>
              <a:xfrm>
                <a:off x="515525" y="3417920"/>
                <a:ext cx="81176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다양성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재방문 ↑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577DA57-1A18-C609-450E-24EF45940B61}"/>
                  </a:ext>
                </a:extLst>
              </p:cNvPr>
              <p:cNvSpPr txBox="1"/>
              <p:nvPr/>
            </p:nvSpPr>
            <p:spPr>
              <a:xfrm>
                <a:off x="515525" y="3597243"/>
                <a:ext cx="113909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재방문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70.6% ·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재구매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38.9%</a:t>
                </a:r>
              </a:p>
            </p:txBody>
          </p:sp>
        </p:grp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0F1FA262-9581-EF45-15CE-7F7F6A616056}"/>
                </a:ext>
              </a:extLst>
            </p:cNvPr>
            <p:cNvGrpSpPr/>
            <p:nvPr/>
          </p:nvGrpSpPr>
          <p:grpSpPr>
            <a:xfrm>
              <a:off x="1594083" y="3243306"/>
              <a:ext cx="153888" cy="153888"/>
              <a:chOff x="2814538" y="2415809"/>
              <a:chExt cx="153888" cy="153888"/>
            </a:xfrm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5816D9CF-1FAB-9D94-9A17-1F832DE29674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6F585D45-BD08-CA1F-82DC-5F8DB4F06C12}"/>
                  </a:ext>
                </a:extLst>
              </p:cNvPr>
              <p:cNvSpPr txBox="1"/>
              <p:nvPr/>
            </p:nvSpPr>
            <p:spPr>
              <a:xfrm>
                <a:off x="2865353" y="2438892"/>
                <a:ext cx="5225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6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960E6392-C77A-4F56-9F3B-7D9BDE88477B}"/>
                </a:ext>
              </a:extLst>
            </p:cNvPr>
            <p:cNvSpPr/>
            <p:nvPr/>
          </p:nvSpPr>
          <p:spPr>
            <a:xfrm>
              <a:off x="2839781" y="3187200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0755594B-E142-BDA3-32F6-883E0553889F}"/>
                </a:ext>
              </a:extLst>
            </p:cNvPr>
            <p:cNvGrpSpPr/>
            <p:nvPr/>
          </p:nvGrpSpPr>
          <p:grpSpPr>
            <a:xfrm>
              <a:off x="2957022" y="3336714"/>
              <a:ext cx="898003" cy="302434"/>
              <a:chOff x="2957022" y="3417920"/>
              <a:chExt cx="898003" cy="302434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ADDF4BA-7152-7927-16FE-DE502295EB6E}"/>
                  </a:ext>
                </a:extLst>
              </p:cNvPr>
              <p:cNvSpPr txBox="1"/>
              <p:nvPr/>
            </p:nvSpPr>
            <p:spPr>
              <a:xfrm>
                <a:off x="2957022" y="3417920"/>
                <a:ext cx="59824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채택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거래 ↑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1A3A1E8-9724-C598-4CAA-077172BCC29C}"/>
                  </a:ext>
                </a:extLst>
              </p:cNvPr>
              <p:cNvSpPr txBox="1"/>
              <p:nvPr/>
            </p:nvSpPr>
            <p:spPr>
              <a:xfrm>
                <a:off x="2957022" y="3597243"/>
                <a:ext cx="89800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49.5% · AOV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개선</a:t>
                </a: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C63AA665-530F-D941-75C0-BCF7F1602D9C}"/>
                </a:ext>
              </a:extLst>
            </p:cNvPr>
            <p:cNvGrpSpPr/>
            <p:nvPr/>
          </p:nvGrpSpPr>
          <p:grpSpPr>
            <a:xfrm>
              <a:off x="4035580" y="3243306"/>
              <a:ext cx="153888" cy="153888"/>
              <a:chOff x="2814538" y="2415809"/>
              <a:chExt cx="153888" cy="153888"/>
            </a:xfrm>
          </p:grpSpPr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00DBD783-5F85-D4BE-553C-B1DE3077D0E0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FDF7A617-BDDC-1105-E4A7-0E2219762F98}"/>
                  </a:ext>
                </a:extLst>
              </p:cNvPr>
              <p:cNvSpPr txBox="1"/>
              <p:nvPr/>
            </p:nvSpPr>
            <p:spPr>
              <a:xfrm>
                <a:off x="2866154" y="2438892"/>
                <a:ext cx="5065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DCF98DC5-9770-F387-67AA-6D01376B04AC}"/>
                </a:ext>
              </a:extLst>
            </p:cNvPr>
            <p:cNvSpPr/>
            <p:nvPr/>
          </p:nvSpPr>
          <p:spPr>
            <a:xfrm>
              <a:off x="398284" y="4335973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0DA44399-9738-F624-438E-062B9E5250E3}"/>
                </a:ext>
              </a:extLst>
            </p:cNvPr>
            <p:cNvGrpSpPr/>
            <p:nvPr/>
          </p:nvGrpSpPr>
          <p:grpSpPr>
            <a:xfrm>
              <a:off x="515525" y="4485487"/>
              <a:ext cx="703398" cy="302434"/>
              <a:chOff x="515525" y="4566693"/>
              <a:chExt cx="703398" cy="302434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2EF29BF-41E1-3C16-EECB-5D20EC027F40}"/>
                  </a:ext>
                </a:extLst>
              </p:cNvPr>
              <p:cNvSpPr txBox="1"/>
              <p:nvPr/>
            </p:nvSpPr>
            <p:spPr>
              <a:xfrm>
                <a:off x="515525" y="4566693"/>
                <a:ext cx="70339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입점사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성과 ↑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6BEE686-B8CB-C7DB-0FD8-A6B5E0164F13}"/>
                  </a:ext>
                </a:extLst>
              </p:cNvPr>
              <p:cNvSpPr txBox="1"/>
              <p:nvPr/>
            </p:nvSpPr>
            <p:spPr>
              <a:xfrm>
                <a:off x="515525" y="4746016"/>
                <a:ext cx="58830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 확대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락인</a:t>
                </a:r>
                <a:endPara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EE1B968F-4AF5-5C7E-BA58-FEDEF0752ECF}"/>
                </a:ext>
              </a:extLst>
            </p:cNvPr>
            <p:cNvGrpSpPr/>
            <p:nvPr/>
          </p:nvGrpSpPr>
          <p:grpSpPr>
            <a:xfrm>
              <a:off x="1594083" y="4392079"/>
              <a:ext cx="153888" cy="153888"/>
              <a:chOff x="2814538" y="2415809"/>
              <a:chExt cx="153888" cy="153888"/>
            </a:xfrm>
          </p:grpSpPr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3A75CDD7-683C-4733-A4E5-511BFE61D285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6DAD628D-4E62-F52B-6CB9-FA6BB06F82ED}"/>
                  </a:ext>
                </a:extLst>
              </p:cNvPr>
              <p:cNvSpPr txBox="1"/>
              <p:nvPr/>
            </p:nvSpPr>
            <p:spPr>
              <a:xfrm>
                <a:off x="2864551" y="2438892"/>
                <a:ext cx="5386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1CD50ACC-57C2-3A71-109D-BE0EE1519F70}"/>
                </a:ext>
              </a:extLst>
            </p:cNvPr>
            <p:cNvSpPr/>
            <p:nvPr/>
          </p:nvSpPr>
          <p:spPr>
            <a:xfrm>
              <a:off x="2839781" y="4335973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2A820A6E-3DB6-8220-678A-A967064B7A33}"/>
                </a:ext>
              </a:extLst>
            </p:cNvPr>
            <p:cNvGrpSpPr/>
            <p:nvPr/>
          </p:nvGrpSpPr>
          <p:grpSpPr>
            <a:xfrm>
              <a:off x="2957022" y="4485487"/>
              <a:ext cx="803746" cy="302434"/>
              <a:chOff x="2957022" y="4566693"/>
              <a:chExt cx="803746" cy="302434"/>
            </a:xfrm>
          </p:grpSpPr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ECCE0257-E1C8-D7A2-8EE5-1E5CD842DABC}"/>
                  </a:ext>
                </a:extLst>
              </p:cNvPr>
              <p:cNvSpPr txBox="1"/>
              <p:nvPr/>
            </p:nvSpPr>
            <p:spPr>
              <a:xfrm>
                <a:off x="2957022" y="4566693"/>
                <a:ext cx="80374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성과 데이터 축적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4795C563-9CC3-67EB-5DC6-8063C550D64D}"/>
                  </a:ext>
                </a:extLst>
              </p:cNvPr>
              <p:cNvSpPr txBox="1"/>
              <p:nvPr/>
            </p:nvSpPr>
            <p:spPr>
              <a:xfrm>
                <a:off x="2957022" y="4746016"/>
                <a:ext cx="69025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정답 라벨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성적표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7AA4CACF-4DD5-CB28-A450-2FEC3464D22E}"/>
                </a:ext>
              </a:extLst>
            </p:cNvPr>
            <p:cNvGrpSpPr/>
            <p:nvPr/>
          </p:nvGrpSpPr>
          <p:grpSpPr>
            <a:xfrm>
              <a:off x="4035580" y="4392079"/>
              <a:ext cx="153888" cy="153888"/>
              <a:chOff x="2814538" y="2415809"/>
              <a:chExt cx="153888" cy="153888"/>
            </a:xfrm>
          </p:grpSpPr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9AF23A8F-DCEB-0B0D-84B0-891AEE7CCD6F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7B565692-57DA-BE88-1739-162DC36DB844}"/>
                  </a:ext>
                </a:extLst>
              </p:cNvPr>
              <p:cNvSpPr txBox="1"/>
              <p:nvPr/>
            </p:nvSpPr>
            <p:spPr>
              <a:xfrm>
                <a:off x="2865353" y="2438892"/>
                <a:ext cx="5225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213" name="사각형: 둥근 모서리 212">
              <a:extLst>
                <a:ext uri="{FF2B5EF4-FFF2-40B4-BE49-F238E27FC236}">
                  <a16:creationId xmlns:a16="http://schemas.microsoft.com/office/drawing/2014/main" id="{EE01507B-9827-DE97-4475-B93B40A5BC6C}"/>
                </a:ext>
              </a:extLst>
            </p:cNvPr>
            <p:cNvSpPr/>
            <p:nvPr/>
          </p:nvSpPr>
          <p:spPr>
            <a:xfrm>
              <a:off x="1619033" y="5227422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AEDD96BA-4FA5-BE3B-6C17-5B70FDCBCCEB}"/>
                </a:ext>
              </a:extLst>
            </p:cNvPr>
            <p:cNvGrpSpPr/>
            <p:nvPr/>
          </p:nvGrpSpPr>
          <p:grpSpPr>
            <a:xfrm>
              <a:off x="1736274" y="5376936"/>
              <a:ext cx="922047" cy="302434"/>
              <a:chOff x="1736274" y="5458142"/>
              <a:chExt cx="922047" cy="302434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5F9374D-482B-C8B6-877B-42699855FC89}"/>
                  </a:ext>
                </a:extLst>
              </p:cNvPr>
              <p:cNvSpPr txBox="1"/>
              <p:nvPr/>
            </p:nvSpPr>
            <p:spPr>
              <a:xfrm>
                <a:off x="1736274" y="5458142"/>
                <a:ext cx="56041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모델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재학습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96F9281-496F-24E1-9B33-D1759EB798DE}"/>
                  </a:ext>
                </a:extLst>
              </p:cNvPr>
              <p:cNvSpPr txBox="1"/>
              <p:nvPr/>
            </p:nvSpPr>
            <p:spPr>
              <a:xfrm>
                <a:off x="1736274" y="5637465"/>
                <a:ext cx="92204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LTR 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정확도 ↑</a:t>
                </a:r>
              </a:p>
            </p:txBody>
          </p:sp>
        </p:grp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666CB882-7F6B-15AC-2D56-79A945C4852E}"/>
                </a:ext>
              </a:extLst>
            </p:cNvPr>
            <p:cNvGrpSpPr/>
            <p:nvPr/>
          </p:nvGrpSpPr>
          <p:grpSpPr>
            <a:xfrm>
              <a:off x="2814832" y="5283528"/>
              <a:ext cx="153888" cy="153888"/>
              <a:chOff x="2814538" y="2415809"/>
              <a:chExt cx="153888" cy="153888"/>
            </a:xfrm>
          </p:grpSpPr>
          <p:sp>
            <p:nvSpPr>
              <p:cNvPr id="217" name="타원 216">
                <a:extLst>
                  <a:ext uri="{FF2B5EF4-FFF2-40B4-BE49-F238E27FC236}">
                    <a16:creationId xmlns:a16="http://schemas.microsoft.com/office/drawing/2014/main" id="{77F97B1B-5FE3-D22F-B5FB-D7CBD39C40FD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7095BC9C-29F3-CBED-9451-838FD80D1333}"/>
                  </a:ext>
                </a:extLst>
              </p:cNvPr>
              <p:cNvSpPr txBox="1"/>
              <p:nvPr/>
            </p:nvSpPr>
            <p:spPr>
              <a:xfrm>
                <a:off x="2864551" y="2438892"/>
                <a:ext cx="5386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E56F3B15-05AF-DBEA-D1D5-F4FD5821181F}"/>
                </a:ext>
              </a:extLst>
            </p:cNvPr>
            <p:cNvGrpSpPr/>
            <p:nvPr/>
          </p:nvGrpSpPr>
          <p:grpSpPr>
            <a:xfrm>
              <a:off x="1752708" y="3766127"/>
              <a:ext cx="1135888" cy="592383"/>
              <a:chOff x="1727136" y="3774279"/>
              <a:chExt cx="1135888" cy="592383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2849A0A2-8781-253F-4CD7-61372A65BA6A}"/>
                  </a:ext>
                </a:extLst>
              </p:cNvPr>
              <p:cNvSpPr txBox="1"/>
              <p:nvPr/>
            </p:nvSpPr>
            <p:spPr>
              <a:xfrm>
                <a:off x="1838545" y="3774279"/>
                <a:ext cx="91307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데이터 해자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71A56C93-AC5D-DC0A-4C0A-A7D69E064219}"/>
                  </a:ext>
                </a:extLst>
              </p:cNvPr>
              <p:cNvSpPr txBox="1"/>
              <p:nvPr/>
            </p:nvSpPr>
            <p:spPr>
              <a:xfrm>
                <a:off x="1727136" y="4064015"/>
                <a:ext cx="1135888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GMV 1.1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17,116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클릭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응답·주문 전환·재주문 의향 로그</a:t>
                </a:r>
              </a:p>
            </p:txBody>
          </p:sp>
        </p:grp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D0BFC736-962C-1B88-B662-BA1F6CEBD504}"/>
                </a:ext>
              </a:extLst>
            </p:cNvPr>
            <p:cNvGrpSpPr/>
            <p:nvPr/>
          </p:nvGrpSpPr>
          <p:grpSpPr>
            <a:xfrm rot="2700000">
              <a:off x="3168046" y="2998428"/>
              <a:ext cx="126731" cy="73719"/>
              <a:chOff x="3235633" y="2836600"/>
              <a:chExt cx="153346" cy="89200"/>
            </a:xfrm>
          </p:grpSpPr>
          <p:sp>
            <p:nvSpPr>
              <p:cNvPr id="235" name="그래픽 149">
                <a:extLst>
                  <a:ext uri="{FF2B5EF4-FFF2-40B4-BE49-F238E27FC236}">
                    <a16:creationId xmlns:a16="http://schemas.microsoft.com/office/drawing/2014/main" id="{C473B444-8D92-1461-54D1-4CA01DEA991E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6" name="그래픽 150">
                <a:extLst>
                  <a:ext uri="{FF2B5EF4-FFF2-40B4-BE49-F238E27FC236}">
                    <a16:creationId xmlns:a16="http://schemas.microsoft.com/office/drawing/2014/main" id="{3258BAE0-9208-4128-93A5-4810AF1BB2CE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0EEB2897-0236-2463-604F-737F123F3517}"/>
                </a:ext>
              </a:extLst>
            </p:cNvPr>
            <p:cNvGrpSpPr/>
            <p:nvPr/>
          </p:nvGrpSpPr>
          <p:grpSpPr>
            <a:xfrm rot="18900000" flipV="1">
              <a:off x="1373003" y="2985939"/>
              <a:ext cx="126731" cy="73719"/>
              <a:chOff x="3235633" y="2836600"/>
              <a:chExt cx="153346" cy="89200"/>
            </a:xfrm>
          </p:grpSpPr>
          <p:sp>
            <p:nvSpPr>
              <p:cNvPr id="239" name="그래픽 149">
                <a:extLst>
                  <a:ext uri="{FF2B5EF4-FFF2-40B4-BE49-F238E27FC236}">
                    <a16:creationId xmlns:a16="http://schemas.microsoft.com/office/drawing/2014/main" id="{ACC60921-5DB6-345C-A34E-DB5B1AA54D0D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0" name="그래픽 150">
                <a:extLst>
                  <a:ext uri="{FF2B5EF4-FFF2-40B4-BE49-F238E27FC236}">
                    <a16:creationId xmlns:a16="http://schemas.microsoft.com/office/drawing/2014/main" id="{A9674F07-4EF8-DD49-1CBE-DFDAC95682DE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0D522ADC-ABBF-286F-BAD9-D61B64BD8C7F}"/>
                </a:ext>
              </a:extLst>
            </p:cNvPr>
            <p:cNvGrpSpPr/>
            <p:nvPr/>
          </p:nvGrpSpPr>
          <p:grpSpPr>
            <a:xfrm rot="18900000" flipH="1">
              <a:off x="3168078" y="5050085"/>
              <a:ext cx="126731" cy="73719"/>
              <a:chOff x="3235633" y="2836600"/>
              <a:chExt cx="153346" cy="89200"/>
            </a:xfrm>
          </p:grpSpPr>
          <p:sp>
            <p:nvSpPr>
              <p:cNvPr id="247" name="그래픽 149">
                <a:extLst>
                  <a:ext uri="{FF2B5EF4-FFF2-40B4-BE49-F238E27FC236}">
                    <a16:creationId xmlns:a16="http://schemas.microsoft.com/office/drawing/2014/main" id="{B9CC8483-3386-D9E2-9975-0FA214E1F9CB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8" name="그래픽 150">
                <a:extLst>
                  <a:ext uri="{FF2B5EF4-FFF2-40B4-BE49-F238E27FC236}">
                    <a16:creationId xmlns:a16="http://schemas.microsoft.com/office/drawing/2014/main" id="{E15A8D2F-15F1-ADEC-5AA5-BE1C215200A4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674DB83B-F9B0-D335-F347-6F785490A255}"/>
                </a:ext>
              </a:extLst>
            </p:cNvPr>
            <p:cNvGrpSpPr/>
            <p:nvPr/>
          </p:nvGrpSpPr>
          <p:grpSpPr>
            <a:xfrm rot="2700000" flipH="1" flipV="1">
              <a:off x="1373035" y="5072350"/>
              <a:ext cx="126731" cy="73719"/>
              <a:chOff x="3235633" y="2836600"/>
              <a:chExt cx="153346" cy="89200"/>
            </a:xfrm>
          </p:grpSpPr>
          <p:sp>
            <p:nvSpPr>
              <p:cNvPr id="245" name="그래픽 149">
                <a:extLst>
                  <a:ext uri="{FF2B5EF4-FFF2-40B4-BE49-F238E27FC236}">
                    <a16:creationId xmlns:a16="http://schemas.microsoft.com/office/drawing/2014/main" id="{04AAB817-2547-006D-861D-79245B1C1606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6" name="그래픽 150">
                <a:extLst>
                  <a:ext uri="{FF2B5EF4-FFF2-40B4-BE49-F238E27FC236}">
                    <a16:creationId xmlns:a16="http://schemas.microsoft.com/office/drawing/2014/main" id="{810268B6-69CC-AF50-B4E9-F5E955A2D976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FD73BAFF-468F-D0BC-7A1B-0FABFB3FB548}"/>
                </a:ext>
              </a:extLst>
            </p:cNvPr>
            <p:cNvGrpSpPr/>
            <p:nvPr/>
          </p:nvGrpSpPr>
          <p:grpSpPr>
            <a:xfrm rot="16200000" flipV="1">
              <a:off x="890029" y="4025480"/>
              <a:ext cx="126731" cy="73719"/>
              <a:chOff x="3235633" y="2836600"/>
              <a:chExt cx="153346" cy="89200"/>
            </a:xfrm>
          </p:grpSpPr>
          <p:sp>
            <p:nvSpPr>
              <p:cNvPr id="250" name="그래픽 149">
                <a:extLst>
                  <a:ext uri="{FF2B5EF4-FFF2-40B4-BE49-F238E27FC236}">
                    <a16:creationId xmlns:a16="http://schemas.microsoft.com/office/drawing/2014/main" id="{9E82BC8E-3CD5-9DE6-6DF7-6FC58610347D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1" name="그래픽 150">
                <a:extLst>
                  <a:ext uri="{FF2B5EF4-FFF2-40B4-BE49-F238E27FC236}">
                    <a16:creationId xmlns:a16="http://schemas.microsoft.com/office/drawing/2014/main" id="{6CF999F3-3AE0-130C-7371-05E7BD8AC532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34AA9264-E8BB-BB44-836D-53F88214ECE8}"/>
                </a:ext>
              </a:extLst>
            </p:cNvPr>
            <p:cNvGrpSpPr/>
            <p:nvPr/>
          </p:nvGrpSpPr>
          <p:grpSpPr>
            <a:xfrm rot="5400000" flipV="1">
              <a:off x="3624547" y="4025440"/>
              <a:ext cx="126731" cy="73719"/>
              <a:chOff x="3235633" y="2836600"/>
              <a:chExt cx="153346" cy="89200"/>
            </a:xfrm>
          </p:grpSpPr>
          <p:sp>
            <p:nvSpPr>
              <p:cNvPr id="253" name="그래픽 149">
                <a:extLst>
                  <a:ext uri="{FF2B5EF4-FFF2-40B4-BE49-F238E27FC236}">
                    <a16:creationId xmlns:a16="http://schemas.microsoft.com/office/drawing/2014/main" id="{F49346A4-0C3A-0CE7-3F6E-DD304B0E8A30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4" name="그래픽 150">
                <a:extLst>
                  <a:ext uri="{FF2B5EF4-FFF2-40B4-BE49-F238E27FC236}">
                    <a16:creationId xmlns:a16="http://schemas.microsoft.com/office/drawing/2014/main" id="{0A7CA73D-99F7-D20B-C22F-2E7AD05865D9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C6F72645-CE8B-7D61-B1BE-813FB9841E99}"/>
              </a:ext>
            </a:extLst>
          </p:cNvPr>
          <p:cNvGrpSpPr/>
          <p:nvPr/>
        </p:nvGrpSpPr>
        <p:grpSpPr>
          <a:xfrm>
            <a:off x="4860296" y="4970331"/>
            <a:ext cx="3401893" cy="807268"/>
            <a:chOff x="4860296" y="4935342"/>
            <a:chExt cx="3401893" cy="807268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60B36125-CD70-4209-8D37-A715A0E48547}"/>
                </a:ext>
              </a:extLst>
            </p:cNvPr>
            <p:cNvSpPr txBox="1"/>
            <p:nvPr/>
          </p:nvSpPr>
          <p:spPr>
            <a:xfrm>
              <a:off x="4860296" y="4935342"/>
              <a:ext cx="20524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왜 후발주자가 못 따라오나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7F76D55D-A055-935D-58B3-3C70F6B1FD0F}"/>
                </a:ext>
              </a:extLst>
            </p:cNvPr>
            <p:cNvSpPr txBox="1"/>
            <p:nvPr/>
          </p:nvSpPr>
          <p:spPr>
            <a:xfrm>
              <a:off x="4860296" y="5229649"/>
              <a:ext cx="3401893" cy="51296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경쟁사가 지금 시작해도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우리 바퀴는 이미 돌며 매일 데이터를 쌓는다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격차는 시간의 함수로 벌어지는 복리 구조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특허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(IP)·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공동연구 자산이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초기 회전을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피드백 루프가 가속을 담당</a:t>
              </a:r>
            </a:p>
          </p:txBody>
        </p:sp>
      </p:grpSp>
      <p:pic>
        <p:nvPicPr>
          <p:cNvPr id="264" name="그림 263" descr="흑백, 디자인이(가) 표시된 사진  중간 신뢰도로 자동 생성된 설명">
            <a:extLst>
              <a:ext uri="{FF2B5EF4-FFF2-40B4-BE49-F238E27FC236}">
                <a16:creationId xmlns:a16="http://schemas.microsoft.com/office/drawing/2014/main" id="{106933E2-9C59-F8A8-1AD6-37D317547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5241">
            <a:off x="8191487" y="4579221"/>
            <a:ext cx="724686" cy="653123"/>
          </a:xfrm>
          <a:prstGeom prst="rect">
            <a:avLst/>
          </a:prstGeom>
          <a:effectLst>
            <a:outerShdw blurRad="50800" dist="38100" dir="5400000" sx="102000" sy="102000" algn="t" rotWithShape="0">
              <a:prstClr val="black">
                <a:alpha val="5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1639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0D25-B2AF-EE27-3487-487DE53C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4F1B0CD-9D4F-0D26-A3FB-01E2757C6FA6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70BF63A-BD6F-FE75-E8E1-9C4A1262004B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31CB468-2137-A790-D02F-E41A5C7822F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2D4A785-92B0-A2C1-B498-7CA12C7C096A}"/>
                </a:ext>
              </a:extLst>
            </p:cNvPr>
            <p:cNvGrpSpPr/>
            <p:nvPr/>
          </p:nvGrpSpPr>
          <p:grpSpPr>
            <a:xfrm>
              <a:off x="404618" y="922962"/>
              <a:ext cx="7329338" cy="523558"/>
              <a:chOff x="404618" y="928733"/>
              <a:chExt cx="7329338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304FDA-A776-2E44-9A79-CDE46BE1C816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19780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낯선 시장 개척이 아니라 확보된 교두보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→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검증된 파이프라인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(50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개사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→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 가능한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플레이북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커뮤니티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·SaaS)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순서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2BF77B-F2AF-0F1A-E293-72A19957DB61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9704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본진에서 검증하고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파이프라인으로 확장한다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 시장 침투 모션과 실측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퍼널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57C64954-17DD-A38E-76F9-0E18136099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803D0E-C04F-C2D9-D7AF-C9CFD59B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E678E-F48A-5B9A-F320-E483501E74B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계획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GTM (Land · Expand · Scale)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95EBFFF-6611-A983-278C-26684E0D1B27}"/>
              </a:ext>
            </a:extLst>
          </p:cNvPr>
          <p:cNvSpPr/>
          <p:nvPr/>
        </p:nvSpPr>
        <p:spPr>
          <a:xfrm>
            <a:off x="0" y="4820576"/>
            <a:ext cx="9144000" cy="1544654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D6749AF-F5B1-8DEF-A91A-11AD16F5AAD9}"/>
              </a:ext>
            </a:extLst>
          </p:cNvPr>
          <p:cNvSpPr txBox="1"/>
          <p:nvPr/>
        </p:nvSpPr>
        <p:spPr>
          <a:xfrm>
            <a:off x="453669" y="4963499"/>
            <a:ext cx="2491067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획득 </a:t>
            </a:r>
            <a:r>
              <a:rPr kumimoji="0" lang="ko-KR" altLang="en-US" sz="1200" b="0" i="0" u="none" strike="noStrike" kern="1200" cap="none" spc="-30" normalizeH="0" baseline="0" noProof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퍼널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가정이 아닌 실측 </a:t>
            </a:r>
            <a:r>
              <a:rPr kumimoji="0" lang="ko-KR" altLang="en-US" sz="1200" b="0" i="0" u="none" strike="noStrike" kern="1200" cap="none" spc="-30" normalizeH="0" baseline="0" noProof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전환율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위에서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F54AED3C-CD69-8042-7AEA-A58D5D552F0E}"/>
              </a:ext>
            </a:extLst>
          </p:cNvPr>
          <p:cNvSpPr/>
          <p:nvPr/>
        </p:nvSpPr>
        <p:spPr>
          <a:xfrm>
            <a:off x="457322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59C0B6C4-CF75-1C92-95D8-00582512A672}"/>
              </a:ext>
            </a:extLst>
          </p:cNvPr>
          <p:cNvSpPr/>
          <p:nvPr/>
        </p:nvSpPr>
        <p:spPr>
          <a:xfrm>
            <a:off x="2552474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50580D5B-73F2-D93E-AA1E-D9DE89E01718}"/>
              </a:ext>
            </a:extLst>
          </p:cNvPr>
          <p:cNvSpPr/>
          <p:nvPr/>
        </p:nvSpPr>
        <p:spPr>
          <a:xfrm>
            <a:off x="4647627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6472C8C9-4F8C-8088-2B1D-DEF468F9D8D5}"/>
              </a:ext>
            </a:extLst>
          </p:cNvPr>
          <p:cNvSpPr/>
          <p:nvPr/>
        </p:nvSpPr>
        <p:spPr>
          <a:xfrm>
            <a:off x="6742780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222ED14-3F41-6A22-8691-5C6F45FDBADD}"/>
              </a:ext>
            </a:extLst>
          </p:cNvPr>
          <p:cNvSpPr txBox="1"/>
          <p:nvPr/>
        </p:nvSpPr>
        <p:spPr>
          <a:xfrm>
            <a:off x="1288848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인지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E3D85B9-A992-F4E8-E1C0-F64D25AC62AE}"/>
              </a:ext>
            </a:extLst>
          </p:cNvPr>
          <p:cNvSpPr txBox="1"/>
          <p:nvPr/>
        </p:nvSpPr>
        <p:spPr>
          <a:xfrm>
            <a:off x="857800" y="5657793"/>
            <a:ext cx="1142942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오가닉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콘텐츠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유입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90%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오가닉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273D73A-DBFE-3E77-2725-8FE131337AB8}"/>
              </a:ext>
            </a:extLst>
          </p:cNvPr>
          <p:cNvSpPr txBox="1"/>
          <p:nvPr/>
        </p:nvSpPr>
        <p:spPr>
          <a:xfrm>
            <a:off x="3384001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체험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B005723-3E05-4D29-550F-EC7EC8DA9BE6}"/>
              </a:ext>
            </a:extLst>
          </p:cNvPr>
          <p:cNvSpPr txBox="1"/>
          <p:nvPr/>
        </p:nvSpPr>
        <p:spPr>
          <a:xfrm>
            <a:off x="3046889" y="5657793"/>
            <a:ext cx="955069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파일럿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팝업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첫 구매 전환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49.5%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80CC3EB-C02E-51A9-5C1F-D8CF22BFCC4C}"/>
              </a:ext>
            </a:extLst>
          </p:cNvPr>
          <p:cNvSpPr txBox="1"/>
          <p:nvPr/>
        </p:nvSpPr>
        <p:spPr>
          <a:xfrm>
            <a:off x="5479153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4342968-F5A1-7D8D-4B57-C7A013DDA7E0}"/>
              </a:ext>
            </a:extLst>
          </p:cNvPr>
          <p:cNvSpPr txBox="1"/>
          <p:nvPr/>
        </p:nvSpPr>
        <p:spPr>
          <a:xfrm>
            <a:off x="5242389" y="5657793"/>
            <a:ext cx="754374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정기계약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구독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재방문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70.6%)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15C10EA-D16E-7BC0-F28C-9489AC025243}"/>
              </a:ext>
            </a:extLst>
          </p:cNvPr>
          <p:cNvSpPr txBox="1"/>
          <p:nvPr/>
        </p:nvSpPr>
        <p:spPr>
          <a:xfrm>
            <a:off x="7574307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확장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3DD4111-6E1E-D659-61BC-850F2DFD77EC}"/>
              </a:ext>
            </a:extLst>
          </p:cNvPr>
          <p:cNvSpPr txBox="1"/>
          <p:nvPr/>
        </p:nvSpPr>
        <p:spPr>
          <a:xfrm>
            <a:off x="7009086" y="5657793"/>
            <a:ext cx="1411284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추천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업셀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재구매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38.9% → 45%+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BAF8755-2FDC-BB3A-F969-17A1FAF02F49}"/>
              </a:ext>
            </a:extLst>
          </p:cNvPr>
          <p:cNvGrpSpPr/>
          <p:nvPr/>
        </p:nvGrpSpPr>
        <p:grpSpPr>
          <a:xfrm>
            <a:off x="432000" y="2268440"/>
            <a:ext cx="2566187" cy="2304000"/>
            <a:chOff x="432000" y="2331940"/>
            <a:chExt cx="2566187" cy="2304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21F742-2E66-B38F-A29C-7C8FF605D1AB}"/>
                </a:ext>
              </a:extLst>
            </p:cNvPr>
            <p:cNvSpPr/>
            <p:nvPr/>
          </p:nvSpPr>
          <p:spPr>
            <a:xfrm>
              <a:off x="432000" y="2331940"/>
              <a:ext cx="2566187" cy="23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B332E17-F746-4DCE-EC77-26851F8B38E2}"/>
                </a:ext>
              </a:extLst>
            </p:cNvPr>
            <p:cNvGrpSpPr/>
            <p:nvPr/>
          </p:nvGrpSpPr>
          <p:grpSpPr>
            <a:xfrm>
              <a:off x="581352" y="4177889"/>
              <a:ext cx="2267482" cy="313440"/>
              <a:chOff x="751943" y="4230053"/>
              <a:chExt cx="2267482" cy="295275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85EDAE3-7C29-CA6A-5C21-40202400CB94}"/>
                  </a:ext>
                </a:extLst>
              </p:cNvPr>
              <p:cNvSpPr/>
              <p:nvPr/>
            </p:nvSpPr>
            <p:spPr>
              <a:xfrm>
                <a:off x="751943" y="4230053"/>
                <a:ext cx="2267482" cy="295275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B044F0-94A0-19FE-F99E-770E0E2C57B9}"/>
                  </a:ext>
                </a:extLst>
              </p:cNvPr>
              <p:cNvSpPr txBox="1"/>
              <p:nvPr/>
            </p:nvSpPr>
            <p:spPr>
              <a:xfrm>
                <a:off x="893265" y="4301192"/>
                <a:ext cx="1984839" cy="1449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산출물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레퍼런스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호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+ B2B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플레이북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v1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9EAD58A6-9E37-73F3-DA95-79F6AC6EF624}"/>
                </a:ext>
              </a:extLst>
            </p:cNvPr>
            <p:cNvGrpSpPr/>
            <p:nvPr/>
          </p:nvGrpSpPr>
          <p:grpSpPr>
            <a:xfrm>
              <a:off x="599092" y="2520832"/>
              <a:ext cx="2232001" cy="1483925"/>
              <a:chOff x="532867" y="2599223"/>
              <a:chExt cx="2232001" cy="148392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A7BB27-7A05-11AB-C901-386D6CCEF9DD}"/>
                  </a:ext>
                </a:extLst>
              </p:cNvPr>
              <p:cNvSpPr txBox="1"/>
              <p:nvPr/>
            </p:nvSpPr>
            <p:spPr>
              <a:xfrm>
                <a:off x="532867" y="3128784"/>
                <a:ext cx="2231999" cy="9543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지점 간식·교육 간식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설계사 활동용품 · 고객 방문 선물 · 시책 리워드 · VIP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사은 —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영업현장 5대 장면에서 단체주문 실증 + B2B 학습데이터 수집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전용 결제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법인카드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후불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정산 자동화 베타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성공 레퍼런스 케이스 스터디화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도입 효과 정량화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F4EF8-2A64-BA66-5FDE-A7DC1A4DCE07}"/>
                  </a:ext>
                </a:extLst>
              </p:cNvPr>
              <p:cNvSpPr txBox="1"/>
              <p:nvPr/>
            </p:nvSpPr>
            <p:spPr>
              <a:xfrm>
                <a:off x="532868" y="2759739"/>
                <a:ext cx="1335622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교보생명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=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B2B/B2B2C 실증 채널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102CFD-E719-4B65-51EE-C52294027927}"/>
                  </a:ext>
                </a:extLst>
              </p:cNvPr>
              <p:cNvSpPr txBox="1"/>
              <p:nvPr/>
            </p:nvSpPr>
            <p:spPr>
              <a:xfrm>
                <a:off x="532868" y="2599223"/>
                <a:ext cx="28918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LAND</a:t>
                </a:r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6E2B34E3-5E99-BC22-4441-DEF655EDCE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46286"/>
                <a:ext cx="2232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B1010D3A-65DB-0504-E8F8-3DF49C791E37}"/>
              </a:ext>
            </a:extLst>
          </p:cNvPr>
          <p:cNvGrpSpPr/>
          <p:nvPr/>
        </p:nvGrpSpPr>
        <p:grpSpPr>
          <a:xfrm>
            <a:off x="3288907" y="2268440"/>
            <a:ext cx="2566187" cy="2304000"/>
            <a:chOff x="3288907" y="2331940"/>
            <a:chExt cx="2566187" cy="23040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A3638AE-BB68-D39F-3CD0-563367B2069E}"/>
                </a:ext>
              </a:extLst>
            </p:cNvPr>
            <p:cNvSpPr/>
            <p:nvPr/>
          </p:nvSpPr>
          <p:spPr>
            <a:xfrm>
              <a:off x="3288907" y="2331940"/>
              <a:ext cx="2566187" cy="23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55984434-8708-E473-6B56-C3B4D8C13A77}"/>
                </a:ext>
              </a:extLst>
            </p:cNvPr>
            <p:cNvGrpSpPr/>
            <p:nvPr/>
          </p:nvGrpSpPr>
          <p:grpSpPr>
            <a:xfrm>
              <a:off x="3438259" y="4177889"/>
              <a:ext cx="2267482" cy="313440"/>
              <a:chOff x="751943" y="4230053"/>
              <a:chExt cx="2267482" cy="295275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57D76244-C9E1-6A21-7FCE-02BA88D984EE}"/>
                  </a:ext>
                </a:extLst>
              </p:cNvPr>
              <p:cNvSpPr/>
              <p:nvPr/>
            </p:nvSpPr>
            <p:spPr>
              <a:xfrm>
                <a:off x="751943" y="4230053"/>
                <a:ext cx="2267482" cy="29527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6644BC-8BC3-3260-D790-95EDE270D844}"/>
                  </a:ext>
                </a:extLst>
              </p:cNvPr>
              <p:cNvSpPr txBox="1"/>
              <p:nvPr/>
            </p:nvSpPr>
            <p:spPr>
              <a:xfrm>
                <a:off x="997300" y="4305206"/>
                <a:ext cx="1776769" cy="1449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산출물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MRR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기반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B2B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매출 축 확립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DB2C12DB-15EA-DF3C-FB8E-940F78A3C34B}"/>
                </a:ext>
              </a:extLst>
            </p:cNvPr>
            <p:cNvGrpSpPr/>
            <p:nvPr/>
          </p:nvGrpSpPr>
          <p:grpSpPr>
            <a:xfrm>
              <a:off x="3456000" y="2520832"/>
              <a:ext cx="2232000" cy="1483925"/>
              <a:chOff x="532868" y="2599223"/>
              <a:chExt cx="2232000" cy="1483925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F213AFB-1E83-E38A-C96B-6FD6E0FCEA0C}"/>
                  </a:ext>
                </a:extLst>
              </p:cNvPr>
              <p:cNvSpPr txBox="1"/>
              <p:nvPr/>
            </p:nvSpPr>
            <p:spPr>
              <a:xfrm>
                <a:off x="532868" y="3128784"/>
                <a:ext cx="1977144" cy="9543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POC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개사 → 정기계약 전환 캠페인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3Q)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 기반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 주 간식 메뉴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’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선제안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Outbound 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채널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오가닉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90%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인스타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4.5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유입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CAC 6,996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 방어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B541C92-708D-D9FC-A43A-B87ADFCE3255}"/>
                  </a:ext>
                </a:extLst>
              </p:cNvPr>
              <p:cNvSpPr txBox="1"/>
              <p:nvPr/>
            </p:nvSpPr>
            <p:spPr>
              <a:xfrm>
                <a:off x="532868" y="2759739"/>
                <a:ext cx="1994457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대기업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50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개사 파이프라인 전환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F1DB55-5AC2-24D5-B0B6-F4FB4B10976C}"/>
                  </a:ext>
                </a:extLst>
              </p:cNvPr>
              <p:cNvSpPr txBox="1"/>
              <p:nvPr/>
            </p:nvSpPr>
            <p:spPr>
              <a:xfrm>
                <a:off x="532868" y="2599223"/>
                <a:ext cx="43377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EXPAND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40AB5E54-3EB3-B54C-2CE9-00B2519CD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46286"/>
                <a:ext cx="2232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FC270C8-2929-375D-1719-47F845CC1E62}"/>
              </a:ext>
            </a:extLst>
          </p:cNvPr>
          <p:cNvGrpSpPr/>
          <p:nvPr/>
        </p:nvGrpSpPr>
        <p:grpSpPr>
          <a:xfrm>
            <a:off x="6145813" y="2268440"/>
            <a:ext cx="2566187" cy="2304000"/>
            <a:chOff x="432000" y="2331940"/>
            <a:chExt cx="2566187" cy="230400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1FA713F-2580-DA41-26F7-1B0EA3EE2F12}"/>
                </a:ext>
              </a:extLst>
            </p:cNvPr>
            <p:cNvSpPr/>
            <p:nvPr/>
          </p:nvSpPr>
          <p:spPr>
            <a:xfrm>
              <a:off x="432000" y="2331940"/>
              <a:ext cx="2566187" cy="23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ED500B8D-2022-1683-EFB7-2FA4C6D51F14}"/>
                </a:ext>
              </a:extLst>
            </p:cNvPr>
            <p:cNvGrpSpPr/>
            <p:nvPr/>
          </p:nvGrpSpPr>
          <p:grpSpPr>
            <a:xfrm>
              <a:off x="581352" y="4177889"/>
              <a:ext cx="2267482" cy="313440"/>
              <a:chOff x="751943" y="4230053"/>
              <a:chExt cx="2267482" cy="295275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3435CFC8-61E3-9EF2-DF70-F67244BE7ED6}"/>
                  </a:ext>
                </a:extLst>
              </p:cNvPr>
              <p:cNvSpPr/>
              <p:nvPr/>
            </p:nvSpPr>
            <p:spPr>
              <a:xfrm>
                <a:off x="751943" y="4230053"/>
                <a:ext cx="2267482" cy="295275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664FBA-1ECE-5841-395F-240351C5CB26}"/>
                  </a:ext>
                </a:extLst>
              </p:cNvPr>
              <p:cNvSpPr txBox="1"/>
              <p:nvPr/>
            </p:nvSpPr>
            <p:spPr>
              <a:xfrm>
                <a:off x="1052924" y="4301192"/>
                <a:ext cx="1665520" cy="1449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산출물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반복 가능한 확장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플레이북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DA6961B-11EA-BB12-F18B-48900BBDE3A2}"/>
                </a:ext>
              </a:extLst>
            </p:cNvPr>
            <p:cNvGrpSpPr/>
            <p:nvPr/>
          </p:nvGrpSpPr>
          <p:grpSpPr>
            <a:xfrm>
              <a:off x="599093" y="2520832"/>
              <a:ext cx="2232000" cy="1483925"/>
              <a:chOff x="532868" y="2599223"/>
              <a:chExt cx="2232000" cy="1483925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A23FABC-6644-2D43-62C5-CDDC7E428D25}"/>
                  </a:ext>
                </a:extLst>
              </p:cNvPr>
              <p:cNvSpPr txBox="1"/>
              <p:nvPr/>
            </p:nvSpPr>
            <p:spPr>
              <a:xfrm>
                <a:off x="532868" y="3128784"/>
                <a:ext cx="1988365" cy="9543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강남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 거점 아파트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하이퍼로컬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공구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게이미피케이션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리포트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엔진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SaaS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신수익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 상품화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For Visitors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인바운드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Pre-Phase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엔진 실증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글로벌 장 연결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E34A46-E13E-ECDC-241E-85D373384D14}"/>
                  </a:ext>
                </a:extLst>
              </p:cNvPr>
              <p:cNvSpPr txBox="1"/>
              <p:nvPr/>
            </p:nvSpPr>
            <p:spPr>
              <a:xfrm>
                <a:off x="532868" y="2759739"/>
                <a:ext cx="1726114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커뮤니티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SaaS · </a:t>
                </a:r>
                <a:r>
                  <a:rPr kumimoji="0" lang="ko-KR" altLang="en-US" sz="13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인바운드</a:t>
                </a:r>
                <a:endPara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2E0974-FAF5-1493-17CD-1B491B63F273}"/>
                  </a:ext>
                </a:extLst>
              </p:cNvPr>
              <p:cNvSpPr txBox="1"/>
              <p:nvPr/>
            </p:nvSpPr>
            <p:spPr>
              <a:xfrm>
                <a:off x="532868" y="2599223"/>
                <a:ext cx="34464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SCALE</a:t>
                </a:r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25AD1CFB-EE13-F3EA-F65F-7E8A7F9287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46286"/>
                <a:ext cx="2232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3D1E4504-9358-DDE4-73B6-5BA2A3E10691}"/>
              </a:ext>
            </a:extLst>
          </p:cNvPr>
          <p:cNvGrpSpPr/>
          <p:nvPr/>
        </p:nvGrpSpPr>
        <p:grpSpPr>
          <a:xfrm>
            <a:off x="2976379" y="3253273"/>
            <a:ext cx="334335" cy="334335"/>
            <a:chOff x="3923679" y="3769810"/>
            <a:chExt cx="584822" cy="584822"/>
          </a:xfrm>
        </p:grpSpPr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879D03A9-A240-2A33-DDDA-7B4E9C7E7C6E}"/>
                </a:ext>
              </a:extLst>
            </p:cNvPr>
            <p:cNvSpPr/>
            <p:nvPr/>
          </p:nvSpPr>
          <p:spPr>
            <a:xfrm rot="16200000">
              <a:off x="3923679" y="3769810"/>
              <a:ext cx="584822" cy="584822"/>
            </a:xfrm>
            <a:prstGeom prst="ellipse">
              <a:avLst/>
            </a:prstGeom>
            <a:gradFill flip="none" rotWithShape="0">
              <a:gsLst>
                <a:gs pos="15000">
                  <a:schemeClr val="bg1"/>
                </a:gs>
                <a:gs pos="90000">
                  <a:srgbClr val="F5F5F5"/>
                </a:gs>
              </a:gsLst>
              <a:lin ang="5400000" scaled="0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232323">
                  <a:alpha val="1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9" name="화살표: 아래쪽 148">
              <a:extLst>
                <a:ext uri="{FF2B5EF4-FFF2-40B4-BE49-F238E27FC236}">
                  <a16:creationId xmlns:a16="http://schemas.microsoft.com/office/drawing/2014/main" id="{2D9D2B50-C8CB-6DF7-7F87-2CF04AECCECE}"/>
                </a:ext>
              </a:extLst>
            </p:cNvPr>
            <p:cNvSpPr/>
            <p:nvPr/>
          </p:nvSpPr>
          <p:spPr>
            <a:xfrm rot="16200000">
              <a:off x="4089616" y="3918465"/>
              <a:ext cx="277594" cy="287516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EBFF2EF-EAF4-8BB3-2047-55DB20ACA375}"/>
              </a:ext>
            </a:extLst>
          </p:cNvPr>
          <p:cNvGrpSpPr/>
          <p:nvPr/>
        </p:nvGrpSpPr>
        <p:grpSpPr>
          <a:xfrm>
            <a:off x="5833286" y="3253273"/>
            <a:ext cx="334335" cy="334335"/>
            <a:chOff x="3923679" y="3769810"/>
            <a:chExt cx="584822" cy="584822"/>
          </a:xfrm>
        </p:grpSpPr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14BBC4A4-9A12-6694-A30D-A120782282BD}"/>
                </a:ext>
              </a:extLst>
            </p:cNvPr>
            <p:cNvSpPr/>
            <p:nvPr/>
          </p:nvSpPr>
          <p:spPr>
            <a:xfrm rot="16200000">
              <a:off x="3923679" y="3769810"/>
              <a:ext cx="584822" cy="584822"/>
            </a:xfrm>
            <a:prstGeom prst="ellipse">
              <a:avLst/>
            </a:prstGeom>
            <a:gradFill flip="none" rotWithShape="0">
              <a:gsLst>
                <a:gs pos="15000">
                  <a:schemeClr val="bg1"/>
                </a:gs>
                <a:gs pos="90000">
                  <a:srgbClr val="F5F5F5"/>
                </a:gs>
              </a:gsLst>
              <a:lin ang="5400000" scaled="0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232323">
                  <a:alpha val="1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2" name="화살표: 아래쪽 151">
              <a:extLst>
                <a:ext uri="{FF2B5EF4-FFF2-40B4-BE49-F238E27FC236}">
                  <a16:creationId xmlns:a16="http://schemas.microsoft.com/office/drawing/2014/main" id="{3DAA83AE-694A-D7E5-FC1B-39157646DB2B}"/>
                </a:ext>
              </a:extLst>
            </p:cNvPr>
            <p:cNvSpPr/>
            <p:nvPr/>
          </p:nvSpPr>
          <p:spPr>
            <a:xfrm rot="16200000">
              <a:off x="4089616" y="3918465"/>
              <a:ext cx="277594" cy="287516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E79366A8-70D9-4801-EB91-D3976D9248F0}"/>
              </a:ext>
            </a:extLst>
          </p:cNvPr>
          <p:cNvGrpSpPr/>
          <p:nvPr/>
        </p:nvGrpSpPr>
        <p:grpSpPr>
          <a:xfrm>
            <a:off x="2447925" y="2268440"/>
            <a:ext cx="550262" cy="216000"/>
            <a:chOff x="1404844" y="2494940"/>
            <a:chExt cx="494278" cy="227236"/>
          </a:xfrm>
        </p:grpSpPr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311E32F4-43D4-31B4-C62B-6B34B2304239}"/>
                </a:ext>
              </a:extLst>
            </p:cNvPr>
            <p:cNvSpPr/>
            <p:nvPr/>
          </p:nvSpPr>
          <p:spPr>
            <a:xfrm>
              <a:off x="1404844" y="2494940"/>
              <a:ext cx="494278" cy="227236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EC0293C-2C41-F744-D6B2-1A324214AEB7}"/>
                </a:ext>
              </a:extLst>
            </p:cNvPr>
            <p:cNvSpPr txBox="1"/>
            <p:nvPr/>
          </p:nvSpPr>
          <p:spPr>
            <a:xfrm>
              <a:off x="1462668" y="2539309"/>
              <a:ext cx="37863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'26 1Q~</a:t>
              </a: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72A6CEB-221F-24B7-32A7-F1D52978CE8A}"/>
              </a:ext>
            </a:extLst>
          </p:cNvPr>
          <p:cNvGrpSpPr/>
          <p:nvPr/>
        </p:nvGrpSpPr>
        <p:grpSpPr>
          <a:xfrm>
            <a:off x="5304832" y="2268440"/>
            <a:ext cx="550262" cy="216000"/>
            <a:chOff x="1404844" y="2494940"/>
            <a:chExt cx="494278" cy="227236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E869B7C-5F37-4718-DC65-7BC096A455C5}"/>
                </a:ext>
              </a:extLst>
            </p:cNvPr>
            <p:cNvSpPr/>
            <p:nvPr/>
          </p:nvSpPr>
          <p:spPr>
            <a:xfrm>
              <a:off x="1404844" y="2494940"/>
              <a:ext cx="494278" cy="227236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821FD47-E793-2EBE-7902-094D4BBA495F}"/>
                </a:ext>
              </a:extLst>
            </p:cNvPr>
            <p:cNvSpPr txBox="1"/>
            <p:nvPr/>
          </p:nvSpPr>
          <p:spPr>
            <a:xfrm>
              <a:off x="1444779" y="2539309"/>
              <a:ext cx="414407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'26 2~3Q</a:t>
              </a: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FCC0BC14-7A08-FD36-6B8A-892544B8B7B8}"/>
              </a:ext>
            </a:extLst>
          </p:cNvPr>
          <p:cNvGrpSpPr/>
          <p:nvPr/>
        </p:nvGrpSpPr>
        <p:grpSpPr>
          <a:xfrm>
            <a:off x="8161738" y="2268440"/>
            <a:ext cx="550262" cy="216000"/>
            <a:chOff x="1404844" y="2494940"/>
            <a:chExt cx="494278" cy="227236"/>
          </a:xfrm>
        </p:grpSpPr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09DFF8F9-4EC4-83E8-8B8D-7C5210E05AB2}"/>
                </a:ext>
              </a:extLst>
            </p:cNvPr>
            <p:cNvSpPr/>
            <p:nvPr/>
          </p:nvSpPr>
          <p:spPr>
            <a:xfrm>
              <a:off x="1404844" y="2494940"/>
              <a:ext cx="494278" cy="227236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EE9926-DBFA-6288-DA5C-2F87994A9D1A}"/>
                </a:ext>
              </a:extLst>
            </p:cNvPr>
            <p:cNvSpPr txBox="1"/>
            <p:nvPr/>
          </p:nvSpPr>
          <p:spPr>
            <a:xfrm>
              <a:off x="1473289" y="2535707"/>
              <a:ext cx="357387" cy="14570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'26 4Q~</a:t>
              </a:r>
            </a:p>
          </p:txBody>
        </p:sp>
      </p:grpSp>
      <p:sp>
        <p:nvSpPr>
          <p:cNvPr id="169" name="화살표: 아래쪽 168">
            <a:extLst>
              <a:ext uri="{FF2B5EF4-FFF2-40B4-BE49-F238E27FC236}">
                <a16:creationId xmlns:a16="http://schemas.microsoft.com/office/drawing/2014/main" id="{BF3A217A-43DF-DC04-4D6D-E67579F9B008}"/>
              </a:ext>
            </a:extLst>
          </p:cNvPr>
          <p:cNvSpPr/>
          <p:nvPr/>
        </p:nvSpPr>
        <p:spPr>
          <a:xfrm rot="16200000">
            <a:off x="2409542" y="5581310"/>
            <a:ext cx="192423" cy="208199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8DD5DA0D-0FE4-CB7C-4D2C-E8E1413862EB}"/>
              </a:ext>
            </a:extLst>
          </p:cNvPr>
          <p:cNvSpPr/>
          <p:nvPr/>
        </p:nvSpPr>
        <p:spPr>
          <a:xfrm rot="16200000">
            <a:off x="4504260" y="5581310"/>
            <a:ext cx="192423" cy="208199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1" name="화살표: 아래쪽 170">
            <a:extLst>
              <a:ext uri="{FF2B5EF4-FFF2-40B4-BE49-F238E27FC236}">
                <a16:creationId xmlns:a16="http://schemas.microsoft.com/office/drawing/2014/main" id="{844D7118-6858-4831-F9C1-F1E28BD5ADD0}"/>
              </a:ext>
            </a:extLst>
          </p:cNvPr>
          <p:cNvSpPr/>
          <p:nvPr/>
        </p:nvSpPr>
        <p:spPr>
          <a:xfrm rot="16200000">
            <a:off x="6598978" y="5581310"/>
            <a:ext cx="192423" cy="208199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719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D25C-3FB2-6126-CF22-AF67F20B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C631EB4A-9E40-DEA0-186E-B0D1134C747B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DA4CA8-A287-D0F5-18BB-D3E04F3780A4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F198B-7B36-8057-A361-872B1CD4BB8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F903443-8C89-ED9C-1130-43C5A9F8DDD5}"/>
                </a:ext>
              </a:extLst>
            </p:cNvPr>
            <p:cNvGrpSpPr/>
            <p:nvPr/>
          </p:nvGrpSpPr>
          <p:grpSpPr>
            <a:xfrm>
              <a:off x="404618" y="922962"/>
              <a:ext cx="8385396" cy="553998"/>
              <a:chOff x="404618" y="928733"/>
              <a:chExt cx="8385396" cy="553998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6927493-879B-CA10-58A4-2730A3A00748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265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엔진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=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수출 자산 : 국내 B2B/B2B2C 데이터 × 다국어 추천 엔진으로 For Visitors 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→ 일본 → 동남아 → 미국 확장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출국 없이 국내에서 먼저 검증하는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'For Visitors' Pre-Phase </a:t>
                </a: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전략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BFAEA2E-5321-4CA1-14D2-7E6106BDF1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90E210-1DEA-DDFD-3966-65ACC38B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0B45E-8938-E364-9568-72176C3ED1DA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글로벌 진출전략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D31214D-0DD2-DEAA-53F0-C0330C363FAB}"/>
              </a:ext>
            </a:extLst>
          </p:cNvPr>
          <p:cNvGrpSpPr/>
          <p:nvPr/>
        </p:nvGrpSpPr>
        <p:grpSpPr>
          <a:xfrm>
            <a:off x="432000" y="2184634"/>
            <a:ext cx="1932162" cy="2045147"/>
            <a:chOff x="432000" y="2370643"/>
            <a:chExt cx="1932162" cy="2045147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8724C2B-3C13-154F-2D8D-50B9A47AD1D0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FEF4F5"/>
                </a:gs>
              </a:gsLst>
              <a:lin ang="5400000" scaled="1"/>
            </a:gradFill>
            <a:ln w="635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7B0C8B0-93E9-EA21-93FB-7DE99344569C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1365103"/>
              <a:chOff x="578665" y="2526808"/>
              <a:chExt cx="1638832" cy="13651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19B449-6A22-BE2B-FBD8-ED11168CF006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10996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국내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인바운드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실증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C5769F-EF45-521F-F5CF-B03F59C9983F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611339" cy="8669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For Visitors 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방한 외국인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500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대상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①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Dessert Map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당일 픽업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오퍼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②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자국어 자연어 검색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③ </a:t>
                </a:r>
                <a:r>
                  <a:rPr kumimoji="0" lang="en-US" altLang="ko-KR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Alipay·WeChat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Pay·PayPay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간편결제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물류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 ·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현지법인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다국어 엔진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실증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축적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D93AFC-7885-529A-3F56-FC71A33B6502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51520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Pre-Phase</a:t>
                </a: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0FBC6AB3-C07B-A1E2-1AEB-0B48727C2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31522D3-3A27-448B-148F-9E427FC3A5D8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83F40C0-50EE-4748-1FEB-3E76C6119D38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EC657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E4E35A-87D0-C900-D11D-96C08F4BBA80}"/>
                  </a:ext>
                </a:extLst>
              </p:cNvPr>
              <p:cNvSpPr txBox="1"/>
              <p:nvPr/>
            </p:nvSpPr>
            <p:spPr>
              <a:xfrm>
                <a:off x="1223835" y="4069287"/>
                <a:ext cx="3484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자사 앱</a:t>
                </a:r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173BCF91-F45C-5F49-73E0-51C53A2C205B}"/>
              </a:ext>
            </a:extLst>
          </p:cNvPr>
          <p:cNvGrpSpPr/>
          <p:nvPr/>
        </p:nvGrpSpPr>
        <p:grpSpPr>
          <a:xfrm>
            <a:off x="2547946" y="2184634"/>
            <a:ext cx="1932162" cy="2045147"/>
            <a:chOff x="432000" y="2370643"/>
            <a:chExt cx="1932162" cy="2045147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85679B4-44D8-2C76-9726-DD72AE600D4C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5034F6A5-D697-4FD5-3E8E-2B1EE1D15CDF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1067586"/>
              <a:chOff x="578665" y="2526808"/>
              <a:chExt cx="1638832" cy="1067586"/>
            </a:xfrm>
          </p:grpSpPr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1F9A9CF-92C6-3D7E-63D1-EE9636D73BE3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135806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데이터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인텔리전스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수출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73BF9CB-61E6-F628-7882-C39819322E3D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600438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한국발 트렌드 신호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 등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한국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발원지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해외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K-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디저트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브랜드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수입상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카페체인에 리포트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현지화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물류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0,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최단 첫 매출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4FA31EA-3FC0-FB58-9BAB-6158FF58C859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4421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01</a:t>
                </a:r>
              </a:p>
            </p:txBody>
          </p:sp>
          <p:cxnSp>
            <p:nvCxnSpPr>
              <p:cNvPr id="159" name="직선 연결선 158">
                <a:extLst>
                  <a:ext uri="{FF2B5EF4-FFF2-40B4-BE49-F238E27FC236}">
                    <a16:creationId xmlns:a16="http://schemas.microsoft.com/office/drawing/2014/main" id="{3C3A9CCD-5AC5-A3B5-00D3-E9CDFE8577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1B2B33D4-7605-8271-CA1B-FC753D8DC94F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0AC1CBF-345A-0080-232F-E6B659B403BF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8FA1B3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52EAA5C-1A91-91D6-3363-6996A7317024}"/>
                  </a:ext>
                </a:extLst>
              </p:cNvPr>
              <p:cNvSpPr txBox="1"/>
              <p:nvPr/>
            </p:nvSpPr>
            <p:spPr>
              <a:xfrm>
                <a:off x="968508" y="4066955"/>
                <a:ext cx="859151" cy="1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리포트 구독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 API</a:t>
                </a:r>
              </a:p>
            </p:txBody>
          </p:sp>
        </p:grp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F33D2058-8F6B-AFF8-26D1-54F6E7199694}"/>
              </a:ext>
            </a:extLst>
          </p:cNvPr>
          <p:cNvGrpSpPr/>
          <p:nvPr/>
        </p:nvGrpSpPr>
        <p:grpSpPr>
          <a:xfrm>
            <a:off x="4663892" y="2184634"/>
            <a:ext cx="1932162" cy="2045147"/>
            <a:chOff x="432000" y="2370643"/>
            <a:chExt cx="1932162" cy="2045147"/>
          </a:xfrm>
        </p:grpSpPr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2150BA72-2E29-69E1-E62B-859585601F32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16F65570-9F96-E23A-6D33-C1BF2AA894FF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1067586"/>
              <a:chOff x="578665" y="2526808"/>
              <a:chExt cx="1638832" cy="1067586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1CA1EB3-CD3C-4DF6-B813-86E11210D79B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10525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엔진 현지화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SaaS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45DEDB3-9C06-4665-B7F2-331FBC6D2C49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483419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비치헤드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개국에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트렌드예측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엔진을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라이선스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/SaaS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현지 플랫폼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프랜차이즈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- For Visitors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질의 로그가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재학습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코퍼스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163A7E02-F23F-B1FD-C897-C9F51F296B3F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459741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02</a:t>
                </a:r>
              </a:p>
            </p:txBody>
          </p: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86CD3D35-C49C-E19E-B3A1-A7D5F1446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738BABD8-7E43-454C-2ED6-65141D3BE014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C214E02D-C5E0-986E-ED8C-43F2F2C14FAD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8FA1B3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49EA2C0C-CD08-2971-7745-557DF74A1BAA}"/>
                  </a:ext>
                </a:extLst>
              </p:cNvPr>
              <p:cNvSpPr txBox="1"/>
              <p:nvPr/>
            </p:nvSpPr>
            <p:spPr>
              <a:xfrm>
                <a:off x="989647" y="4066955"/>
                <a:ext cx="816870" cy="1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SaaS ·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라이선스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2134F16-8760-16AA-51CA-973659629CD6}"/>
              </a:ext>
            </a:extLst>
          </p:cNvPr>
          <p:cNvGrpSpPr/>
          <p:nvPr/>
        </p:nvGrpSpPr>
        <p:grpSpPr>
          <a:xfrm>
            <a:off x="6779838" y="2184634"/>
            <a:ext cx="1932162" cy="2045147"/>
            <a:chOff x="432000" y="2370643"/>
            <a:chExt cx="1932162" cy="2045147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D26D58DB-C691-22F6-ED24-9BFE7B671173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45FBE133-1FFF-1435-3794-CD445D893717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918827"/>
              <a:chOff x="578665" y="2526808"/>
              <a:chExt cx="1638832" cy="918827"/>
            </a:xfrm>
          </p:grpSpPr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10356C9C-41D3-F83A-56DD-D09ED204E654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93743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플랫폼 동반진출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FEA86E63-FEF1-FBA0-FAE6-AD4AAC8A6873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298432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K-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디저트 브랜드의 해외 발견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예약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역직구를 플랫폼으로 지원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콜라보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상품기획 포함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05C1E510-9DDA-3D79-7F16-B3A50DAE153D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46294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03</a:t>
                </a:r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C7C13E60-7276-2A1A-2089-CF170C5B8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24A2EC53-02BF-4911-2F32-DBA9AEC8EE64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A3C2E747-5514-5B02-FAD7-9EEC4D6B99EE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8FA1B3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1508CC5E-96E6-E303-4D38-13C432D1B3E4}"/>
                  </a:ext>
                </a:extLst>
              </p:cNvPr>
              <p:cNvSpPr txBox="1"/>
              <p:nvPr/>
            </p:nvSpPr>
            <p:spPr>
              <a:xfrm>
                <a:off x="1233089" y="4066955"/>
                <a:ext cx="329984" cy="1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플랫폼</a:t>
                </a:r>
              </a:p>
            </p:txBody>
          </p:sp>
        </p:grpSp>
      </p:grp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CAC249E-65E3-86CB-987B-9C4A6A04A609}"/>
              </a:ext>
            </a:extLst>
          </p:cNvPr>
          <p:cNvSpPr/>
          <p:nvPr/>
        </p:nvSpPr>
        <p:spPr>
          <a:xfrm>
            <a:off x="432000" y="4603864"/>
            <a:ext cx="4048108" cy="1440309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2289F022-A56B-CBDA-5410-759B90443517}"/>
              </a:ext>
            </a:extLst>
          </p:cNvPr>
          <p:cNvGraphicFramePr>
            <a:graphicFrameLocks noGrp="1"/>
          </p:cNvGraphicFramePr>
          <p:nvPr/>
        </p:nvGraphicFramePr>
        <p:xfrm>
          <a:off x="4663893" y="4603865"/>
          <a:ext cx="3963472" cy="1447208"/>
        </p:xfrm>
        <a:graphic>
          <a:graphicData uri="http://schemas.openxmlformats.org/drawingml/2006/table">
            <a:tbl>
              <a:tblPr/>
              <a:tblGrid>
                <a:gridCol w="62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시점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Pre-Phase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관광상권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참여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업체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30곳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외국인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MAU 500 ·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픽업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완료율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 70%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다국어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만족도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 4.0/5.0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1년 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일본 데이터 인텔리전스 리포트/API 파일럿 유료 고객 2~3곳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2년 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SaaS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라이선스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동남아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파일럿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고객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5곳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내외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3년 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SaaS·데이터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10~15%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고객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8곳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내외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7A9F7521-E2E5-645A-EC52-4F35E0E5E49E}"/>
              </a:ext>
            </a:extLst>
          </p:cNvPr>
          <p:cNvGrpSpPr/>
          <p:nvPr/>
        </p:nvGrpSpPr>
        <p:grpSpPr>
          <a:xfrm>
            <a:off x="4663893" y="4355684"/>
            <a:ext cx="930895" cy="187074"/>
            <a:chOff x="448028" y="1746916"/>
            <a:chExt cx="930895" cy="187074"/>
          </a:xfrm>
        </p:grpSpPr>
        <p:pic>
          <p:nvPicPr>
            <p:cNvPr id="192" name="Picture 2" descr="딸기로픽">
              <a:extLst>
                <a:ext uri="{FF2B5EF4-FFF2-40B4-BE49-F238E27FC236}">
                  <a16:creationId xmlns:a16="http://schemas.microsoft.com/office/drawing/2014/main" id="{47E74546-5315-C775-156E-0D53F729FC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CC98F05-0D24-1478-B451-D0EE5130788B}"/>
                </a:ext>
              </a:extLst>
            </p:cNvPr>
            <p:cNvSpPr txBox="1"/>
            <p:nvPr/>
          </p:nvSpPr>
          <p:spPr>
            <a:xfrm>
              <a:off x="739004" y="1748120"/>
              <a:ext cx="63991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글로벌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KPI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1702DF5C-BD7C-F99F-03DE-B076058E3100}"/>
              </a:ext>
            </a:extLst>
          </p:cNvPr>
          <p:cNvGrpSpPr/>
          <p:nvPr/>
        </p:nvGrpSpPr>
        <p:grpSpPr>
          <a:xfrm>
            <a:off x="432000" y="4355684"/>
            <a:ext cx="1940787" cy="187074"/>
            <a:chOff x="448028" y="1746916"/>
            <a:chExt cx="1940787" cy="187074"/>
          </a:xfrm>
        </p:grpSpPr>
        <p:pic>
          <p:nvPicPr>
            <p:cNvPr id="195" name="Picture 2" descr="딸기로픽">
              <a:extLst>
                <a:ext uri="{FF2B5EF4-FFF2-40B4-BE49-F238E27FC236}">
                  <a16:creationId xmlns:a16="http://schemas.microsoft.com/office/drawing/2014/main" id="{53F5CC26-6C00-5FE0-4079-EE4A5992D6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30ACC86F-B0C5-0ECA-4C57-4A5A2289B9D7}"/>
                </a:ext>
              </a:extLst>
            </p:cNvPr>
            <p:cNvSpPr txBox="1"/>
            <p:nvPr/>
          </p:nvSpPr>
          <p:spPr>
            <a:xfrm>
              <a:off x="739004" y="1748120"/>
              <a:ext cx="16498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진입 우선순위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성공 확률 순</a:t>
              </a: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3D0AE0CD-9545-C881-02A0-8E3BAD275B6F}"/>
              </a:ext>
            </a:extLst>
          </p:cNvPr>
          <p:cNvGrpSpPr/>
          <p:nvPr/>
        </p:nvGrpSpPr>
        <p:grpSpPr>
          <a:xfrm>
            <a:off x="578665" y="4748295"/>
            <a:ext cx="3754778" cy="1151446"/>
            <a:chOff x="578665" y="4875565"/>
            <a:chExt cx="3754778" cy="1151446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BFE22BE1-D262-B0C5-5B05-7B6BB1200829}"/>
                </a:ext>
              </a:extLst>
            </p:cNvPr>
            <p:cNvSpPr txBox="1"/>
            <p:nvPr/>
          </p:nvSpPr>
          <p:spPr>
            <a:xfrm>
              <a:off x="578665" y="4875565"/>
              <a:ext cx="3063659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① 일본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거대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고단가 디저트 시장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K-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인기 최상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시차 인접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 동조성 높아 한국발 신호 적중률↑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C426B95C-5192-0BA2-9CCD-37771E0DDEDB}"/>
                </a:ext>
              </a:extLst>
            </p:cNvPr>
            <p:cNvSpPr txBox="1"/>
            <p:nvPr/>
          </p:nvSpPr>
          <p:spPr>
            <a:xfrm>
              <a:off x="578665" y="5299964"/>
              <a:ext cx="2846613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② 동남아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싱가포르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베트남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인니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K-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컬처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친화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카페 급성장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경쟁 저밀도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접근 용이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0214E417-50A1-FCD6-75DF-BB06FC26E24E}"/>
                </a:ext>
              </a:extLst>
            </p:cNvPr>
            <p:cNvSpPr txBox="1"/>
            <p:nvPr/>
          </p:nvSpPr>
          <p:spPr>
            <a:xfrm>
              <a:off x="578665" y="5724364"/>
              <a:ext cx="2555187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③ 미국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시장 최대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객단가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높음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단 경쟁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현지화 난도 최상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일본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동남아 검증 후 진입</a:t>
              </a:r>
            </a:p>
          </p:txBody>
        </p: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E8DC4B6C-6A86-3FFB-8AF9-DC05D8C43423}"/>
                </a:ext>
              </a:extLst>
            </p:cNvPr>
            <p:cNvCxnSpPr>
              <a:cxnSpLocks/>
            </p:cNvCxnSpPr>
            <p:nvPr/>
          </p:nvCxnSpPr>
          <p:spPr>
            <a:xfrm>
              <a:off x="578665" y="5239088"/>
              <a:ext cx="3754778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BBD41D0B-B9A0-5E64-43C0-946E9A1C1460}"/>
                </a:ext>
              </a:extLst>
            </p:cNvPr>
            <p:cNvCxnSpPr>
              <a:cxnSpLocks/>
            </p:cNvCxnSpPr>
            <p:nvPr/>
          </p:nvCxnSpPr>
          <p:spPr>
            <a:xfrm>
              <a:off x="578665" y="5663487"/>
              <a:ext cx="3754778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5E970C12-FD11-9DF7-1C99-2CC0D22E03AA}"/>
              </a:ext>
            </a:extLst>
          </p:cNvPr>
          <p:cNvSpPr txBox="1"/>
          <p:nvPr/>
        </p:nvSpPr>
        <p:spPr>
          <a:xfrm>
            <a:off x="432000" y="6113283"/>
            <a:ext cx="376224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파트너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채널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SaaS/API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라이선스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 물류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X) +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운영사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네트워크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KOTRA ·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현지 액셀러레이터 제휴</a:t>
            </a:r>
          </a:p>
        </p:txBody>
      </p:sp>
      <p:sp>
        <p:nvSpPr>
          <p:cNvPr id="207" name="화살표: 아래쪽 206">
            <a:extLst>
              <a:ext uri="{FF2B5EF4-FFF2-40B4-BE49-F238E27FC236}">
                <a16:creationId xmlns:a16="http://schemas.microsoft.com/office/drawing/2014/main" id="{C04290CC-C7A9-5CEE-0DCF-45B91067029D}"/>
              </a:ext>
            </a:extLst>
          </p:cNvPr>
          <p:cNvSpPr/>
          <p:nvPr/>
        </p:nvSpPr>
        <p:spPr>
          <a:xfrm rot="16200000">
            <a:off x="2373452" y="3084612"/>
            <a:ext cx="226611" cy="245190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화살표: 아래쪽 207">
            <a:extLst>
              <a:ext uri="{FF2B5EF4-FFF2-40B4-BE49-F238E27FC236}">
                <a16:creationId xmlns:a16="http://schemas.microsoft.com/office/drawing/2014/main" id="{4C853EC4-84CB-F37E-9AB1-BB39CE406C49}"/>
              </a:ext>
            </a:extLst>
          </p:cNvPr>
          <p:cNvSpPr/>
          <p:nvPr/>
        </p:nvSpPr>
        <p:spPr>
          <a:xfrm rot="16200000">
            <a:off x="4488123" y="3084613"/>
            <a:ext cx="226611" cy="245190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9" name="화살표: 아래쪽 208">
            <a:extLst>
              <a:ext uri="{FF2B5EF4-FFF2-40B4-BE49-F238E27FC236}">
                <a16:creationId xmlns:a16="http://schemas.microsoft.com/office/drawing/2014/main" id="{03DDED89-C062-E055-E5EB-F553A28E95AB}"/>
              </a:ext>
            </a:extLst>
          </p:cNvPr>
          <p:cNvSpPr/>
          <p:nvPr/>
        </p:nvSpPr>
        <p:spPr>
          <a:xfrm rot="16200000">
            <a:off x="6602794" y="3084614"/>
            <a:ext cx="226611" cy="245190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857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5AD7-7C73-A112-9F9B-69A2A66E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7D82253-A404-7335-DC59-48D4E2A59FC4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0A994CB-93AB-E4A5-FF01-45DB2000B74A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CAF6B2F-D81F-0CA6-F424-97DBC6AE4FCB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20E13E0B-8A11-6FEE-C08B-1329725BFB1C}"/>
                </a:ext>
              </a:extLst>
            </p:cNvPr>
            <p:cNvGrpSpPr/>
            <p:nvPr/>
          </p:nvGrpSpPr>
          <p:grpSpPr>
            <a:xfrm>
              <a:off x="404618" y="922962"/>
              <a:ext cx="8026877" cy="523558"/>
              <a:chOff x="404618" y="928733"/>
              <a:chExt cx="8026877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C9B11A-C93F-1B96-720F-C7FE67D3B01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0268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사내벤처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호 출신의 검증된 테스트베드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개사 파이프라인 위에서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TIPS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실증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확산 전주기의 성장 엔진이 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46CBDF6-0BDF-1B38-7BFF-1A2AE2F3A9A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909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확보된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파이프라인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검증된 성장 경로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운영사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전방위 지원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×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자금 연속성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25E129D2-9307-F098-CD52-2E1D45266D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253D06-EE92-24A1-339B-12212A5F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7B9E6-7ECF-5A62-03F0-7DF412997B8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운영사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지원계획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AF946C07-5981-A237-16E4-841F45B75BC1}"/>
              </a:ext>
            </a:extLst>
          </p:cNvPr>
          <p:cNvGrpSpPr/>
          <p:nvPr/>
        </p:nvGrpSpPr>
        <p:grpSpPr>
          <a:xfrm>
            <a:off x="431999" y="2297751"/>
            <a:ext cx="8280001" cy="2243746"/>
            <a:chOff x="431999" y="2266001"/>
            <a:chExt cx="8280001" cy="2243746"/>
          </a:xfrm>
        </p:grpSpPr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0B814934-32FB-C7C0-54F2-3C481C2375DC}"/>
                </a:ext>
              </a:extLst>
            </p:cNvPr>
            <p:cNvSpPr/>
            <p:nvPr/>
          </p:nvSpPr>
          <p:spPr>
            <a:xfrm>
              <a:off x="6061435" y="2266002"/>
              <a:ext cx="2650565" cy="22437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3EAF552A-5181-FA44-3993-3C2132E0B62A}"/>
                </a:ext>
              </a:extLst>
            </p:cNvPr>
            <p:cNvGrpSpPr/>
            <p:nvPr/>
          </p:nvGrpSpPr>
          <p:grpSpPr>
            <a:xfrm>
              <a:off x="431999" y="2266001"/>
              <a:ext cx="2650565" cy="2243743"/>
              <a:chOff x="431999" y="2396629"/>
              <a:chExt cx="2777925" cy="2243743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D79AD1E-487D-610A-42F9-80518483DF79}"/>
                  </a:ext>
                </a:extLst>
              </p:cNvPr>
              <p:cNvSpPr/>
              <p:nvPr/>
            </p:nvSpPr>
            <p:spPr>
              <a:xfrm>
                <a:off x="431999" y="2396630"/>
                <a:ext cx="2777925" cy="224374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0EA9737B-0C83-5A60-2969-0FBC7F290725}"/>
                  </a:ext>
                </a:extLst>
              </p:cNvPr>
              <p:cNvGrpSpPr/>
              <p:nvPr/>
            </p:nvGrpSpPr>
            <p:grpSpPr>
              <a:xfrm>
                <a:off x="637045" y="2841617"/>
                <a:ext cx="1764029" cy="283155"/>
                <a:chOff x="6416895" y="3294906"/>
                <a:chExt cx="1764029" cy="283155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1B4B9FC-DC69-A531-FB1F-82A4C6872A18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60240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Seed 3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억원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2D63488-620E-18BF-D25E-A5E4CFB6D893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764029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Post-Value 20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억 책정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</a:t>
                  </a:r>
                  <a:r>
                    <a:rPr lang="ko-KR" altLang="en-US" sz="800" spc="-30" err="1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운영사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선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先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투자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2CEBC6A0-E396-0B50-952E-3BE2F0158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045" y="3208792"/>
                <a:ext cx="2367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BF1730AA-8280-9AFD-3AF3-98D776725974}"/>
                  </a:ext>
                </a:extLst>
              </p:cNvPr>
              <p:cNvGrpSpPr/>
              <p:nvPr/>
            </p:nvGrpSpPr>
            <p:grpSpPr>
              <a:xfrm>
                <a:off x="637045" y="3292812"/>
                <a:ext cx="1182739" cy="283155"/>
                <a:chOff x="6416895" y="3294906"/>
                <a:chExt cx="1182739" cy="283155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A215B64-37AB-FB4B-8C2A-FADE208DAB64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83329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신보 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R&amp;D 3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억원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E17602A-14D4-229B-EE4A-DE25A658D3D3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182739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2025.12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유치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이미 투입 중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54B8A81C-0FAF-4AB2-B324-6D3F7E3A7C6D}"/>
                  </a:ext>
                </a:extLst>
              </p:cNvPr>
              <p:cNvGrpSpPr/>
              <p:nvPr/>
            </p:nvGrpSpPr>
            <p:grpSpPr>
              <a:xfrm>
                <a:off x="637045" y="3744007"/>
                <a:ext cx="1834926" cy="283155"/>
                <a:chOff x="6416895" y="3294906"/>
                <a:chExt cx="1834926" cy="283155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C5B5ED-0AD6-8EAD-829D-79A99BB4ADA9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1081938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TIPS 8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억원 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본 과제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C20AC21-BBEB-97A4-11B8-5CE7149E9BD7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8349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일반트랙 정부지원 한도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AI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엔진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플랫폼 구축</a:t>
                  </a: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0BCA6C4D-FDD9-F055-4523-AD84E35ED21E}"/>
                  </a:ext>
                </a:extLst>
              </p:cNvPr>
              <p:cNvGrpSpPr/>
              <p:nvPr/>
            </p:nvGrpSpPr>
            <p:grpSpPr>
              <a:xfrm>
                <a:off x="637045" y="4195204"/>
                <a:ext cx="1660539" cy="283155"/>
                <a:chOff x="6416895" y="3294906"/>
                <a:chExt cx="1660539" cy="283155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6345646-8208-588C-2E2E-0C2D169E97DB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101977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Pre-A (2026 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계획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B49255A-B29E-C3A8-A6BD-AFDFEF2E4733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660539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외국계 투자자 접촉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후속 투자 의지 확보</a:t>
                  </a:r>
                </a:p>
              </p:txBody>
            </p:sp>
          </p:grp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85A98689-8DA6-B212-28B1-C1A88208AD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045" y="3659987"/>
                <a:ext cx="2367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C144F8FA-D7E9-F992-E7DC-B85F564FEE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045" y="4111182"/>
                <a:ext cx="2367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8D876C6E-DB1D-84D0-07EB-6ED347511091}"/>
                  </a:ext>
                </a:extLst>
              </p:cNvPr>
              <p:cNvGrpSpPr/>
              <p:nvPr/>
            </p:nvGrpSpPr>
            <p:grpSpPr>
              <a:xfrm>
                <a:off x="431999" y="2396629"/>
                <a:ext cx="2777925" cy="324000"/>
                <a:chOff x="431999" y="3408434"/>
                <a:chExt cx="2777925" cy="289975"/>
              </a:xfrm>
            </p:grpSpPr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7A22C317-549A-9EB5-0305-82D9FC0423B8}"/>
                    </a:ext>
                  </a:extLst>
                </p:cNvPr>
                <p:cNvSpPr/>
                <p:nvPr/>
              </p:nvSpPr>
              <p:spPr>
                <a:xfrm>
                  <a:off x="431999" y="3408434"/>
                  <a:ext cx="2777925" cy="289975"/>
                </a:xfrm>
                <a:prstGeom prst="rect">
                  <a:avLst/>
                </a:prstGeom>
                <a:solidFill>
                  <a:srgbClr val="232323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FE8E7B-8B3C-1037-2422-4EA6693826EA}"/>
                    </a:ext>
                  </a:extLst>
                </p:cNvPr>
                <p:cNvSpPr txBox="1"/>
                <p:nvPr/>
              </p:nvSpPr>
              <p:spPr>
                <a:xfrm>
                  <a:off x="883339" y="3470785"/>
                  <a:ext cx="1875247" cy="1652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자금 연속성 </a:t>
                  </a:r>
                  <a:r>
                    <a:rPr kumimoji="0" lang="en-US" altLang="ko-KR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(Funding Stack)</a:t>
                  </a:r>
                </a:p>
              </p:txBody>
            </p:sp>
          </p:grpSp>
        </p:grp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A52A1DD4-7ECA-C3EC-0709-93DBF1EC46F6}"/>
                </a:ext>
              </a:extLst>
            </p:cNvPr>
            <p:cNvSpPr/>
            <p:nvPr/>
          </p:nvSpPr>
          <p:spPr>
            <a:xfrm>
              <a:off x="3246718" y="2266002"/>
              <a:ext cx="2650565" cy="22437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D03709CE-E73F-B709-5255-CD783136709F}"/>
                </a:ext>
              </a:extLst>
            </p:cNvPr>
            <p:cNvGrpSpPr/>
            <p:nvPr/>
          </p:nvGrpSpPr>
          <p:grpSpPr>
            <a:xfrm>
              <a:off x="3246718" y="2266001"/>
              <a:ext cx="2650565" cy="324000"/>
              <a:chOff x="431999" y="3408434"/>
              <a:chExt cx="2777925" cy="289975"/>
            </a:xfrm>
          </p:grpSpPr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8F32B655-23E2-6085-9B9A-6F03FA25ACC0}"/>
                  </a:ext>
                </a:extLst>
              </p:cNvPr>
              <p:cNvSpPr/>
              <p:nvPr/>
            </p:nvSpPr>
            <p:spPr>
              <a:xfrm>
                <a:off x="431999" y="3408434"/>
                <a:ext cx="2777925" cy="289975"/>
              </a:xfrm>
              <a:prstGeom prst="rect">
                <a:avLst/>
              </a:prstGeom>
              <a:solidFill>
                <a:srgbClr val="232323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131C00A-FE41-E00C-873B-53F24017DE06}"/>
                  </a:ext>
                </a:extLst>
              </p:cNvPr>
              <p:cNvSpPr txBox="1"/>
              <p:nvPr/>
            </p:nvSpPr>
            <p:spPr>
              <a:xfrm>
                <a:off x="1319977" y="3470786"/>
                <a:ext cx="1001968" cy="1652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파이프라인</a:t>
                </a:r>
              </a:p>
            </p:txBody>
          </p:sp>
        </p:grp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56382497-287B-FD86-310F-F642B3EAE1FD}"/>
                </a:ext>
              </a:extLst>
            </p:cNvPr>
            <p:cNvGrpSpPr/>
            <p:nvPr/>
          </p:nvGrpSpPr>
          <p:grpSpPr>
            <a:xfrm>
              <a:off x="6061435" y="2266001"/>
              <a:ext cx="2650565" cy="324000"/>
              <a:chOff x="431999" y="3408434"/>
              <a:chExt cx="2777925" cy="289975"/>
            </a:xfrm>
          </p:grpSpPr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36DF32AE-9F91-B02D-EBE9-23434E312E8B}"/>
                  </a:ext>
                </a:extLst>
              </p:cNvPr>
              <p:cNvSpPr/>
              <p:nvPr/>
            </p:nvSpPr>
            <p:spPr>
              <a:xfrm>
                <a:off x="431999" y="3408434"/>
                <a:ext cx="2777925" cy="289975"/>
              </a:xfrm>
              <a:prstGeom prst="rect">
                <a:avLst/>
              </a:prstGeom>
              <a:solidFill>
                <a:srgbClr val="232323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0582408-2FB1-5566-F225-0E9011DB9D58}"/>
                  </a:ext>
                </a:extLst>
              </p:cNvPr>
              <p:cNvSpPr txBox="1"/>
              <p:nvPr/>
            </p:nvSpPr>
            <p:spPr>
              <a:xfrm>
                <a:off x="1063269" y="3470785"/>
                <a:ext cx="1515386" cy="1652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TIPS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운영사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전방위 지원</a:t>
                </a:r>
              </a:p>
            </p:txBody>
          </p:sp>
        </p:grp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D19269BB-457F-9D45-F95A-E60BA20C54C7}"/>
                </a:ext>
              </a:extLst>
            </p:cNvPr>
            <p:cNvGrpSpPr/>
            <p:nvPr/>
          </p:nvGrpSpPr>
          <p:grpSpPr>
            <a:xfrm>
              <a:off x="6257080" y="2744800"/>
              <a:ext cx="2259274" cy="1051185"/>
              <a:chOff x="6257080" y="2718683"/>
              <a:chExt cx="2259274" cy="1122301"/>
            </a:xfrm>
          </p:grpSpPr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025E129D-0A6A-0488-FB87-D71C24B4287F}"/>
                  </a:ext>
                </a:extLst>
              </p:cNvPr>
              <p:cNvSpPr txBox="1"/>
              <p:nvPr/>
            </p:nvSpPr>
            <p:spPr>
              <a:xfrm>
                <a:off x="6257080" y="2718683"/>
                <a:ext cx="175753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자금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정부과제 컨설팅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후속 투자 의지</a:t>
                </a:r>
              </a:p>
            </p:txBody>
          </p:sp>
          <p:cxnSp>
            <p:nvCxnSpPr>
              <p:cNvPr id="226" name="직선 연결선 225">
                <a:extLst>
                  <a:ext uri="{FF2B5EF4-FFF2-40B4-BE49-F238E27FC236}">
                    <a16:creationId xmlns:a16="http://schemas.microsoft.com/office/drawing/2014/main" id="{E40B98DF-833D-99C1-0E1F-6E943BE4FC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080" y="2951900"/>
                <a:ext cx="2259274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C9CADDE-27E8-E8F3-B745-49BF095C38ED}"/>
                  </a:ext>
                </a:extLst>
              </p:cNvPr>
              <p:cNvSpPr txBox="1"/>
              <p:nvPr/>
            </p:nvSpPr>
            <p:spPr>
              <a:xfrm>
                <a:off x="6257080" y="3046617"/>
                <a:ext cx="166199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인력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인재 채용 지원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전문가 멘토링</a:t>
                </a:r>
              </a:p>
            </p:txBody>
          </p: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D6457052-7FBD-E79F-2A2F-91A16F6EED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080" y="3279834"/>
                <a:ext cx="2259274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BFBEBED-67A3-29F3-8975-690BF6B1D087}"/>
                  </a:ext>
                </a:extLst>
              </p:cNvPr>
              <p:cNvSpPr txBox="1"/>
              <p:nvPr/>
            </p:nvSpPr>
            <p:spPr>
              <a:xfrm>
                <a:off x="6257080" y="3374551"/>
                <a:ext cx="16879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법무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법률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/IP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보안 전문가 연계</a:t>
                </a:r>
              </a:p>
            </p:txBody>
          </p:sp>
          <p:cxnSp>
            <p:nvCxnSpPr>
              <p:cNvPr id="246" name="직선 연결선 245">
                <a:extLst>
                  <a:ext uri="{FF2B5EF4-FFF2-40B4-BE49-F238E27FC236}">
                    <a16:creationId xmlns:a16="http://schemas.microsoft.com/office/drawing/2014/main" id="{F55659FB-AEE3-138B-ADB7-FC4E00B3C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080" y="3607768"/>
                <a:ext cx="2259274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BF320AAE-7256-99EC-75AE-3179BF3DA618}"/>
                  </a:ext>
                </a:extLst>
              </p:cNvPr>
              <p:cNvSpPr txBox="1"/>
              <p:nvPr/>
            </p:nvSpPr>
            <p:spPr>
              <a:xfrm>
                <a:off x="6257080" y="3702485"/>
                <a:ext cx="163859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해외진출 정보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네트워크 연결</a:t>
                </a:r>
              </a:p>
            </p:txBody>
          </p:sp>
        </p:grp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D5E344A6-000B-1D3C-6211-46B9833A770D}"/>
                </a:ext>
              </a:extLst>
            </p:cNvPr>
            <p:cNvGrpSpPr/>
            <p:nvPr/>
          </p:nvGrpSpPr>
          <p:grpSpPr>
            <a:xfrm>
              <a:off x="6061435" y="3917159"/>
              <a:ext cx="2650565" cy="592588"/>
              <a:chOff x="6061435" y="3916414"/>
              <a:chExt cx="2650565" cy="571255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ABC66E05-69A3-194D-F3EE-08635DA9004B}"/>
                  </a:ext>
                </a:extLst>
              </p:cNvPr>
              <p:cNvSpPr/>
              <p:nvPr/>
            </p:nvSpPr>
            <p:spPr>
              <a:xfrm>
                <a:off x="6061435" y="3916414"/>
                <a:ext cx="2650565" cy="571255"/>
              </a:xfrm>
              <a:prstGeom prst="rect">
                <a:avLst/>
              </a:prstGeom>
              <a:solidFill>
                <a:srgbClr val="EC6570">
                  <a:alpha val="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57FB0D3-FC16-86CF-8E71-6E0627EAC843}"/>
                  </a:ext>
                </a:extLst>
              </p:cNvPr>
              <p:cNvSpPr txBox="1"/>
              <p:nvPr/>
            </p:nvSpPr>
            <p:spPr>
              <a:xfrm>
                <a:off x="6494966" y="4035329"/>
                <a:ext cx="1783502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실증 → 검증 → 확산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전주기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지원체계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VC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후속투자로 자금 연속성 확보</a:t>
                </a:r>
              </a:p>
            </p:txBody>
          </p:sp>
        </p:grp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6C6969D7-7D7E-B28E-933D-FDE277FBD496}"/>
                </a:ext>
              </a:extLst>
            </p:cNvPr>
            <p:cNvSpPr/>
            <p:nvPr/>
          </p:nvSpPr>
          <p:spPr>
            <a:xfrm>
              <a:off x="3347801" y="2717825"/>
              <a:ext cx="965347" cy="63056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554FBC55-7133-89F4-AC94-7A96C396018C}"/>
                </a:ext>
              </a:extLst>
            </p:cNvPr>
            <p:cNvGrpSpPr/>
            <p:nvPr/>
          </p:nvGrpSpPr>
          <p:grpSpPr>
            <a:xfrm>
              <a:off x="4412893" y="2731245"/>
              <a:ext cx="1283044" cy="603726"/>
              <a:chOff x="4493453" y="2868869"/>
              <a:chExt cx="1283044" cy="603726"/>
            </a:xfrm>
          </p:grpSpPr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2BD69C77-3C52-AFAF-26E0-E761AC94315A}"/>
                  </a:ext>
                </a:extLst>
              </p:cNvPr>
              <p:cNvSpPr txBox="1"/>
              <p:nvPr/>
            </p:nvSpPr>
            <p:spPr>
              <a:xfrm>
                <a:off x="4493453" y="2868869"/>
                <a:ext cx="102977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교보생명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사내벤처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호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9BDF19BC-2A8F-6780-0C85-BB17679EF286}"/>
                  </a:ext>
                </a:extLst>
              </p:cNvPr>
              <p:cNvSpPr txBox="1"/>
              <p:nvPr/>
            </p:nvSpPr>
            <p:spPr>
              <a:xfrm>
                <a:off x="4493453" y="3051967"/>
                <a:ext cx="1283044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B2B/B2B2C 실증 채널 제공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임직원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간식데이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VIP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선물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영업현장 전용 단체주문 페이지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지점·설계사 활동용품 수요 검증 + R&amp;D 학습데이터 확보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32E6226-2CB3-BCBF-CA70-89260F248EB4}"/>
                </a:ext>
              </a:extLst>
            </p:cNvPr>
            <p:cNvSpPr txBox="1"/>
            <p:nvPr/>
          </p:nvSpPr>
          <p:spPr>
            <a:xfrm>
              <a:off x="4266308" y="3520674"/>
              <a:ext cx="61138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50</a:t>
              </a: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개사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C3DDDDA8-CAE8-1A92-2CFD-8CC98DD4C853}"/>
                </a:ext>
              </a:extLst>
            </p:cNvPr>
            <p:cNvSpPr txBox="1"/>
            <p:nvPr/>
          </p:nvSpPr>
          <p:spPr>
            <a:xfrm>
              <a:off x="3494141" y="3800362"/>
              <a:ext cx="215571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POC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파일럿 완료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MOU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체결 진행 중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F29F9F4F-E442-10FC-FC0A-108FDCEEF5A6}"/>
                </a:ext>
              </a:extLst>
            </p:cNvPr>
            <p:cNvSpPr txBox="1"/>
            <p:nvPr/>
          </p:nvSpPr>
          <p:spPr>
            <a:xfrm>
              <a:off x="3530529" y="3993978"/>
              <a:ext cx="2082942" cy="39498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확산 전략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교두보 → 타 대기업 확산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대형 </a:t>
              </a:r>
              <a:r>
                <a:rPr kumimoji="0" lang="ko-KR" altLang="en-US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유통사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예약판매 채널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·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물류 협력사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배송 인프라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IT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플랫폼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임직원 복지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제휴</a:t>
              </a:r>
            </a:p>
          </p:txBody>
        </p: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16674A3F-B4A9-0505-BBA6-8B7E558BF32F}"/>
                </a:ext>
              </a:extLst>
            </p:cNvPr>
            <p:cNvCxnSpPr>
              <a:cxnSpLocks/>
            </p:cNvCxnSpPr>
            <p:nvPr/>
          </p:nvCxnSpPr>
          <p:spPr>
            <a:xfrm>
              <a:off x="3442363" y="3432795"/>
              <a:ext cx="2259274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67" name="그림 266">
              <a:extLst>
                <a:ext uri="{FF2B5EF4-FFF2-40B4-BE49-F238E27FC236}">
                  <a16:creationId xmlns:a16="http://schemas.microsoft.com/office/drawing/2014/main" id="{2B205D6D-CB2A-AF44-8894-F693700C4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4398" y="2906094"/>
              <a:ext cx="512153" cy="254028"/>
            </a:xfrm>
            <a:prstGeom prst="rect">
              <a:avLst/>
            </a:prstGeom>
          </p:spPr>
        </p:pic>
      </p:grp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0A2CED73-92B0-E8E6-A542-0E794CC03241}"/>
              </a:ext>
            </a:extLst>
          </p:cNvPr>
          <p:cNvGrpSpPr/>
          <p:nvPr/>
        </p:nvGrpSpPr>
        <p:grpSpPr>
          <a:xfrm>
            <a:off x="0" y="4790776"/>
            <a:ext cx="9144000" cy="1355571"/>
            <a:chOff x="0" y="4820576"/>
            <a:chExt cx="9144000" cy="135557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C8950CC-3004-1CDC-A0DD-B197B83E9349}"/>
                </a:ext>
              </a:extLst>
            </p:cNvPr>
            <p:cNvSpPr/>
            <p:nvPr/>
          </p:nvSpPr>
          <p:spPr>
            <a:xfrm>
              <a:off x="0" y="4820576"/>
              <a:ext cx="9144000" cy="1355571"/>
            </a:xfrm>
            <a:prstGeom prst="rect">
              <a:avLst/>
            </a:prstGeom>
            <a:solidFill>
              <a:srgbClr val="8FA1B3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37B9B118-E70B-087F-A585-CD39753E591A}"/>
                </a:ext>
              </a:extLst>
            </p:cNvPr>
            <p:cNvGrpSpPr/>
            <p:nvPr/>
          </p:nvGrpSpPr>
          <p:grpSpPr>
            <a:xfrm>
              <a:off x="453669" y="5062324"/>
              <a:ext cx="7388882" cy="872075"/>
              <a:chOff x="453669" y="5098843"/>
              <a:chExt cx="7388882" cy="872075"/>
            </a:xfrm>
          </p:grpSpPr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00B80DD2-C637-B58F-052B-0FC244773546}"/>
                  </a:ext>
                </a:extLst>
              </p:cNvPr>
              <p:cNvSpPr txBox="1"/>
              <p:nvPr/>
            </p:nvSpPr>
            <p:spPr>
              <a:xfrm>
                <a:off x="453669" y="5098843"/>
                <a:ext cx="407387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재원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과제 정합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검증된 유닛 이코노믹스 위의 스케일업 투자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685FCBCA-8FD1-6B54-3CF8-D2FF7A4B1E66}"/>
                  </a:ext>
                </a:extLst>
              </p:cNvPr>
              <p:cNvSpPr txBox="1"/>
              <p:nvPr/>
            </p:nvSpPr>
            <p:spPr>
              <a:xfrm>
                <a:off x="453669" y="5432309"/>
                <a:ext cx="7388882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LTV/CAC 6.7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합격선의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+)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자금을 태워도 회수된다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재무적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안전마진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신보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억은 검증 모델의 지속 투입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TIPS 8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억은 매출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거래액을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퀀텀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점프시키는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성장 엔진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자체 플랫폼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+ AI)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구축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사용됩니다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 8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예산의 최대 비중은 연구개발 인건비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(AI/ML·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플랫폼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인프라는 월 수십만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~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수백만원 수준의 소액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배치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캐싱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티어링으로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상한 관리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개발도구는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Claude Code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정액 구독으로 예측 가능화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5071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6CDD-1272-FC54-89F8-0C1A04A0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9E091E4-EE5A-9B05-3D3B-466E5C37B60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A7044A9-0500-9F21-1805-08FFABDB52B7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72F3AED-CF3A-A0DB-2523-9EC418383270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05B89E8-19FF-B82E-9384-C7FDC979A854}"/>
                </a:ext>
              </a:extLst>
            </p:cNvPr>
            <p:cNvGrpSpPr/>
            <p:nvPr/>
          </p:nvGrpSpPr>
          <p:grpSpPr>
            <a:xfrm>
              <a:off x="404618" y="922962"/>
              <a:ext cx="8264122" cy="523558"/>
              <a:chOff x="404618" y="928733"/>
              <a:chExt cx="826412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610A4F-19DF-78CD-1842-B67A21A50E02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26412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8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몇 명의 연구인력을 몇 년 투입하느냐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예산입니다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인프라는 월 수십만원 수준의 소액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규정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국가연구개발비 사용 기준 준수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8C6E2DD-A3BA-1EEF-8D42-0BA20F1DD108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1144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인건비 중심의 정직한 예산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총 연구개발비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10.7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구조와 비목별 배분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통제 장치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AEFCCE0-4A09-D972-5A5E-BC1386D133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803D11-7CB6-905F-2769-E2AB4912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D08F06-1E4E-7419-2A63-6386372F4AB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연구개발비 사용계획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(Budget)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32E05531-81E3-3547-8486-17EBFF5F7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00236"/>
              </p:ext>
            </p:extLst>
          </p:nvPr>
        </p:nvGraphicFramePr>
        <p:xfrm>
          <a:off x="432000" y="3056704"/>
          <a:ext cx="8280000" cy="1617831"/>
        </p:xfrm>
        <a:graphic>
          <a:graphicData uri="http://schemas.openxmlformats.org/drawingml/2006/table">
            <a:tbl>
              <a:tblPr/>
              <a:tblGrid>
                <a:gridCol w="189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8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5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비목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정부지원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8억 </a:t>
                      </a: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기준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배분</a:t>
                      </a:r>
                      <a:endParaRPr lang="en-US" sz="900" b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금액</a:t>
                      </a:r>
                      <a:endParaRPr lang="en-US" sz="900" b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내역</a:t>
                      </a:r>
                      <a:endParaRPr lang="en-US" sz="900" b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직접비 - 인건비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60%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4.8억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AI/ML·데이터·백엔드 연구인력 8명+ (석사급 우선, 청년 의무채용 2명·계상률 100%·1년 유지) — 세부 업무 : B2B 수요 데이터 파운데이션 · 공급자 제약 DB · 단체주문 매칭 알고리즘 · 제안 콘텐츠 자동화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직접비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연구활동비</a:t>
                      </a:r>
                      <a:endParaRPr lang="en-US" sz="9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18%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1.44억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외부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전문기술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활용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(AI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자문·법무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/IP) ·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클라우드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/LLM API(월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상한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·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데이터·공공API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특허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출원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등록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학회</a:t>
                      </a:r>
                      <a:endParaRPr lang="en-US" sz="9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직접비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연구시설·장비·재료</a:t>
                      </a:r>
                      <a:endParaRPr lang="en-US" sz="9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0.56억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GPU/서버 인프라 · 개발장비 · SW/개발도구 정액(Claude Code $200/월/인)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연구수당</a:t>
                      </a:r>
                      <a:endParaRPr lang="en-US" sz="9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0.4억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참여연구원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성과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인센티브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직무발명보상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연계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간접비</a:t>
                      </a:r>
                      <a:endParaRPr lang="en-US" sz="9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0.8억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기관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공통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지원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경비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규정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요율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내)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C3978B10-00AB-E20C-F29E-A891F3D407C4}"/>
              </a:ext>
            </a:extLst>
          </p:cNvPr>
          <p:cNvGrpSpPr/>
          <p:nvPr/>
        </p:nvGrpSpPr>
        <p:grpSpPr>
          <a:xfrm>
            <a:off x="432000" y="2212174"/>
            <a:ext cx="2789737" cy="187074"/>
            <a:chOff x="448028" y="1746916"/>
            <a:chExt cx="2789737" cy="187074"/>
          </a:xfrm>
        </p:grpSpPr>
        <p:pic>
          <p:nvPicPr>
            <p:cNvPr id="12" name="Picture 2" descr="딸기로픽">
              <a:extLst>
                <a:ext uri="{FF2B5EF4-FFF2-40B4-BE49-F238E27FC236}">
                  <a16:creationId xmlns:a16="http://schemas.microsoft.com/office/drawing/2014/main" id="{6086FC48-18CA-8F0F-225A-FB3F930801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81BEC1-BF3D-E7A7-BA50-3C56369E5444}"/>
                </a:ext>
              </a:extLst>
            </p:cNvPr>
            <p:cNvSpPr txBox="1"/>
            <p:nvPr/>
          </p:nvSpPr>
          <p:spPr>
            <a:xfrm>
              <a:off x="739004" y="1748120"/>
              <a:ext cx="249876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총 연구개발비 구조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약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10.7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억원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(24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개월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87CAEC-66D7-7D6E-834B-2A41EC156C6F}"/>
              </a:ext>
            </a:extLst>
          </p:cNvPr>
          <p:cNvSpPr/>
          <p:nvPr/>
        </p:nvSpPr>
        <p:spPr>
          <a:xfrm>
            <a:off x="432000" y="2475649"/>
            <a:ext cx="8280000" cy="254524"/>
          </a:xfrm>
          <a:prstGeom prst="rect">
            <a:avLst/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CA3D29-2E1E-958F-F9E3-3D605F3FA8B7}"/>
              </a:ext>
            </a:extLst>
          </p:cNvPr>
          <p:cNvSpPr/>
          <p:nvPr/>
        </p:nvSpPr>
        <p:spPr>
          <a:xfrm>
            <a:off x="6642000" y="2475649"/>
            <a:ext cx="2070000" cy="254524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C5D140-5BB5-1817-5A8D-E1C865641D9A}"/>
              </a:ext>
            </a:extLst>
          </p:cNvPr>
          <p:cNvSpPr txBox="1"/>
          <p:nvPr/>
        </p:nvSpPr>
        <p:spPr>
          <a:xfrm>
            <a:off x="432000" y="2785055"/>
            <a:ext cx="621035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기관부담연구개발비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현금 ≥ 기관부담의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10% = 0.27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억↑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현물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Seed 3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신보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재원에서 충당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자부담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여력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기확보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집행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정산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RCMS ·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연구노트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EDMS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94DB9-93B3-333C-B1A5-8745CDF47E37}"/>
              </a:ext>
            </a:extLst>
          </p:cNvPr>
          <p:cNvSpPr txBox="1"/>
          <p:nvPr/>
        </p:nvSpPr>
        <p:spPr>
          <a:xfrm>
            <a:off x="2352542" y="2533662"/>
            <a:ext cx="236891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정부지원연구개발비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(75%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일반트랙 한도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15C5CB-6930-5000-BDF6-B732F01B7098}"/>
              </a:ext>
            </a:extLst>
          </p:cNvPr>
          <p:cNvSpPr txBox="1"/>
          <p:nvPr/>
        </p:nvSpPr>
        <p:spPr>
          <a:xfrm>
            <a:off x="7104568" y="2533662"/>
            <a:ext cx="1144865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기관부담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2.67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(25%↑)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2BB219-31FD-57E2-C0BD-D241F2D85B33}"/>
              </a:ext>
            </a:extLst>
          </p:cNvPr>
          <p:cNvSpPr txBox="1"/>
          <p:nvPr/>
        </p:nvSpPr>
        <p:spPr>
          <a:xfrm>
            <a:off x="432000" y="4694568"/>
            <a:ext cx="391100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※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비목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요율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단가는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IRIS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신청 양식과 「국가연구개발비 사용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기준」에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맞춰 최종 확정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배분은 계획 기준</a:t>
            </a: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FAD3FF2-58FD-7846-1F6A-BFF83E6ECAA5}"/>
              </a:ext>
            </a:extLst>
          </p:cNvPr>
          <p:cNvGrpSpPr/>
          <p:nvPr/>
        </p:nvGrpSpPr>
        <p:grpSpPr>
          <a:xfrm>
            <a:off x="432000" y="4938853"/>
            <a:ext cx="8280000" cy="1252698"/>
            <a:chOff x="432000" y="4938853"/>
            <a:chExt cx="8280000" cy="1252698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CCE74CFD-BD8C-B4BF-A05C-909C856205AF}"/>
                </a:ext>
              </a:extLst>
            </p:cNvPr>
            <p:cNvGrpSpPr/>
            <p:nvPr/>
          </p:nvGrpSpPr>
          <p:grpSpPr>
            <a:xfrm>
              <a:off x="432000" y="4938853"/>
              <a:ext cx="4079443" cy="1252698"/>
              <a:chOff x="432000" y="4938853"/>
              <a:chExt cx="4079443" cy="125269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104699A1-CE5D-BCA9-48C0-A60EB538ACE3}"/>
                  </a:ext>
                </a:extLst>
              </p:cNvPr>
              <p:cNvSpPr/>
              <p:nvPr/>
            </p:nvSpPr>
            <p:spPr>
              <a:xfrm>
                <a:off x="432000" y="4938853"/>
                <a:ext cx="4079443" cy="1252698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61423D75-0DD7-3AEC-5178-C2A7DEC02ECC}"/>
                  </a:ext>
                </a:extLst>
              </p:cNvPr>
              <p:cNvGrpSpPr/>
              <p:nvPr/>
            </p:nvGrpSpPr>
            <p:grpSpPr>
              <a:xfrm>
                <a:off x="606374" y="5098674"/>
                <a:ext cx="2877391" cy="933056"/>
                <a:chOff x="619074" y="5208490"/>
                <a:chExt cx="2877391" cy="933056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9A4B565-E0E5-AD78-E669-8A1C44F22552}"/>
                    </a:ext>
                  </a:extLst>
                </p:cNvPr>
                <p:cNvSpPr txBox="1"/>
                <p:nvPr/>
              </p:nvSpPr>
              <p:spPr>
                <a:xfrm>
                  <a:off x="619074" y="5208490"/>
                  <a:ext cx="203036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비용 통제 장치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예측 가능한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 R&amp;D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지출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F4B8BED-6AF4-7F1C-13F7-917696F625D0}"/>
                    </a:ext>
                  </a:extLst>
                </p:cNvPr>
                <p:cNvSpPr txBox="1"/>
                <p:nvPr/>
              </p:nvSpPr>
              <p:spPr>
                <a:xfrm>
                  <a:off x="619074" y="5422951"/>
                  <a:ext cx="2877391" cy="7185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LLM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운영비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티어링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+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배치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50%↓ +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캐싱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+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월 토큰 상한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(budget cap)</a:t>
                  </a:r>
                  <a:b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</a:b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MVP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월 수십만원 수준으로 통제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개발도구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정액 구독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인원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× $200/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월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으로 변동성 제거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b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API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단가 상시 비교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대체 전환 가능 구조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분기별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집행률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리뷰 → 게이트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(M2·M5·M9)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와 함께 예산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성과 동시 점검</a:t>
                  </a:r>
                </a:p>
              </p:txBody>
            </p:sp>
          </p:grp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DBF7F09F-456A-3DC7-AE39-62D48107DFD7}"/>
                </a:ext>
              </a:extLst>
            </p:cNvPr>
            <p:cNvGrpSpPr/>
            <p:nvPr/>
          </p:nvGrpSpPr>
          <p:grpSpPr>
            <a:xfrm>
              <a:off x="4632557" y="4938853"/>
              <a:ext cx="4079443" cy="1252698"/>
              <a:chOff x="432000" y="4938853"/>
              <a:chExt cx="4079443" cy="1252698"/>
            </a:xfrm>
          </p:grpSpPr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5AAB0E09-5391-58D9-9867-E18EC52922B9}"/>
                  </a:ext>
                </a:extLst>
              </p:cNvPr>
              <p:cNvSpPr/>
              <p:nvPr/>
            </p:nvSpPr>
            <p:spPr>
              <a:xfrm>
                <a:off x="432000" y="4938853"/>
                <a:ext cx="4079443" cy="1252698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E7A0FF91-644A-AC47-505A-D6306C799077}"/>
                  </a:ext>
                </a:extLst>
              </p:cNvPr>
              <p:cNvGrpSpPr/>
              <p:nvPr/>
            </p:nvGrpSpPr>
            <p:grpSpPr>
              <a:xfrm>
                <a:off x="606374" y="5098674"/>
                <a:ext cx="3334246" cy="933056"/>
                <a:chOff x="619074" y="5208490"/>
                <a:chExt cx="3334246" cy="933056"/>
              </a:xfrm>
            </p:grpSpPr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627FEB6F-AC63-E543-9908-04A99CAA0F83}"/>
                    </a:ext>
                  </a:extLst>
                </p:cNvPr>
                <p:cNvSpPr txBox="1"/>
                <p:nvPr/>
              </p:nvSpPr>
              <p:spPr>
                <a:xfrm>
                  <a:off x="619074" y="5208490"/>
                  <a:ext cx="2047035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제도 의무 정합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- 2026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공고 기준 </a:t>
                  </a:r>
                  <a:r>
                    <a:rPr kumimoji="0" lang="ko-KR" altLang="en-US" sz="105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선반영</a:t>
                  </a:r>
                  <a:endPara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07B565AA-28BD-19FA-2F17-852FD69A3E02}"/>
                    </a:ext>
                  </a:extLst>
                </p:cNvPr>
                <p:cNvSpPr txBox="1"/>
                <p:nvPr/>
              </p:nvSpPr>
              <p:spPr>
                <a:xfrm>
                  <a:off x="619074" y="5422951"/>
                  <a:ext cx="3334246" cy="7185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청년 의무채용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정부지원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5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억당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1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명 →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8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=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청년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만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15~34) 2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명 신규 채용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·1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년 유지</a:t>
                  </a:r>
                  <a:b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</a:b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채용계획 협약서류 반영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책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 준수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연구책임자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동시 수행 과제 수 규정 내 관리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기술료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최종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완료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시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경상기술료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요율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2.5%·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실사용 출연금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10%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한도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납부</a:t>
                  </a:r>
                  <a:b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매출 기여도 약정은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p.41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점유비율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(C)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과 정합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13822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2C38-816C-CA48-D913-5A616F2C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64987-2BE5-E31F-C310-DD2C981A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A1C2F7B1-C0EE-09AA-ABA8-085BFB2AE814}"/>
              </a:ext>
            </a:extLst>
          </p:cNvPr>
          <p:cNvGrpSpPr/>
          <p:nvPr/>
        </p:nvGrpSpPr>
        <p:grpSpPr>
          <a:xfrm>
            <a:off x="0" y="1176392"/>
            <a:ext cx="9371264" cy="883965"/>
            <a:chOff x="0" y="742759"/>
            <a:chExt cx="9371264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F97C4829-B5B9-FE5D-26D7-2DD17A40680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7B106823-17D8-FCC1-A1CB-7AB7D7738C6A}"/>
                </a:ext>
              </a:extLst>
            </p:cNvPr>
            <p:cNvGrpSpPr/>
            <p:nvPr/>
          </p:nvGrpSpPr>
          <p:grpSpPr>
            <a:xfrm>
              <a:off x="404618" y="922962"/>
              <a:ext cx="8966646" cy="523558"/>
              <a:chOff x="404618" y="928733"/>
              <a:chExt cx="8966646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6B695036-EDFD-8BCC-9067-6BCAB15521A5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7970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박사급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전문 인력을 우선 확보해 기술적 해자를 완성하고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서비스 안정화 시점에 맞춰 운영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사업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직군을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확대합니다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569E8560-2B93-6CE6-3ACB-AA2268A16C9E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607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인재 선점 → 사업화 조직 확장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단계별 고용 스케일업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 사다리의 사회적 기대효과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14FCB6D7-8A66-C462-1C89-37DD64F48B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C66D9B3D-C429-9B61-CC53-DBEBF28CE17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6.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고용창출 및 기대효과</a:t>
            </a:r>
          </a:p>
        </p:txBody>
      </p:sp>
      <p:graphicFrame>
        <p:nvGraphicFramePr>
          <p:cNvPr id="268" name="Table 0">
            <a:extLst>
              <a:ext uri="{FF2B5EF4-FFF2-40B4-BE49-F238E27FC236}">
                <a16:creationId xmlns:a16="http://schemas.microsoft.com/office/drawing/2014/main" id="{D326A6CE-8B72-B8BA-1537-FA56C935C1D3}"/>
              </a:ext>
            </a:extLst>
          </p:cNvPr>
          <p:cNvGraphicFramePr>
            <a:graphicFrameLocks noGrp="1"/>
          </p:cNvGraphicFramePr>
          <p:nvPr/>
        </p:nvGraphicFramePr>
        <p:xfrm>
          <a:off x="480640" y="2389581"/>
          <a:ext cx="8279999" cy="604128"/>
        </p:xfrm>
        <a:graphic>
          <a:graphicData uri="http://schemas.openxmlformats.org/drawingml/2006/table">
            <a:tbl>
              <a:tblPr/>
              <a:tblGrid>
                <a:gridCol w="1045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37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2026년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2027년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2028년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2029년(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개발종료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후 1년)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2030년(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개발종료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후 2년)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37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고용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(명)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37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고용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(명)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9" name="TextBox 268">
            <a:extLst>
              <a:ext uri="{FF2B5EF4-FFF2-40B4-BE49-F238E27FC236}">
                <a16:creationId xmlns:a16="http://schemas.microsoft.com/office/drawing/2014/main" id="{84A6246C-2382-157C-8015-5982DE74DEAF}"/>
              </a:ext>
            </a:extLst>
          </p:cNvPr>
          <p:cNvSpPr txBox="1"/>
          <p:nvPr/>
        </p:nvSpPr>
        <p:spPr>
          <a:xfrm>
            <a:off x="480640" y="2187873"/>
            <a:ext cx="484619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※ 2026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년 신규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 중 청년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15~34) 2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팁스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의무채용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정부지원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억당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선반영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협약 시 채용계획서 제출</a:t>
            </a:r>
          </a:p>
        </p:txBody>
      </p:sp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8A03E356-81F2-9B9A-F0B0-C1B7FB402170}"/>
              </a:ext>
            </a:extLst>
          </p:cNvPr>
          <p:cNvGrpSpPr/>
          <p:nvPr/>
        </p:nvGrpSpPr>
        <p:grpSpPr>
          <a:xfrm>
            <a:off x="431999" y="4904896"/>
            <a:ext cx="8280001" cy="1165574"/>
            <a:chOff x="431999" y="4805972"/>
            <a:chExt cx="8280001" cy="1189002"/>
          </a:xfrm>
        </p:grpSpPr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C72958E4-CBAF-389F-C81C-4B3B65DDA30C}"/>
                </a:ext>
              </a:extLst>
            </p:cNvPr>
            <p:cNvGrpSpPr/>
            <p:nvPr/>
          </p:nvGrpSpPr>
          <p:grpSpPr>
            <a:xfrm>
              <a:off x="431999" y="4805972"/>
              <a:ext cx="8280000" cy="215444"/>
              <a:chOff x="431999" y="4888718"/>
              <a:chExt cx="8280000" cy="215444"/>
            </a:xfrm>
          </p:grpSpPr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A99D3644-DEEF-E5FB-8E29-C7A9F96D1D22}"/>
                  </a:ext>
                </a:extLst>
              </p:cNvPr>
              <p:cNvSpPr txBox="1"/>
              <p:nvPr/>
            </p:nvSpPr>
            <p:spPr>
              <a:xfrm>
                <a:off x="431999" y="4888718"/>
                <a:ext cx="25859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기대효과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사회적 가치가 곧 성장 엔진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6A286527-32EE-3710-30A0-127FB1DF1070}"/>
                  </a:ext>
                </a:extLst>
              </p:cNvPr>
              <p:cNvSpPr txBox="1"/>
              <p:nvPr/>
            </p:nvSpPr>
            <p:spPr>
              <a:xfrm>
                <a:off x="7276671" y="4950272"/>
                <a:ext cx="1435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TIPS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기대효과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·ESG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논리 직결</a:t>
                </a: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0D74C345-A0EB-BA04-3117-9973F2795F58}"/>
                </a:ext>
              </a:extLst>
            </p:cNvPr>
            <p:cNvGrpSpPr/>
            <p:nvPr/>
          </p:nvGrpSpPr>
          <p:grpSpPr>
            <a:xfrm>
              <a:off x="431999" y="5081607"/>
              <a:ext cx="8280001" cy="913367"/>
              <a:chOff x="431999" y="5081607"/>
              <a:chExt cx="8280001" cy="913367"/>
            </a:xfrm>
          </p:grpSpPr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BB17F217-8719-8D8F-101E-63ABC3D89FE5}"/>
                  </a:ext>
                </a:extLst>
              </p:cNvPr>
              <p:cNvGrpSpPr/>
              <p:nvPr/>
            </p:nvGrpSpPr>
            <p:grpSpPr>
              <a:xfrm>
                <a:off x="431999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70" name="사각형: 둥근 모서리 269">
                  <a:extLst>
                    <a:ext uri="{FF2B5EF4-FFF2-40B4-BE49-F238E27FC236}">
                      <a16:creationId xmlns:a16="http://schemas.microsoft.com/office/drawing/2014/main" id="{7FDB0C92-2D47-78D9-0BC6-BFE8DACEE0F0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81" name="그룹 280">
                  <a:extLst>
                    <a:ext uri="{FF2B5EF4-FFF2-40B4-BE49-F238E27FC236}">
                      <a16:creationId xmlns:a16="http://schemas.microsoft.com/office/drawing/2014/main" id="{9EC123BE-4E5D-EBE2-3AAB-BE66765EE775}"/>
                    </a:ext>
                  </a:extLst>
                </p:cNvPr>
                <p:cNvGrpSpPr/>
                <p:nvPr/>
              </p:nvGrpSpPr>
              <p:grpSpPr>
                <a:xfrm>
                  <a:off x="575048" y="5298828"/>
                  <a:ext cx="1526700" cy="669469"/>
                  <a:chOff x="575048" y="2755511"/>
                  <a:chExt cx="1526700" cy="669469"/>
                </a:xfrm>
              </p:grpSpPr>
              <p:sp>
                <p:nvSpPr>
                  <p:cNvPr id="278" name="TextBox 277">
                    <a:extLst>
                      <a:ext uri="{FF2B5EF4-FFF2-40B4-BE49-F238E27FC236}">
                        <a16:creationId xmlns:a16="http://schemas.microsoft.com/office/drawing/2014/main" id="{D041D4A8-1E97-6DDC-59AC-7A9EBB906D61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526700" cy="46679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대기업에 쏠린 트렌드 정보력을 입점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소상공인에게 개방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지방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청년 창업의 진입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생존율 제고</a:t>
                    </a:r>
                  </a:p>
                </p:txBody>
              </p:sp>
              <p:sp>
                <p:nvSpPr>
                  <p:cNvPr id="280" name="TextBox 279">
                    <a:extLst>
                      <a:ext uri="{FF2B5EF4-FFF2-40B4-BE49-F238E27FC236}">
                        <a16:creationId xmlns:a16="http://schemas.microsoft.com/office/drawing/2014/main" id="{3D27BDF3-DF7D-2F7B-CBF3-45EB3DBF3A83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55511"/>
                    <a:ext cx="737702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강소업체</a:t>
                    </a: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 육성</a:t>
                    </a:r>
                  </a:p>
                </p:txBody>
              </p:sp>
            </p:grpSp>
          </p:grp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792CA3D8-81F7-9F75-1C60-0C9F8CCFA9FD}"/>
                  </a:ext>
                </a:extLst>
              </p:cNvPr>
              <p:cNvGrpSpPr/>
              <p:nvPr/>
            </p:nvGrpSpPr>
            <p:grpSpPr>
              <a:xfrm>
                <a:off x="2534923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86" name="사각형: 둥근 모서리 285">
                  <a:extLst>
                    <a:ext uri="{FF2B5EF4-FFF2-40B4-BE49-F238E27FC236}">
                      <a16:creationId xmlns:a16="http://schemas.microsoft.com/office/drawing/2014/main" id="{513C9B08-780A-7C31-44A2-0B0C478C2D5F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87" name="그룹 286">
                  <a:extLst>
                    <a:ext uri="{FF2B5EF4-FFF2-40B4-BE49-F238E27FC236}">
                      <a16:creationId xmlns:a16="http://schemas.microsoft.com/office/drawing/2014/main" id="{57208893-6FD6-FF7B-8CE5-2936AF209BC9}"/>
                    </a:ext>
                  </a:extLst>
                </p:cNvPr>
                <p:cNvGrpSpPr/>
                <p:nvPr/>
              </p:nvGrpSpPr>
              <p:grpSpPr>
                <a:xfrm>
                  <a:off x="575048" y="5290193"/>
                  <a:ext cx="1622239" cy="701915"/>
                  <a:chOff x="575048" y="2746876"/>
                  <a:chExt cx="1622239" cy="701915"/>
                </a:xfrm>
              </p:grpSpPr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D448DB1E-B04D-B985-E5DF-EB6BA417421F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622239" cy="490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자본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마케팅력이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부족해도 실력만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있으면 자연어 추천으로 전국 고객에게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발견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연결</a:t>
                    </a:r>
                  </a:p>
                </p:txBody>
              </p:sp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28609636-C9BE-BCE0-8ED5-6AE6B58A1CC3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46876"/>
                    <a:ext cx="737702" cy="1779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발견의 민주화</a:t>
                    </a:r>
                  </a:p>
                </p:txBody>
              </p:sp>
            </p:grpSp>
          </p:grpSp>
          <p:grpSp>
            <p:nvGrpSpPr>
              <p:cNvPr id="290" name="그룹 289">
                <a:extLst>
                  <a:ext uri="{FF2B5EF4-FFF2-40B4-BE49-F238E27FC236}">
                    <a16:creationId xmlns:a16="http://schemas.microsoft.com/office/drawing/2014/main" id="{7EE10A24-31D7-524D-C577-FAE2E3A2C041}"/>
                  </a:ext>
                </a:extLst>
              </p:cNvPr>
              <p:cNvGrpSpPr/>
              <p:nvPr/>
            </p:nvGrpSpPr>
            <p:grpSpPr>
              <a:xfrm>
                <a:off x="4637847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B72E22D0-0E5D-49DB-6934-D7AA4FBC651C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92" name="그룹 291">
                  <a:extLst>
                    <a:ext uri="{FF2B5EF4-FFF2-40B4-BE49-F238E27FC236}">
                      <a16:creationId xmlns:a16="http://schemas.microsoft.com/office/drawing/2014/main" id="{C2F2789A-E536-6EF3-99CE-D1E459F19222}"/>
                    </a:ext>
                  </a:extLst>
                </p:cNvPr>
                <p:cNvGrpSpPr/>
                <p:nvPr/>
              </p:nvGrpSpPr>
              <p:grpSpPr>
                <a:xfrm>
                  <a:off x="575048" y="5290193"/>
                  <a:ext cx="1342034" cy="701915"/>
                  <a:chOff x="575048" y="2746876"/>
                  <a:chExt cx="1342034" cy="701915"/>
                </a:xfrm>
              </p:grpSpPr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E49F6A59-C3A2-C6D9-6079-CED35D8DAB55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342034" cy="490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강소업체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성장 → 양질의 일자리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창출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지역 경제 활성화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정책 목표와 정렬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</a:t>
                    </a:r>
                    <a:endPara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</p:txBody>
              </p:sp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310A4B0A-0CFD-6BBC-F493-86E097A1389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46876"/>
                    <a:ext cx="858889" cy="1779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일자리</a:t>
                    </a:r>
                    <a:r>
                      <a:rPr kumimoji="0" lang="en-US" altLang="ko-KR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·</a:t>
                    </a: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지역경제</a:t>
                    </a:r>
                  </a:p>
                </p:txBody>
              </p:sp>
            </p:grpSp>
          </p:grpSp>
          <p:grpSp>
            <p:nvGrpSpPr>
              <p:cNvPr id="295" name="그룹 294">
                <a:extLst>
                  <a:ext uri="{FF2B5EF4-FFF2-40B4-BE49-F238E27FC236}">
                    <a16:creationId xmlns:a16="http://schemas.microsoft.com/office/drawing/2014/main" id="{87C08275-75F1-0888-99F8-088272605BB1}"/>
                  </a:ext>
                </a:extLst>
              </p:cNvPr>
              <p:cNvGrpSpPr/>
              <p:nvPr/>
            </p:nvGrpSpPr>
            <p:grpSpPr>
              <a:xfrm>
                <a:off x="6740772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96" name="사각형: 둥근 모서리 295">
                  <a:extLst>
                    <a:ext uri="{FF2B5EF4-FFF2-40B4-BE49-F238E27FC236}">
                      <a16:creationId xmlns:a16="http://schemas.microsoft.com/office/drawing/2014/main" id="{A4D2AD94-7A17-0B96-BF8D-7F9A66734202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97" name="그룹 296">
                  <a:extLst>
                    <a:ext uri="{FF2B5EF4-FFF2-40B4-BE49-F238E27FC236}">
                      <a16:creationId xmlns:a16="http://schemas.microsoft.com/office/drawing/2014/main" id="{7A063472-67FE-9691-7263-DC3C74053C23}"/>
                    </a:ext>
                  </a:extLst>
                </p:cNvPr>
                <p:cNvGrpSpPr/>
                <p:nvPr/>
              </p:nvGrpSpPr>
              <p:grpSpPr>
                <a:xfrm>
                  <a:off x="575048" y="5290193"/>
                  <a:ext cx="1163780" cy="701915"/>
                  <a:chOff x="575048" y="2746876"/>
                  <a:chExt cx="1163780" cy="701915"/>
                </a:xfrm>
              </p:grpSpPr>
              <p:sp>
                <p:nvSpPr>
                  <p:cNvPr id="298" name="TextBox 297">
                    <a:extLst>
                      <a:ext uri="{FF2B5EF4-FFF2-40B4-BE49-F238E27FC236}">
                        <a16:creationId xmlns:a16="http://schemas.microsoft.com/office/drawing/2014/main" id="{1C1F98BB-09AF-B9FD-7A4B-B8994A60725A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163780" cy="490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입점사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성장 → 거래액↑ →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딸기로 매출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데이터 해자↑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공익과 수익이 같은 방향</a:t>
                    </a:r>
                  </a:p>
                </p:txBody>
              </p:sp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675D4CC3-9A68-60C8-8E59-B5B83C58AC6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46876"/>
                    <a:ext cx="501740" cy="1779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성장 환류</a:t>
                    </a:r>
                  </a:p>
                </p:txBody>
              </p:sp>
            </p:grpSp>
          </p:grpSp>
        </p:grp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2BB0963-142C-BACF-6118-F369F74C97B3}"/>
              </a:ext>
            </a:extLst>
          </p:cNvPr>
          <p:cNvSpPr txBox="1"/>
          <p:nvPr/>
        </p:nvSpPr>
        <p:spPr>
          <a:xfrm>
            <a:off x="480640" y="3125245"/>
            <a:ext cx="646011" cy="20703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채용 계획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B3ADBE8F-DC86-3A66-6C56-95B47F279B8A}"/>
              </a:ext>
            </a:extLst>
          </p:cNvPr>
          <p:cNvSpPr txBox="1"/>
          <p:nvPr/>
        </p:nvSpPr>
        <p:spPr>
          <a:xfrm>
            <a:off x="3702800" y="3202295"/>
            <a:ext cx="824906" cy="1330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직접인력 우선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2EBDBEC9-2883-0CC3-CACC-5FF9501C6559}"/>
              </a:ext>
            </a:extLst>
          </p:cNvPr>
          <p:cNvSpPr txBox="1"/>
          <p:nvPr/>
        </p:nvSpPr>
        <p:spPr>
          <a:xfrm>
            <a:off x="4699525" y="3123163"/>
            <a:ext cx="1337867" cy="2111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인재 유지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 제도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2F5A15D5-F2A4-385B-9B76-751CAF10A006}"/>
              </a:ext>
            </a:extLst>
          </p:cNvPr>
          <p:cNvGrpSpPr/>
          <p:nvPr/>
        </p:nvGrpSpPr>
        <p:grpSpPr>
          <a:xfrm>
            <a:off x="480640" y="3384285"/>
            <a:ext cx="4061114" cy="1357719"/>
            <a:chOff x="480640" y="3335206"/>
            <a:chExt cx="4061114" cy="1441246"/>
          </a:xfrm>
        </p:grpSpPr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EA39B37B-CD00-5C0C-6420-9A1259AB59E9}"/>
                </a:ext>
              </a:extLst>
            </p:cNvPr>
            <p:cNvGrpSpPr/>
            <p:nvPr/>
          </p:nvGrpSpPr>
          <p:grpSpPr>
            <a:xfrm>
              <a:off x="529280" y="3432467"/>
              <a:ext cx="3955027" cy="457596"/>
              <a:chOff x="480640" y="3612074"/>
              <a:chExt cx="3955027" cy="466794"/>
            </a:xfrm>
          </p:grpSpPr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41E639F4-F13D-DF99-B2AF-42079BBB4845}"/>
                  </a:ext>
                </a:extLst>
              </p:cNvPr>
              <p:cNvSpPr txBox="1"/>
              <p:nvPr/>
            </p:nvSpPr>
            <p:spPr>
              <a:xfrm>
                <a:off x="480640" y="3612074"/>
                <a:ext cx="789319" cy="3026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연구개발 직접인력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(2025~2026)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10DDA0E6-DBB3-926E-95B9-A22396F6EF63}"/>
                  </a:ext>
                </a:extLst>
              </p:cNvPr>
              <p:cNvSpPr txBox="1"/>
              <p:nvPr/>
            </p:nvSpPr>
            <p:spPr>
              <a:xfrm>
                <a:off x="1350527" y="3612074"/>
                <a:ext cx="3085140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AI/ML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엔지니어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백엔드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사이언티스트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디자이너 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8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큐레이션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알고리즘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 엔진 구현을 위한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석사급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이상 우선 채용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〔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청년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15~34)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의무채용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 포함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정부지원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억당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년 유지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계상률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100%〕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5FF59417-C5A5-F9F8-B6B3-B152F0600CCC}"/>
                </a:ext>
              </a:extLst>
            </p:cNvPr>
            <p:cNvCxnSpPr>
              <a:cxnSpLocks/>
            </p:cNvCxnSpPr>
            <p:nvPr/>
          </p:nvCxnSpPr>
          <p:spPr>
            <a:xfrm>
              <a:off x="480640" y="3335206"/>
              <a:ext cx="4047066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6988609-06C5-7F30-91EE-C840BFBEF7D8}"/>
                </a:ext>
              </a:extLst>
            </p:cNvPr>
            <p:cNvCxnSpPr>
              <a:cxnSpLocks/>
            </p:cNvCxnSpPr>
            <p:nvPr/>
          </p:nvCxnSpPr>
          <p:spPr>
            <a:xfrm>
              <a:off x="494688" y="4002865"/>
              <a:ext cx="4047066" cy="0"/>
            </a:xfrm>
            <a:prstGeom prst="line">
              <a:avLst/>
            </a:prstGeom>
            <a:ln>
              <a:solidFill>
                <a:srgbClr val="232323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CCB88EE3-1A1F-40A3-2D92-F725A83240B3}"/>
                </a:ext>
              </a:extLst>
            </p:cNvPr>
            <p:cNvGrpSpPr/>
            <p:nvPr/>
          </p:nvGrpSpPr>
          <p:grpSpPr>
            <a:xfrm>
              <a:off x="529280" y="4115668"/>
              <a:ext cx="3235278" cy="321266"/>
              <a:chOff x="480640" y="4261758"/>
              <a:chExt cx="3235278" cy="327723"/>
            </a:xfrm>
          </p:grpSpPr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1081ADF6-DC6A-D566-A4ED-78899197F039}"/>
                  </a:ext>
                </a:extLst>
              </p:cNvPr>
              <p:cNvSpPr txBox="1"/>
              <p:nvPr/>
            </p:nvSpPr>
            <p:spPr>
              <a:xfrm>
                <a:off x="480640" y="4261758"/>
                <a:ext cx="66781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운영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사업 인력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(2027~2030)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D8EB4EAB-1EA9-5FA0-BC2D-3B366F98DA27}"/>
                  </a:ext>
                </a:extLst>
              </p:cNvPr>
              <p:cNvSpPr txBox="1"/>
              <p:nvPr/>
            </p:nvSpPr>
            <p:spPr>
              <a:xfrm>
                <a:off x="1350527" y="4261758"/>
                <a:ext cx="2365391" cy="3277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영업/제휴 · MD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운영 매니저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CS/품질관리 · 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콘텐츠 자동화 운영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서비스 운영·물류 </a:t>
                </a:r>
                <a:r>
                  <a:rPr lang="en-US" altLang="ko-KR" sz="900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매니저 지속 채용</a:t>
                </a:r>
              </a:p>
            </p:txBody>
          </p:sp>
        </p:grp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EB050B4C-4FF2-07CC-0067-49865B705479}"/>
                </a:ext>
              </a:extLst>
            </p:cNvPr>
            <p:cNvGrpSpPr/>
            <p:nvPr/>
          </p:nvGrpSpPr>
          <p:grpSpPr>
            <a:xfrm>
              <a:off x="529280" y="4637953"/>
              <a:ext cx="3160579" cy="138499"/>
              <a:chOff x="480640" y="4674344"/>
              <a:chExt cx="3160579" cy="141283"/>
            </a:xfrm>
          </p:grpSpPr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0756D80B-1542-D961-C7EB-46782E4ECA45}"/>
                  </a:ext>
                </a:extLst>
              </p:cNvPr>
              <p:cNvSpPr txBox="1"/>
              <p:nvPr/>
            </p:nvSpPr>
            <p:spPr>
              <a:xfrm>
                <a:off x="480640" y="4674344"/>
                <a:ext cx="623248" cy="1412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청년 채용 확대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A9E0D834-074A-6629-767C-D450905E1D29}"/>
                  </a:ext>
                </a:extLst>
              </p:cNvPr>
              <p:cNvSpPr txBox="1"/>
              <p:nvPr/>
            </p:nvSpPr>
            <p:spPr>
              <a:xfrm>
                <a:off x="1350527" y="4674344"/>
                <a:ext cx="2290692" cy="1412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인턴십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계약직 전환 채널로 청년층 중심 채용 기회 확대</a:t>
                </a:r>
              </a:p>
            </p:txBody>
          </p:sp>
        </p:grpSp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9DCBA82F-5827-4239-99B8-8518FD56EF3D}"/>
                </a:ext>
              </a:extLst>
            </p:cNvPr>
            <p:cNvCxnSpPr>
              <a:cxnSpLocks/>
            </p:cNvCxnSpPr>
            <p:nvPr/>
          </p:nvCxnSpPr>
          <p:spPr>
            <a:xfrm>
              <a:off x="494688" y="4525153"/>
              <a:ext cx="4047066" cy="0"/>
            </a:xfrm>
            <a:prstGeom prst="line">
              <a:avLst/>
            </a:prstGeom>
            <a:ln>
              <a:solidFill>
                <a:srgbClr val="232323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2" name="그룹 341">
            <a:extLst>
              <a:ext uri="{FF2B5EF4-FFF2-40B4-BE49-F238E27FC236}">
                <a16:creationId xmlns:a16="http://schemas.microsoft.com/office/drawing/2014/main" id="{BE8AB6DB-4B12-E459-B8F3-C248BA44722A}"/>
              </a:ext>
            </a:extLst>
          </p:cNvPr>
          <p:cNvGrpSpPr/>
          <p:nvPr/>
        </p:nvGrpSpPr>
        <p:grpSpPr>
          <a:xfrm>
            <a:off x="4748165" y="3475907"/>
            <a:ext cx="3319275" cy="138500"/>
            <a:chOff x="480640" y="3612074"/>
            <a:chExt cx="3319275" cy="149975"/>
          </a:xfrm>
        </p:grpSpPr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DD3E6F64-C1F8-B573-EA4B-21079D58BA54}"/>
                </a:ext>
              </a:extLst>
            </p:cNvPr>
            <p:cNvSpPr txBox="1"/>
            <p:nvPr/>
          </p:nvSpPr>
          <p:spPr>
            <a:xfrm>
              <a:off x="480640" y="3612074"/>
              <a:ext cx="764312" cy="1412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직무발명보상제도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E829D8EC-A65E-8D8A-C342-89A13A0692EA}"/>
                </a:ext>
              </a:extLst>
            </p:cNvPr>
            <p:cNvSpPr txBox="1"/>
            <p:nvPr/>
          </p:nvSpPr>
          <p:spPr>
            <a:xfrm>
              <a:off x="1350527" y="3612074"/>
              <a:ext cx="2449388" cy="1499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신규 알고리즘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·DB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 등 등록 특허 보상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보안 서약 병행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C87DD74F-5E16-38A8-5832-8C35B060A582}"/>
              </a:ext>
            </a:extLst>
          </p:cNvPr>
          <p:cNvCxnSpPr>
            <a:cxnSpLocks/>
          </p:cNvCxnSpPr>
          <p:nvPr/>
        </p:nvCxnSpPr>
        <p:spPr>
          <a:xfrm>
            <a:off x="4699525" y="3384283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68ABCCC9-83B4-43F3-8A65-5764B34FF563}"/>
              </a:ext>
            </a:extLst>
          </p:cNvPr>
          <p:cNvCxnSpPr>
            <a:cxnSpLocks/>
          </p:cNvCxnSpPr>
          <p:nvPr/>
        </p:nvCxnSpPr>
        <p:spPr>
          <a:xfrm>
            <a:off x="4713573" y="3962348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AA5D4A10-3751-9670-13A5-081FA42BF0B0}"/>
              </a:ext>
            </a:extLst>
          </p:cNvPr>
          <p:cNvGrpSpPr/>
          <p:nvPr/>
        </p:nvGrpSpPr>
        <p:grpSpPr>
          <a:xfrm>
            <a:off x="4748165" y="4032166"/>
            <a:ext cx="2773613" cy="302647"/>
            <a:chOff x="480640" y="4261758"/>
            <a:chExt cx="2773613" cy="327723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C36F3BF9-EA4F-78C8-D38B-6AEFBCE2B053}"/>
                </a:ext>
              </a:extLst>
            </p:cNvPr>
            <p:cNvSpPr txBox="1"/>
            <p:nvPr/>
          </p:nvSpPr>
          <p:spPr>
            <a:xfrm>
              <a:off x="480640" y="4261758"/>
              <a:ext cx="668132" cy="3277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내일채움공제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퇴직연금제도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432C9AE3-AB61-C6CC-4C5E-EA429BB15F73}"/>
                </a:ext>
              </a:extLst>
            </p:cNvPr>
            <p:cNvSpPr txBox="1"/>
            <p:nvPr/>
          </p:nvSpPr>
          <p:spPr>
            <a:xfrm>
              <a:off x="1350527" y="4261758"/>
              <a:ext cx="1903726" cy="3087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내일채움공제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가입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퇴직연금제도 도입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(‘26)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팁스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선정평가 가점 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점</a:t>
              </a:r>
            </a:p>
          </p:txBody>
        </p:sp>
      </p:grp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F6FCAB45-1409-FD82-E7D1-59075BC88DA4}"/>
              </a:ext>
            </a:extLst>
          </p:cNvPr>
          <p:cNvGrpSpPr/>
          <p:nvPr/>
        </p:nvGrpSpPr>
        <p:grpSpPr>
          <a:xfrm>
            <a:off x="4748165" y="4456895"/>
            <a:ext cx="3408082" cy="285108"/>
            <a:chOff x="480640" y="4674344"/>
            <a:chExt cx="3408082" cy="308731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01D290A0-0FC9-BBEC-6ED8-2664F29AD14B}"/>
                </a:ext>
              </a:extLst>
            </p:cNvPr>
            <p:cNvSpPr txBox="1"/>
            <p:nvPr/>
          </p:nvSpPr>
          <p:spPr>
            <a:xfrm>
              <a:off x="480640" y="4674344"/>
              <a:ext cx="527709" cy="30873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인증 추진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및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기술교류회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C52D65B5-1238-E9A8-951E-8DAC96C1528D}"/>
                </a:ext>
              </a:extLst>
            </p:cNvPr>
            <p:cNvSpPr txBox="1"/>
            <p:nvPr/>
          </p:nvSpPr>
          <p:spPr>
            <a:xfrm>
              <a:off x="1350527" y="4674344"/>
              <a:ext cx="2538195" cy="3087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벤처기업 인증 추진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('26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상반기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가점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· '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딸기스터디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’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사내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기술교류회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(AI·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이커머스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트랙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2694BCFC-7166-91EF-4C60-C43492DE29AF}"/>
              </a:ext>
            </a:extLst>
          </p:cNvPr>
          <p:cNvCxnSpPr>
            <a:cxnSpLocks/>
          </p:cNvCxnSpPr>
          <p:nvPr/>
        </p:nvCxnSpPr>
        <p:spPr>
          <a:xfrm>
            <a:off x="4713573" y="4387083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6A528F17-E006-0D76-D83F-40F742AFFC46}"/>
              </a:ext>
            </a:extLst>
          </p:cNvPr>
          <p:cNvGrpSpPr/>
          <p:nvPr/>
        </p:nvGrpSpPr>
        <p:grpSpPr>
          <a:xfrm>
            <a:off x="4748165" y="3754035"/>
            <a:ext cx="1967623" cy="138499"/>
            <a:chOff x="480640" y="3612074"/>
            <a:chExt cx="1967623" cy="149974"/>
          </a:xfrm>
        </p:grpSpPr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DF52E60E-378D-7A25-7275-6F60156F26C7}"/>
                </a:ext>
              </a:extLst>
            </p:cNvPr>
            <p:cNvSpPr txBox="1"/>
            <p:nvPr/>
          </p:nvSpPr>
          <p:spPr>
            <a:xfrm>
              <a:off x="480640" y="3612074"/>
              <a:ext cx="477695" cy="1499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탄력근무제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42CF7A2D-27BE-11E7-3B25-BB6BECB73A15}"/>
                </a:ext>
              </a:extLst>
            </p:cNvPr>
            <p:cNvSpPr txBox="1"/>
            <p:nvPr/>
          </p:nvSpPr>
          <p:spPr>
            <a:xfrm>
              <a:off x="1350527" y="3612074"/>
              <a:ext cx="1097736" cy="1499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하이브리드 재택근무 운영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34E116DA-6D8C-26DE-CF07-C2071117113E}"/>
              </a:ext>
            </a:extLst>
          </p:cNvPr>
          <p:cNvCxnSpPr>
            <a:cxnSpLocks/>
          </p:cNvCxnSpPr>
          <p:nvPr/>
        </p:nvCxnSpPr>
        <p:spPr>
          <a:xfrm>
            <a:off x="4713573" y="3684221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0F809A1-F423-F14A-2FEF-278D2422852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82606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8ACD5-5C22-5A37-1230-0304DF2A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5E5DB9-2018-2D5C-6F56-23DC2717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1262DA91-3F26-9FCB-9201-BD8B9C897036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9CFE3C9B-1FF2-3BB5-1262-ECBD71ED7112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B1CD2A00-3D66-372B-2175-C9CA02CB74E3}"/>
                </a:ext>
              </a:extLst>
            </p:cNvPr>
            <p:cNvGrpSpPr/>
            <p:nvPr/>
          </p:nvGrpSpPr>
          <p:grpSpPr>
            <a:xfrm>
              <a:off x="404618" y="922962"/>
              <a:ext cx="8678425" cy="523558"/>
              <a:chOff x="404618" y="928733"/>
              <a:chExt cx="8678425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ACD6621B-49ED-5C13-E399-17DA92BD0EE2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7970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가정이 아닌 자사 실측 유닛 이코노믹스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(LTV/CAC 6.7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위의 시나리오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보수 시나리오에서도 실현 가능 범위를 확보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9CD8DD3-D558-65F0-276F-FDD58FBA493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3195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실측 데이터가 증명하는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J-Curve,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‘33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년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총매출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200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결과물 점유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90%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개년 로드맵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136CB18A-31AB-BDE1-AE01-329AC3DBD0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9CE9635F-ECC2-929E-4E59-08585D616C0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7·8.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목표 및 산정 근거</a:t>
            </a:r>
          </a:p>
        </p:txBody>
      </p:sp>
      <p:graphicFrame>
        <p:nvGraphicFramePr>
          <p:cNvPr id="310" name="Table 0">
            <a:extLst>
              <a:ext uri="{FF2B5EF4-FFF2-40B4-BE49-F238E27FC236}">
                <a16:creationId xmlns:a16="http://schemas.microsoft.com/office/drawing/2014/main" id="{9819A07D-8D3F-13AC-B80C-8B85A3876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388009"/>
              </p:ext>
            </p:extLst>
          </p:nvPr>
        </p:nvGraphicFramePr>
        <p:xfrm>
          <a:off x="432001" y="2235710"/>
          <a:ext cx="8280000" cy="900564"/>
        </p:xfrm>
        <a:graphic>
          <a:graphicData uri="http://schemas.openxmlformats.org/drawingml/2006/table">
            <a:tbl>
              <a:tblPr/>
              <a:tblGrid>
                <a:gridCol w="152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사업화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성과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성과지표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2028 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개발종료 해당년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2029 (후 1년)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2030 (후 2년)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2031 (후 3년)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2032 (후 4년)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2033 (후 5년)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기업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전체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성장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예상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총매출액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3,200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9,700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개발기술의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사업화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성과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R&amp;D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결과물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제품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매출액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(B)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2,300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13,000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18,000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R&amp;D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결과물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점유비율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(C=B/A)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2" name="TextBox 311">
            <a:extLst>
              <a:ext uri="{FF2B5EF4-FFF2-40B4-BE49-F238E27FC236}">
                <a16:creationId xmlns:a16="http://schemas.microsoft.com/office/drawing/2014/main" id="{780ED89A-F119-BF42-21BA-56F883DD125B}"/>
              </a:ext>
            </a:extLst>
          </p:cNvPr>
          <p:cNvSpPr txBox="1"/>
          <p:nvPr/>
        </p:nvSpPr>
        <p:spPr>
          <a:xfrm>
            <a:off x="432001" y="3174359"/>
            <a:ext cx="8076570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백만원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%]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초기 월 거래액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→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년 후 연 거래액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1,000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플랫폼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총매출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100~200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성장배수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×20)   |  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점유비율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(C) =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기술료 약정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매출액 기여도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동일 지표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경상기술료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2.5%·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출연금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10%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한도 인지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'28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매출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최종평가 사업화 성공요건 충족 설계</a:t>
            </a:r>
          </a:p>
        </p:txBody>
      </p:sp>
      <p:grpSp>
        <p:nvGrpSpPr>
          <p:cNvPr id="419" name="그룹 418">
            <a:extLst>
              <a:ext uri="{FF2B5EF4-FFF2-40B4-BE49-F238E27FC236}">
                <a16:creationId xmlns:a16="http://schemas.microsoft.com/office/drawing/2014/main" id="{35655810-2684-0F7A-78C5-5EADE343773F}"/>
              </a:ext>
            </a:extLst>
          </p:cNvPr>
          <p:cNvGrpSpPr/>
          <p:nvPr/>
        </p:nvGrpSpPr>
        <p:grpSpPr>
          <a:xfrm>
            <a:off x="480640" y="4524821"/>
            <a:ext cx="4047066" cy="1117854"/>
            <a:chOff x="480640" y="4521531"/>
            <a:chExt cx="4047066" cy="124604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AEC517B9-8771-D4A9-891B-8E1A5E72F112}"/>
                </a:ext>
              </a:extLst>
            </p:cNvPr>
            <p:cNvSpPr txBox="1"/>
            <p:nvPr/>
          </p:nvSpPr>
          <p:spPr>
            <a:xfrm>
              <a:off x="480640" y="4521531"/>
              <a:ext cx="64601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>
                <a:spcBef>
                  <a:spcPts val="200"/>
                </a:spcBef>
                <a:defRPr sz="14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산정 근거</a:t>
              </a:r>
              <a:endPara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E66122BA-FF09-5029-F017-82055AE443E3}"/>
                </a:ext>
              </a:extLst>
            </p:cNvPr>
            <p:cNvSpPr txBox="1"/>
            <p:nvPr/>
          </p:nvSpPr>
          <p:spPr>
            <a:xfrm>
              <a:off x="3722036" y="4605263"/>
              <a:ext cx="80567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실측 기반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 가정</a:t>
              </a:r>
            </a:p>
          </p:txBody>
        </p:sp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730C3B52-8ABE-AA59-9DB9-2BBA367F32AE}"/>
                </a:ext>
              </a:extLst>
            </p:cNvPr>
            <p:cNvGrpSpPr/>
            <p:nvPr/>
          </p:nvGrpSpPr>
          <p:grpSpPr>
            <a:xfrm>
              <a:off x="480640" y="4804500"/>
              <a:ext cx="4047066" cy="963078"/>
              <a:chOff x="480640" y="4804500"/>
              <a:chExt cx="4047066" cy="1160146"/>
            </a:xfrm>
          </p:grpSpPr>
          <p:grpSp>
            <p:nvGrpSpPr>
              <p:cNvPr id="368" name="그룹 367">
                <a:extLst>
                  <a:ext uri="{FF2B5EF4-FFF2-40B4-BE49-F238E27FC236}">
                    <a16:creationId xmlns:a16="http://schemas.microsoft.com/office/drawing/2014/main" id="{77FAF99F-A454-26BA-4495-453872E9B3E1}"/>
                  </a:ext>
                </a:extLst>
              </p:cNvPr>
              <p:cNvGrpSpPr/>
              <p:nvPr/>
            </p:nvGrpSpPr>
            <p:grpSpPr>
              <a:xfrm>
                <a:off x="529280" y="4887535"/>
                <a:ext cx="3771335" cy="138499"/>
                <a:chOff x="480640" y="3612074"/>
                <a:chExt cx="3771335" cy="165474"/>
              </a:xfrm>
            </p:grpSpPr>
            <p:sp>
              <p:nvSpPr>
                <p:cNvPr id="384" name="TextBox 383">
                  <a:extLst>
                    <a:ext uri="{FF2B5EF4-FFF2-40B4-BE49-F238E27FC236}">
                      <a16:creationId xmlns:a16="http://schemas.microsoft.com/office/drawing/2014/main" id="{1744097A-12C2-6376-A021-06703E30DBD3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407163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B2C 산식</a:t>
                  </a:r>
                </a:p>
              </p:txBody>
            </p:sp>
            <p:sp>
              <p:nvSpPr>
                <p:cNvPr id="385" name="TextBox 384">
                  <a:extLst>
                    <a:ext uri="{FF2B5EF4-FFF2-40B4-BE49-F238E27FC236}">
                      <a16:creationId xmlns:a16="http://schemas.microsoft.com/office/drawing/2014/main" id="{372F4D99-B95D-5486-7ADF-E61928FCF1B4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3125856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주문수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× AOV × 수수료율 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실측 전환 49.5%·AOV 22,808원 기반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cxnSp>
            <p:nvCxnSpPr>
              <p:cNvPr id="369" name="직선 연결선 368">
                <a:extLst>
                  <a:ext uri="{FF2B5EF4-FFF2-40B4-BE49-F238E27FC236}">
                    <a16:creationId xmlns:a16="http://schemas.microsoft.com/office/drawing/2014/main" id="{18C1BFBB-E017-8CC3-7F85-0B4F42863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4804500"/>
                <a:ext cx="4047066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6" name="그룹 385">
                <a:extLst>
                  <a:ext uri="{FF2B5EF4-FFF2-40B4-BE49-F238E27FC236}">
                    <a16:creationId xmlns:a16="http://schemas.microsoft.com/office/drawing/2014/main" id="{2D1DC296-3FC7-57ED-0653-70E01AA69D91}"/>
                  </a:ext>
                </a:extLst>
              </p:cNvPr>
              <p:cNvGrpSpPr/>
              <p:nvPr/>
            </p:nvGrpSpPr>
            <p:grpSpPr>
              <a:xfrm>
                <a:off x="529280" y="5200406"/>
                <a:ext cx="3248756" cy="138499"/>
                <a:chOff x="480640" y="3612074"/>
                <a:chExt cx="3248756" cy="165474"/>
              </a:xfrm>
            </p:grpSpPr>
            <p:sp>
              <p:nvSpPr>
                <p:cNvPr id="387" name="TextBox 386">
                  <a:extLst>
                    <a:ext uri="{FF2B5EF4-FFF2-40B4-BE49-F238E27FC236}">
                      <a16:creationId xmlns:a16="http://schemas.microsoft.com/office/drawing/2014/main" id="{7C3ED3A8-C2EA-D74D-B427-EBCF5D642DE8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407163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B2B 산식</a:t>
                  </a:r>
                </a:p>
              </p:txBody>
            </p:sp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80BCCC56-44C4-1874-8078-E104878D833E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2603277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단체주문 건수 × 평균 주문금액 × 수수료율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평균 150만 → 500만원·월 3~4회 드롭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D97119B4-E1C3-2638-9E35-26762BC9C6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5113220"/>
                <a:ext cx="4047066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C92E57A3-ACD3-85DF-DFF3-047CBC7149DD}"/>
                  </a:ext>
                </a:extLst>
              </p:cNvPr>
              <p:cNvGrpSpPr/>
              <p:nvPr/>
            </p:nvGrpSpPr>
            <p:grpSpPr>
              <a:xfrm>
                <a:off x="529280" y="5513277"/>
                <a:ext cx="3470291" cy="138499"/>
                <a:chOff x="480640" y="3612074"/>
                <a:chExt cx="3470291" cy="165474"/>
              </a:xfrm>
            </p:grpSpPr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859A25EA-BF12-CDBC-9B5E-1D110D464DB5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407163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구독·SaaS</a:t>
                  </a:r>
                </a:p>
              </p:txBody>
            </p: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403FA1FB-60C0-6B09-D001-264308B776B1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2824812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정기 간식 구독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리포트·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SaaS/API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이용료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별도 합산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제3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수익축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6572BC71-384E-C2F6-6CB7-2EAECB0A34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5426091"/>
                <a:ext cx="4047066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4" name="그룹 393">
                <a:extLst>
                  <a:ext uri="{FF2B5EF4-FFF2-40B4-BE49-F238E27FC236}">
                    <a16:creationId xmlns:a16="http://schemas.microsoft.com/office/drawing/2014/main" id="{70D73DD6-D877-4131-C624-5D11CB87B7A6}"/>
                  </a:ext>
                </a:extLst>
              </p:cNvPr>
              <p:cNvGrpSpPr/>
              <p:nvPr/>
            </p:nvGrpSpPr>
            <p:grpSpPr>
              <a:xfrm>
                <a:off x="529280" y="5826147"/>
                <a:ext cx="2976245" cy="138499"/>
                <a:chOff x="480640" y="3612074"/>
                <a:chExt cx="2976245" cy="165474"/>
              </a:xfrm>
            </p:grpSpPr>
            <p:sp>
              <p:nvSpPr>
                <p:cNvPr id="395" name="TextBox 394">
                  <a:extLst>
                    <a:ext uri="{FF2B5EF4-FFF2-40B4-BE49-F238E27FC236}">
                      <a16:creationId xmlns:a16="http://schemas.microsoft.com/office/drawing/2014/main" id="{BBB68967-C23E-2DCF-C622-AD3C39CD8EA5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502702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공급 확장</a:t>
                  </a:r>
                </a:p>
              </p:txBody>
            </p:sp>
            <p:sp>
              <p:nvSpPr>
                <p:cNvPr id="396" name="TextBox 395">
                  <a:extLst>
                    <a:ext uri="{FF2B5EF4-FFF2-40B4-BE49-F238E27FC236}">
                      <a16:creationId xmlns:a16="http://schemas.microsoft.com/office/drawing/2014/main" id="{F6673775-3ED0-F858-F617-471E7C2EDBEE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2330766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실거래 브랜드 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25~30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 온보딩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반복률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50%+ 유지</a:t>
                  </a:r>
                </a:p>
              </p:txBody>
            </p:sp>
          </p:grp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A34DBA75-7060-7A60-B347-7908ADFAF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5738962"/>
                <a:ext cx="4047066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69401ADC-F8F0-2870-2FC7-C2D6A044314D}"/>
              </a:ext>
            </a:extLst>
          </p:cNvPr>
          <p:cNvSpPr txBox="1"/>
          <p:nvPr/>
        </p:nvSpPr>
        <p:spPr>
          <a:xfrm>
            <a:off x="4664935" y="4524820"/>
            <a:ext cx="797654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민감도 분석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2D73FB3A-C88D-5911-C957-BEE6D972F4FF}"/>
              </a:ext>
            </a:extLst>
          </p:cNvPr>
          <p:cNvSpPr txBox="1"/>
          <p:nvPr/>
        </p:nvSpPr>
        <p:spPr>
          <a:xfrm>
            <a:off x="8048678" y="4608552"/>
            <a:ext cx="663323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가지 시나리오</a:t>
            </a:r>
          </a:p>
        </p:txBody>
      </p:sp>
      <p:cxnSp>
        <p:nvCxnSpPr>
          <p:cNvPr id="425" name="직선 연결선 424">
            <a:extLst>
              <a:ext uri="{FF2B5EF4-FFF2-40B4-BE49-F238E27FC236}">
                <a16:creationId xmlns:a16="http://schemas.microsoft.com/office/drawing/2014/main" id="{0E7732F5-4FAA-25F4-917F-D0D17359B9B7}"/>
              </a:ext>
            </a:extLst>
          </p:cNvPr>
          <p:cNvCxnSpPr>
            <a:cxnSpLocks/>
          </p:cNvCxnSpPr>
          <p:nvPr/>
        </p:nvCxnSpPr>
        <p:spPr>
          <a:xfrm>
            <a:off x="4664935" y="4807789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810B3E01-86B0-1ACB-CF4A-D8DED76780E6}"/>
              </a:ext>
            </a:extLst>
          </p:cNvPr>
          <p:cNvSpPr txBox="1"/>
          <p:nvPr/>
        </p:nvSpPr>
        <p:spPr>
          <a:xfrm>
            <a:off x="480640" y="5807266"/>
            <a:ext cx="3746538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근거자료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자사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실매출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데이터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딸기로픽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운영 데이터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 도입 전후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전환율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시뮬레이션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제안서 제출 시점 최신 데이터로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재검증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B421F0-6177-F674-96DF-BC3CE0AC5EBE}"/>
              </a:ext>
            </a:extLst>
          </p:cNvPr>
          <p:cNvGrpSpPr/>
          <p:nvPr/>
        </p:nvGrpSpPr>
        <p:grpSpPr>
          <a:xfrm>
            <a:off x="4664934" y="4943662"/>
            <a:ext cx="4047067" cy="1166251"/>
            <a:chOff x="4664934" y="4965696"/>
            <a:chExt cx="4047067" cy="1166251"/>
          </a:xfrm>
        </p:grpSpPr>
        <p:grpSp>
          <p:nvGrpSpPr>
            <p:cNvPr id="451" name="그룹 450">
              <a:extLst>
                <a:ext uri="{FF2B5EF4-FFF2-40B4-BE49-F238E27FC236}">
                  <a16:creationId xmlns:a16="http://schemas.microsoft.com/office/drawing/2014/main" id="{C748DA3B-9A36-DE08-02B0-6C2E34B8EDFC}"/>
                </a:ext>
              </a:extLst>
            </p:cNvPr>
            <p:cNvGrpSpPr/>
            <p:nvPr/>
          </p:nvGrpSpPr>
          <p:grpSpPr>
            <a:xfrm>
              <a:off x="4664934" y="4965696"/>
              <a:ext cx="1260874" cy="1166251"/>
              <a:chOff x="4664934" y="4965696"/>
              <a:chExt cx="1260874" cy="1166251"/>
            </a:xfrm>
          </p:grpSpPr>
          <p:sp>
            <p:nvSpPr>
              <p:cNvPr id="441" name="사각형: 둥근 모서리 440">
                <a:extLst>
                  <a:ext uri="{FF2B5EF4-FFF2-40B4-BE49-F238E27FC236}">
                    <a16:creationId xmlns:a16="http://schemas.microsoft.com/office/drawing/2014/main" id="{0162A0CC-3FFB-CC80-DCE0-E6B68688D007}"/>
                  </a:ext>
                </a:extLst>
              </p:cNvPr>
              <p:cNvSpPr/>
              <p:nvPr/>
            </p:nvSpPr>
            <p:spPr>
              <a:xfrm>
                <a:off x="4664934" y="4965696"/>
                <a:ext cx="1260874" cy="1166251"/>
              </a:xfrm>
              <a:prstGeom prst="roundRect">
                <a:avLst>
                  <a:gd name="adj" fmla="val 7471"/>
                </a:avLst>
              </a:prstGeom>
              <a:solidFill>
                <a:srgbClr val="232323"/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50" name="그룹 449">
                <a:extLst>
                  <a:ext uri="{FF2B5EF4-FFF2-40B4-BE49-F238E27FC236}">
                    <a16:creationId xmlns:a16="http://schemas.microsoft.com/office/drawing/2014/main" id="{7FB27F22-3A86-9E82-D8AB-783FA30A7538}"/>
                  </a:ext>
                </a:extLst>
              </p:cNvPr>
              <p:cNvGrpSpPr/>
              <p:nvPr/>
            </p:nvGrpSpPr>
            <p:grpSpPr>
              <a:xfrm>
                <a:off x="4785962" y="5258444"/>
                <a:ext cx="887422" cy="742979"/>
                <a:chOff x="4728035" y="5246859"/>
                <a:chExt cx="887422" cy="742979"/>
              </a:xfrm>
            </p:grpSpPr>
            <p:sp>
              <p:nvSpPr>
                <p:cNvPr id="445" name="TextBox 444">
                  <a:extLst>
                    <a:ext uri="{FF2B5EF4-FFF2-40B4-BE49-F238E27FC236}">
                      <a16:creationId xmlns:a16="http://schemas.microsoft.com/office/drawing/2014/main" id="{BCACE623-A243-5478-ADF5-150CB742D6EA}"/>
                    </a:ext>
                  </a:extLst>
                </p:cNvPr>
                <p:cNvSpPr txBox="1"/>
                <p:nvPr/>
              </p:nvSpPr>
              <p:spPr>
                <a:xfrm>
                  <a:off x="4728035" y="5246859"/>
                  <a:ext cx="42447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50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</a:p>
              </p:txBody>
            </p:sp>
            <p:sp>
              <p:nvSpPr>
                <p:cNvPr id="446" name="TextBox 445">
                  <a:extLst>
                    <a:ext uri="{FF2B5EF4-FFF2-40B4-BE49-F238E27FC236}">
                      <a16:creationId xmlns:a16="http://schemas.microsoft.com/office/drawing/2014/main" id="{0616D12C-C889-3911-84B9-0971081B5FBB}"/>
                    </a:ext>
                  </a:extLst>
                </p:cNvPr>
                <p:cNvSpPr txBox="1"/>
                <p:nvPr/>
              </p:nvSpPr>
              <p:spPr>
                <a:xfrm>
                  <a:off x="4728035" y="5523044"/>
                  <a:ext cx="887422" cy="4667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60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드롭당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보수접근에도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억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sp>
            <p:nvSpPr>
              <p:cNvPr id="449" name="사각형: 둥근 모서리 448">
                <a:extLst>
                  <a:ext uri="{FF2B5EF4-FFF2-40B4-BE49-F238E27FC236}">
                    <a16:creationId xmlns:a16="http://schemas.microsoft.com/office/drawing/2014/main" id="{F7088ADE-2A93-3CBF-019E-39BA73D6EF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55536" y="5069519"/>
                <a:ext cx="370345" cy="2152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000" tIns="7200" rIns="54000" bIns="720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보수</a:t>
                </a:r>
              </a:p>
            </p:txBody>
          </p:sp>
        </p:grpSp>
        <p:grpSp>
          <p:nvGrpSpPr>
            <p:cNvPr id="452" name="그룹 451">
              <a:extLst>
                <a:ext uri="{FF2B5EF4-FFF2-40B4-BE49-F238E27FC236}">
                  <a16:creationId xmlns:a16="http://schemas.microsoft.com/office/drawing/2014/main" id="{562BA40B-F228-D6B2-C5B0-BE9B9F8A924E}"/>
                </a:ext>
              </a:extLst>
            </p:cNvPr>
            <p:cNvGrpSpPr/>
            <p:nvPr/>
          </p:nvGrpSpPr>
          <p:grpSpPr>
            <a:xfrm>
              <a:off x="6058031" y="4965696"/>
              <a:ext cx="1260874" cy="1166251"/>
              <a:chOff x="4664934" y="4965696"/>
              <a:chExt cx="1260874" cy="1166251"/>
            </a:xfrm>
          </p:grpSpPr>
          <p:sp>
            <p:nvSpPr>
              <p:cNvPr id="453" name="사각형: 둥근 모서리 452">
                <a:extLst>
                  <a:ext uri="{FF2B5EF4-FFF2-40B4-BE49-F238E27FC236}">
                    <a16:creationId xmlns:a16="http://schemas.microsoft.com/office/drawing/2014/main" id="{D0BD21D2-7EA6-7AEC-986F-833761CC06A1}"/>
                  </a:ext>
                </a:extLst>
              </p:cNvPr>
              <p:cNvSpPr/>
              <p:nvPr/>
            </p:nvSpPr>
            <p:spPr>
              <a:xfrm>
                <a:off x="4664934" y="4965696"/>
                <a:ext cx="1260874" cy="1166251"/>
              </a:xfrm>
              <a:prstGeom prst="roundRect">
                <a:avLst>
                  <a:gd name="adj" fmla="val 7471"/>
                </a:avLst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54" name="그룹 453">
                <a:extLst>
                  <a:ext uri="{FF2B5EF4-FFF2-40B4-BE49-F238E27FC236}">
                    <a16:creationId xmlns:a16="http://schemas.microsoft.com/office/drawing/2014/main" id="{DB86B6B2-B580-125B-D558-50AB33688CC1}"/>
                  </a:ext>
                </a:extLst>
              </p:cNvPr>
              <p:cNvGrpSpPr/>
              <p:nvPr/>
            </p:nvGrpSpPr>
            <p:grpSpPr>
              <a:xfrm>
                <a:off x="4785962" y="5258444"/>
                <a:ext cx="694742" cy="742979"/>
                <a:chOff x="4728035" y="5246859"/>
                <a:chExt cx="694742" cy="742979"/>
              </a:xfrm>
            </p:grpSpPr>
            <p:sp>
              <p:nvSpPr>
                <p:cNvPr id="456" name="TextBox 455">
                  <a:extLst>
                    <a:ext uri="{FF2B5EF4-FFF2-40B4-BE49-F238E27FC236}">
                      <a16:creationId xmlns:a16="http://schemas.microsoft.com/office/drawing/2014/main" id="{092301EE-00EB-B3F9-EAEB-856A001FA47F}"/>
                    </a:ext>
                  </a:extLst>
                </p:cNvPr>
                <p:cNvSpPr txBox="1"/>
                <p:nvPr/>
              </p:nvSpPr>
              <p:spPr>
                <a:xfrm>
                  <a:off x="4728035" y="5246859"/>
                  <a:ext cx="42447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97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</a:p>
              </p:txBody>
            </p:sp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BFCAC03C-444D-FF47-F8FD-2655D10C8B32}"/>
                    </a:ext>
                  </a:extLst>
                </p:cNvPr>
                <p:cNvSpPr txBox="1"/>
                <p:nvPr/>
              </p:nvSpPr>
              <p:spPr>
                <a:xfrm>
                  <a:off x="4728035" y="5523044"/>
                  <a:ext cx="694742" cy="4667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드롭당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반복률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60%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sp>
            <p:nvSpPr>
              <p:cNvPr id="455" name="사각형: 둥근 모서리 454">
                <a:extLst>
                  <a:ext uri="{FF2B5EF4-FFF2-40B4-BE49-F238E27FC236}">
                    <a16:creationId xmlns:a16="http://schemas.microsoft.com/office/drawing/2014/main" id="{F98F86AC-7BAA-FBEE-81B4-ABE7FEC7E4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55536" y="5069519"/>
                <a:ext cx="370346" cy="2152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000" tIns="7200" rIns="54000" bIns="720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기준</a:t>
                </a:r>
              </a:p>
            </p:txBody>
          </p:sp>
        </p:grpSp>
        <p:grpSp>
          <p:nvGrpSpPr>
            <p:cNvPr id="458" name="그룹 457">
              <a:extLst>
                <a:ext uri="{FF2B5EF4-FFF2-40B4-BE49-F238E27FC236}">
                  <a16:creationId xmlns:a16="http://schemas.microsoft.com/office/drawing/2014/main" id="{34DC653E-BEEF-F11C-5811-FCC5BC5C92E0}"/>
                </a:ext>
              </a:extLst>
            </p:cNvPr>
            <p:cNvGrpSpPr/>
            <p:nvPr/>
          </p:nvGrpSpPr>
          <p:grpSpPr>
            <a:xfrm>
              <a:off x="7451127" y="4965696"/>
              <a:ext cx="1260874" cy="1166251"/>
              <a:chOff x="4664934" y="4965696"/>
              <a:chExt cx="1260874" cy="1166251"/>
            </a:xfrm>
          </p:grpSpPr>
          <p:sp>
            <p:nvSpPr>
              <p:cNvPr id="459" name="사각형: 둥근 모서리 458">
                <a:extLst>
                  <a:ext uri="{FF2B5EF4-FFF2-40B4-BE49-F238E27FC236}">
                    <a16:creationId xmlns:a16="http://schemas.microsoft.com/office/drawing/2014/main" id="{8E77A376-B755-4D56-7912-D3863FB46709}"/>
                  </a:ext>
                </a:extLst>
              </p:cNvPr>
              <p:cNvSpPr/>
              <p:nvPr/>
            </p:nvSpPr>
            <p:spPr>
              <a:xfrm>
                <a:off x="4664934" y="4965696"/>
                <a:ext cx="1260874" cy="1166251"/>
              </a:xfrm>
              <a:prstGeom prst="roundRect">
                <a:avLst>
                  <a:gd name="adj" fmla="val 7471"/>
                </a:avLst>
              </a:prstGeom>
              <a:solidFill>
                <a:srgbClr val="74AADD"/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60" name="그룹 459">
                <a:extLst>
                  <a:ext uri="{FF2B5EF4-FFF2-40B4-BE49-F238E27FC236}">
                    <a16:creationId xmlns:a16="http://schemas.microsoft.com/office/drawing/2014/main" id="{679EF750-F2F0-75B7-7C1F-9DC6D29E0727}"/>
                  </a:ext>
                </a:extLst>
              </p:cNvPr>
              <p:cNvGrpSpPr/>
              <p:nvPr/>
            </p:nvGrpSpPr>
            <p:grpSpPr>
              <a:xfrm>
                <a:off x="4785962" y="5258444"/>
                <a:ext cx="693138" cy="578832"/>
                <a:chOff x="4728035" y="5246859"/>
                <a:chExt cx="693138" cy="578832"/>
              </a:xfrm>
            </p:grpSpPr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433B36B0-0B14-DED5-2AB5-9E161748A9B2}"/>
                    </a:ext>
                  </a:extLst>
                </p:cNvPr>
                <p:cNvSpPr txBox="1"/>
                <p:nvPr/>
              </p:nvSpPr>
              <p:spPr>
                <a:xfrm>
                  <a:off x="4728035" y="5246859"/>
                  <a:ext cx="64761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130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+</a:t>
                  </a:r>
                  <a:endPara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463" name="TextBox 462">
                  <a:extLst>
                    <a:ext uri="{FF2B5EF4-FFF2-40B4-BE49-F238E27FC236}">
                      <a16:creationId xmlns:a16="http://schemas.microsoft.com/office/drawing/2014/main" id="{D77F0E2A-9F11-F6AA-40EA-B08FCF04EEDA}"/>
                    </a:ext>
                  </a:extLst>
                </p:cNvPr>
                <p:cNvSpPr txBox="1"/>
                <p:nvPr/>
              </p:nvSpPr>
              <p:spPr>
                <a:xfrm>
                  <a:off x="4728035" y="5523044"/>
                  <a:ext cx="693138" cy="302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드롭당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800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</a:p>
              </p:txBody>
            </p:sp>
          </p:grpSp>
          <p:sp>
            <p:nvSpPr>
              <p:cNvPr id="461" name="사각형: 둥근 모서리 460">
                <a:extLst>
                  <a:ext uri="{FF2B5EF4-FFF2-40B4-BE49-F238E27FC236}">
                    <a16:creationId xmlns:a16="http://schemas.microsoft.com/office/drawing/2014/main" id="{14073577-3A6C-664F-FD44-0A0FB850F8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55536" y="5069519"/>
                <a:ext cx="370345" cy="2152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000" tIns="7200" rIns="54000" bIns="720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공격</a:t>
                </a: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E35E983-5A74-FF6F-B30A-53D25CA1A1BC}"/>
              </a:ext>
            </a:extLst>
          </p:cNvPr>
          <p:cNvGrpSpPr/>
          <p:nvPr/>
        </p:nvGrpSpPr>
        <p:grpSpPr>
          <a:xfrm>
            <a:off x="432001" y="3566960"/>
            <a:ext cx="2662679" cy="833590"/>
            <a:chOff x="432001" y="3566960"/>
            <a:chExt cx="2662679" cy="833590"/>
          </a:xfrm>
        </p:grpSpPr>
        <p:sp>
          <p:nvSpPr>
            <p:cNvPr id="325" name="사각형: 둥근 모서리 324">
              <a:extLst>
                <a:ext uri="{FF2B5EF4-FFF2-40B4-BE49-F238E27FC236}">
                  <a16:creationId xmlns:a16="http://schemas.microsoft.com/office/drawing/2014/main" id="{F97A5DCF-0258-1160-1697-A1DE0AB40F27}"/>
                </a:ext>
              </a:extLst>
            </p:cNvPr>
            <p:cNvSpPr/>
            <p:nvPr/>
          </p:nvSpPr>
          <p:spPr>
            <a:xfrm>
              <a:off x="432001" y="3566960"/>
              <a:ext cx="2662679" cy="833590"/>
            </a:xfrm>
            <a:prstGeom prst="roundRect">
              <a:avLst>
                <a:gd name="adj" fmla="val 4546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3D509A3-6A93-1373-07A5-D19BF73F4C9C}"/>
                </a:ext>
              </a:extLst>
            </p:cNvPr>
            <p:cNvGrpSpPr/>
            <p:nvPr/>
          </p:nvGrpSpPr>
          <p:grpSpPr>
            <a:xfrm>
              <a:off x="591710" y="3734425"/>
              <a:ext cx="2274020" cy="498660"/>
              <a:chOff x="1006414" y="2398468"/>
              <a:chExt cx="2274020" cy="49866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A1AA84-6028-5062-C00E-096E9ABC8594}"/>
                  </a:ext>
                </a:extLst>
              </p:cNvPr>
              <p:cNvSpPr txBox="1"/>
              <p:nvPr/>
            </p:nvSpPr>
            <p:spPr>
              <a:xfrm>
                <a:off x="1006414" y="2398468"/>
                <a:ext cx="102560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[2028]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기반 형성기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B98AF9-74B7-6E35-BD78-A912CCFAED37}"/>
                  </a:ext>
                </a:extLst>
              </p:cNvPr>
              <p:cNvSpPr txBox="1"/>
              <p:nvPr/>
            </p:nvSpPr>
            <p:spPr>
              <a:xfrm>
                <a:off x="1006414" y="2594481"/>
                <a:ext cx="2274020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점유율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40%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 매칭 구조 형성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R&amp;D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브랜드 네트워크</a:t>
                </a:r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21499EF-497A-24F7-2306-213A37E35D2F}"/>
              </a:ext>
            </a:extLst>
          </p:cNvPr>
          <p:cNvGrpSpPr/>
          <p:nvPr/>
        </p:nvGrpSpPr>
        <p:grpSpPr>
          <a:xfrm>
            <a:off x="3240662" y="3566960"/>
            <a:ext cx="2662679" cy="833590"/>
            <a:chOff x="432001" y="3566960"/>
            <a:chExt cx="2662679" cy="83359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4FC6879B-8A22-5CA0-67CD-CD4A0737A9F7}"/>
                </a:ext>
              </a:extLst>
            </p:cNvPr>
            <p:cNvSpPr/>
            <p:nvPr/>
          </p:nvSpPr>
          <p:spPr>
            <a:xfrm>
              <a:off x="432001" y="3566960"/>
              <a:ext cx="2662679" cy="833590"/>
            </a:xfrm>
            <a:prstGeom prst="roundRect">
              <a:avLst>
                <a:gd name="adj" fmla="val 4546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271A523-E002-581B-24AA-72F555B84098}"/>
                </a:ext>
              </a:extLst>
            </p:cNvPr>
            <p:cNvGrpSpPr/>
            <p:nvPr/>
          </p:nvGrpSpPr>
          <p:grpSpPr>
            <a:xfrm>
              <a:off x="591710" y="3734425"/>
              <a:ext cx="2149627" cy="498660"/>
              <a:chOff x="1006414" y="2398468"/>
              <a:chExt cx="2149627" cy="49866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5AD623-F6EB-7F0D-B454-2A2953521ED0}"/>
                  </a:ext>
                </a:extLst>
              </p:cNvPr>
              <p:cNvSpPr txBox="1"/>
              <p:nvPr/>
            </p:nvSpPr>
            <p:spPr>
              <a:xfrm>
                <a:off x="1006414" y="2398468"/>
                <a:ext cx="1123064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[2029–30] AI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전환기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E02EB92-CEC1-12B9-B7D2-3D2908DE019B}"/>
                  </a:ext>
                </a:extLst>
              </p:cNvPr>
              <p:cNvSpPr txBox="1"/>
              <p:nvPr/>
            </p:nvSpPr>
            <p:spPr>
              <a:xfrm>
                <a:off x="1006414" y="2594481"/>
                <a:ext cx="2149627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점유율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72→83% · 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큐레이션 본격 도입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구독형 확장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B2B2C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본격화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예측형 시스템 가동</a:t>
                </a:r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58239A8-7D72-8C08-6472-2C4A6D7BAA2E}"/>
              </a:ext>
            </a:extLst>
          </p:cNvPr>
          <p:cNvGrpSpPr/>
          <p:nvPr/>
        </p:nvGrpSpPr>
        <p:grpSpPr>
          <a:xfrm>
            <a:off x="6049322" y="3566960"/>
            <a:ext cx="2662679" cy="833590"/>
            <a:chOff x="432001" y="3566960"/>
            <a:chExt cx="2662679" cy="83359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3AD8C8FB-A0CA-0857-E094-5183375185DC}"/>
                </a:ext>
              </a:extLst>
            </p:cNvPr>
            <p:cNvSpPr/>
            <p:nvPr/>
          </p:nvSpPr>
          <p:spPr>
            <a:xfrm>
              <a:off x="432001" y="3566960"/>
              <a:ext cx="2662679" cy="833590"/>
            </a:xfrm>
            <a:prstGeom prst="roundRect">
              <a:avLst>
                <a:gd name="adj" fmla="val 4546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8BA424D-0301-A83F-F93E-358F7E7779C7}"/>
                </a:ext>
              </a:extLst>
            </p:cNvPr>
            <p:cNvGrpSpPr/>
            <p:nvPr/>
          </p:nvGrpSpPr>
          <p:grpSpPr>
            <a:xfrm>
              <a:off x="591710" y="3734425"/>
              <a:ext cx="2209900" cy="498660"/>
              <a:chOff x="1006414" y="2398468"/>
              <a:chExt cx="2209900" cy="498660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E72542-9728-B864-E3E7-C42F4D44DE30}"/>
                  </a:ext>
                </a:extLst>
              </p:cNvPr>
              <p:cNvSpPr txBox="1"/>
              <p:nvPr/>
            </p:nvSpPr>
            <p:spPr>
              <a:xfrm>
                <a:off x="1006414" y="2398468"/>
                <a:ext cx="1222451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[2031–33]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지배 구조화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0B1F4E-EDE1-59F9-2418-B2F95801071B}"/>
                  </a:ext>
                </a:extLst>
              </p:cNvPr>
              <p:cNvSpPr txBox="1"/>
              <p:nvPr/>
            </p:nvSpPr>
            <p:spPr>
              <a:xfrm>
                <a:off x="1006414" y="2594481"/>
                <a:ext cx="2209900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점유율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90%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 주문 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· SaaS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수익모델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확립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완전 자동화 운영</a:t>
                </a: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1F63280-220D-9020-CD53-EEE3F4B0360C}"/>
              </a:ext>
            </a:extLst>
          </p:cNvPr>
          <p:cNvGrpSpPr/>
          <p:nvPr/>
        </p:nvGrpSpPr>
        <p:grpSpPr>
          <a:xfrm>
            <a:off x="3024508" y="3842010"/>
            <a:ext cx="286327" cy="283491"/>
            <a:chOff x="7104117" y="5693251"/>
            <a:chExt cx="461133" cy="456565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4B846836-B387-56B4-9A85-16F3D3284E55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화살표: 아래쪽 62">
              <a:extLst>
                <a:ext uri="{FF2B5EF4-FFF2-40B4-BE49-F238E27FC236}">
                  <a16:creationId xmlns:a16="http://schemas.microsoft.com/office/drawing/2014/main" id="{2338BE90-B764-59B8-5A66-924719DDE79B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8" name="그룹 447">
            <a:extLst>
              <a:ext uri="{FF2B5EF4-FFF2-40B4-BE49-F238E27FC236}">
                <a16:creationId xmlns:a16="http://schemas.microsoft.com/office/drawing/2014/main" id="{E3A6A81A-67EC-F293-4A6F-23CCC8178DD1}"/>
              </a:ext>
            </a:extLst>
          </p:cNvPr>
          <p:cNvGrpSpPr/>
          <p:nvPr/>
        </p:nvGrpSpPr>
        <p:grpSpPr>
          <a:xfrm>
            <a:off x="5833168" y="3842010"/>
            <a:ext cx="286327" cy="283491"/>
            <a:chOff x="7104117" y="5693251"/>
            <a:chExt cx="461133" cy="456565"/>
          </a:xfrm>
        </p:grpSpPr>
        <p:sp>
          <p:nvSpPr>
            <p:cNvPr id="464" name="타원 463">
              <a:extLst>
                <a:ext uri="{FF2B5EF4-FFF2-40B4-BE49-F238E27FC236}">
                  <a16:creationId xmlns:a16="http://schemas.microsoft.com/office/drawing/2014/main" id="{5CA9CD70-5A80-75FD-678F-8FB662319B97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5" name="화살표: 아래쪽 464">
              <a:extLst>
                <a:ext uri="{FF2B5EF4-FFF2-40B4-BE49-F238E27FC236}">
                  <a16:creationId xmlns:a16="http://schemas.microsoft.com/office/drawing/2014/main" id="{FBB3509B-1372-E316-D179-3BC1ED20DEF4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" name="제목 1">
            <a:extLst>
              <a:ext uri="{FF2B5EF4-FFF2-40B4-BE49-F238E27FC236}">
                <a16:creationId xmlns:a16="http://schemas.microsoft.com/office/drawing/2014/main" id="{3D0117B8-2EE1-4898-B1DE-8321DB56CD34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0345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AAA8-7252-F11A-4C51-D809ADEE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4C45B417-A268-44CF-4487-D051D06E2B09}"/>
              </a:ext>
            </a:extLst>
          </p:cNvPr>
          <p:cNvSpPr/>
          <p:nvPr/>
        </p:nvSpPr>
        <p:spPr>
          <a:xfrm>
            <a:off x="1" y="1764923"/>
            <a:ext cx="9144000" cy="902077"/>
          </a:xfrm>
          <a:prstGeom prst="round2SameRect">
            <a:avLst>
              <a:gd name="adj1" fmla="val 25114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5" name="Image 8" descr="assets/logo41.png">
            <a:extLst>
              <a:ext uri="{FF2B5EF4-FFF2-40B4-BE49-F238E27FC236}">
                <a16:creationId xmlns:a16="http://schemas.microsoft.com/office/drawing/2014/main" id="{C54DDBD4-44EB-C498-3D50-F812F2561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554" y="4596175"/>
            <a:ext cx="469087" cy="338712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C453AC-9E56-5061-9CC8-059EEA2B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3" name="제목 1">
            <a:extLst>
              <a:ext uri="{FF2B5EF4-FFF2-40B4-BE49-F238E27FC236}">
                <a16:creationId xmlns:a16="http://schemas.microsoft.com/office/drawing/2014/main" id="{D25E0F4C-5DDF-1C31-1879-7543254E5521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IV.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창업기업 소개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8BCC4559-7C3A-5925-4E44-7998ABC5489F}"/>
              </a:ext>
            </a:extLst>
          </p:cNvPr>
          <p:cNvGrpSpPr/>
          <p:nvPr/>
        </p:nvGrpSpPr>
        <p:grpSpPr>
          <a:xfrm>
            <a:off x="0" y="70014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43377774-8F6D-A97E-D3FB-8932D6CCE0C5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2C5DB2E8-AC51-02BF-B314-FDDE3B3F1018}"/>
                </a:ext>
              </a:extLst>
            </p:cNvPr>
            <p:cNvGrpSpPr/>
            <p:nvPr/>
          </p:nvGrpSpPr>
          <p:grpSpPr>
            <a:xfrm>
              <a:off x="404618" y="922962"/>
              <a:ext cx="3943796" cy="523558"/>
              <a:chOff x="404618" y="928733"/>
              <a:chExt cx="3943796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F911FDC7-B565-99E4-48F2-95312B6AA31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31082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실무형 경영진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전담 기술 파트너의 빈틈없는 성장체계 (구성원·파트너사 최신화 예정 : 영업 매니저 1인 추가 · 외부 자문·협력사 업데이트)</a:t>
                </a:r>
                <a:endParaRPr kumimoji="0" lang="ko-KR" altLang="en-US" sz="12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FE607ED6-24A3-6E59-5CAD-AFC2F42D838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35849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도메인 전문성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× 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기술력 사업화 시너지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34446AD0-253F-E255-1BEB-8CF8D2123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51D96669-C37B-AD02-8E7C-1CB2003185DD}"/>
              </a:ext>
            </a:extLst>
          </p:cNvPr>
          <p:cNvGrpSpPr/>
          <p:nvPr/>
        </p:nvGrpSpPr>
        <p:grpSpPr>
          <a:xfrm>
            <a:off x="432000" y="2436408"/>
            <a:ext cx="8280000" cy="1988820"/>
            <a:chOff x="432000" y="2269513"/>
            <a:chExt cx="8280000" cy="1988820"/>
          </a:xfrm>
        </p:grpSpPr>
        <p:grpSp>
          <p:nvGrpSpPr>
            <p:cNvPr id="497" name="그룹 496">
              <a:extLst>
                <a:ext uri="{FF2B5EF4-FFF2-40B4-BE49-F238E27FC236}">
                  <a16:creationId xmlns:a16="http://schemas.microsoft.com/office/drawing/2014/main" id="{442895A3-D8AE-F6DB-0A88-F9BFE75AE6AC}"/>
                </a:ext>
              </a:extLst>
            </p:cNvPr>
            <p:cNvGrpSpPr/>
            <p:nvPr/>
          </p:nvGrpSpPr>
          <p:grpSpPr>
            <a:xfrm>
              <a:off x="432000" y="2269513"/>
              <a:ext cx="1551010" cy="1988820"/>
              <a:chOff x="432000" y="2215134"/>
              <a:chExt cx="1551010" cy="1988820"/>
            </a:xfrm>
          </p:grpSpPr>
          <p:sp>
            <p:nvSpPr>
              <p:cNvPr id="482" name="사각형: 둥근 모서리 481">
                <a:extLst>
                  <a:ext uri="{FF2B5EF4-FFF2-40B4-BE49-F238E27FC236}">
                    <a16:creationId xmlns:a16="http://schemas.microsoft.com/office/drawing/2014/main" id="{9E6C66C4-3A11-7C78-9EF2-4E3330937728}"/>
                  </a:ext>
                </a:extLst>
              </p:cNvPr>
              <p:cNvSpPr/>
              <p:nvPr/>
            </p:nvSpPr>
            <p:spPr>
              <a:xfrm>
                <a:off x="432000" y="2215134"/>
                <a:ext cx="1551010" cy="1988820"/>
              </a:xfrm>
              <a:prstGeom prst="roundRect">
                <a:avLst>
                  <a:gd name="adj" fmla="val 4493"/>
                </a:avLst>
              </a:prstGeom>
              <a:solidFill>
                <a:schemeClr val="bg1"/>
              </a:solidFill>
              <a:ln w="6350">
                <a:solidFill>
                  <a:srgbClr val="EC657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92" name="그룹 491">
                <a:extLst>
                  <a:ext uri="{FF2B5EF4-FFF2-40B4-BE49-F238E27FC236}">
                    <a16:creationId xmlns:a16="http://schemas.microsoft.com/office/drawing/2014/main" id="{D7425430-998D-5F71-0F50-E0EAEE1588A0}"/>
                  </a:ext>
                </a:extLst>
              </p:cNvPr>
              <p:cNvGrpSpPr/>
              <p:nvPr/>
            </p:nvGrpSpPr>
            <p:grpSpPr>
              <a:xfrm>
                <a:off x="567083" y="2742314"/>
                <a:ext cx="1269258" cy="1311760"/>
                <a:chOff x="586961" y="3009653"/>
                <a:chExt cx="1269258" cy="1311760"/>
              </a:xfrm>
            </p:grpSpPr>
            <p:grpSp>
              <p:nvGrpSpPr>
                <p:cNvPr id="490" name="그룹 489">
                  <a:extLst>
                    <a:ext uri="{FF2B5EF4-FFF2-40B4-BE49-F238E27FC236}">
                      <a16:creationId xmlns:a16="http://schemas.microsoft.com/office/drawing/2014/main" id="{FE9B7AB4-54DD-FD68-A469-1EA319CB9677}"/>
                    </a:ext>
                  </a:extLst>
                </p:cNvPr>
                <p:cNvGrpSpPr/>
                <p:nvPr/>
              </p:nvGrpSpPr>
              <p:grpSpPr>
                <a:xfrm>
                  <a:off x="586961" y="3009653"/>
                  <a:ext cx="684482" cy="437455"/>
                  <a:chOff x="865264" y="3009653"/>
                  <a:chExt cx="684482" cy="437455"/>
                </a:xfrm>
              </p:grpSpPr>
              <p:sp>
                <p:nvSpPr>
                  <p:cNvPr id="488" name="TextBox 487">
                    <a:extLst>
                      <a:ext uri="{FF2B5EF4-FFF2-40B4-BE49-F238E27FC236}">
                        <a16:creationId xmlns:a16="http://schemas.microsoft.com/office/drawing/2014/main" id="{80E542B3-CB1D-1BD0-96A6-F76CB6520524}"/>
                      </a:ext>
                    </a:extLst>
                  </p:cNvPr>
                  <p:cNvSpPr txBox="1"/>
                  <p:nvPr/>
                </p:nvSpPr>
                <p:spPr>
                  <a:xfrm>
                    <a:off x="882096" y="3185498"/>
                    <a:ext cx="650819" cy="26161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7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진 수 민</a:t>
                    </a:r>
                  </a:p>
                </p:txBody>
              </p:sp>
              <p:sp>
                <p:nvSpPr>
                  <p:cNvPr id="489" name="TextBox 488">
                    <a:extLst>
                      <a:ext uri="{FF2B5EF4-FFF2-40B4-BE49-F238E27FC236}">
                        <a16:creationId xmlns:a16="http://schemas.microsoft.com/office/drawing/2014/main" id="{3BCA5581-77D9-1ADC-5026-B3D418155484}"/>
                      </a:ext>
                    </a:extLst>
                  </p:cNvPr>
                  <p:cNvSpPr txBox="1"/>
                  <p:nvPr/>
                </p:nvSpPr>
                <p:spPr>
                  <a:xfrm>
                    <a:off x="865264" y="3009653"/>
                    <a:ext cx="684482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CEO / 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대표이사</a:t>
                    </a:r>
                  </a:p>
                </p:txBody>
              </p:sp>
            </p:grpSp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40F5B687-14F3-72EC-1515-B0125386090C}"/>
                    </a:ext>
                  </a:extLst>
                </p:cNvPr>
                <p:cNvSpPr txBox="1"/>
                <p:nvPr/>
              </p:nvSpPr>
              <p:spPr>
                <a:xfrm>
                  <a:off x="586961" y="3510422"/>
                  <a:ext cx="1269258" cy="8109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88900" marR="0" lvl="0" indent="-88900" algn="l" defTabSz="4572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교보생명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단체주문 커머스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사업화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TF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장</a:t>
                  </a: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신사업기획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오픈이노베이션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연세대 경영학 석사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ROTC #48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pic>
            <p:nvPicPr>
              <p:cNvPr id="496" name="Image 1" descr="assets/team35.png">
                <a:extLst>
                  <a:ext uri="{FF2B5EF4-FFF2-40B4-BE49-F238E27FC236}">
                    <a16:creationId xmlns:a16="http://schemas.microsoft.com/office/drawing/2014/main" id="{420FB579-C0C2-29CA-45E8-2C8D8CD107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1502994" y="2346353"/>
                <a:ext cx="337255" cy="337255"/>
              </a:xfrm>
              <a:prstGeom prst="ellipse">
                <a:avLst/>
              </a:prstGeom>
            </p:spPr>
          </p:pic>
        </p:grpSp>
        <p:grpSp>
          <p:nvGrpSpPr>
            <p:cNvPr id="498" name="그룹 497">
              <a:extLst>
                <a:ext uri="{FF2B5EF4-FFF2-40B4-BE49-F238E27FC236}">
                  <a16:creationId xmlns:a16="http://schemas.microsoft.com/office/drawing/2014/main" id="{36A4E310-E801-F321-8D57-582DFEB8E47F}"/>
                </a:ext>
              </a:extLst>
            </p:cNvPr>
            <p:cNvGrpSpPr/>
            <p:nvPr/>
          </p:nvGrpSpPr>
          <p:grpSpPr>
            <a:xfrm>
              <a:off x="2114248" y="2269513"/>
              <a:ext cx="1551010" cy="1988820"/>
              <a:chOff x="432000" y="2215134"/>
              <a:chExt cx="1551010" cy="1988820"/>
            </a:xfrm>
          </p:grpSpPr>
          <p:sp>
            <p:nvSpPr>
              <p:cNvPr id="499" name="사각형: 둥근 모서리 498">
                <a:extLst>
                  <a:ext uri="{FF2B5EF4-FFF2-40B4-BE49-F238E27FC236}">
                    <a16:creationId xmlns:a16="http://schemas.microsoft.com/office/drawing/2014/main" id="{5D16A7FE-E426-4C2D-E9B9-BA12E5520945}"/>
                  </a:ext>
                </a:extLst>
              </p:cNvPr>
              <p:cNvSpPr/>
              <p:nvPr/>
            </p:nvSpPr>
            <p:spPr>
              <a:xfrm>
                <a:off x="432000" y="2215134"/>
                <a:ext cx="1551010" cy="1988820"/>
              </a:xfrm>
              <a:prstGeom prst="roundRect">
                <a:avLst>
                  <a:gd name="adj" fmla="val 4493"/>
                </a:avLst>
              </a:prstGeom>
              <a:solidFill>
                <a:schemeClr val="bg1"/>
              </a:solidFill>
              <a:ln w="6350">
                <a:solidFill>
                  <a:srgbClr val="EC657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500" name="그룹 499">
                <a:extLst>
                  <a:ext uri="{FF2B5EF4-FFF2-40B4-BE49-F238E27FC236}">
                    <a16:creationId xmlns:a16="http://schemas.microsoft.com/office/drawing/2014/main" id="{62423E49-A3A3-C3D2-7CCC-2BA61382F9BE}"/>
                  </a:ext>
                </a:extLst>
              </p:cNvPr>
              <p:cNvGrpSpPr/>
              <p:nvPr/>
            </p:nvGrpSpPr>
            <p:grpSpPr>
              <a:xfrm>
                <a:off x="567083" y="2742314"/>
                <a:ext cx="1091966" cy="965833"/>
                <a:chOff x="586961" y="3009653"/>
                <a:chExt cx="1091966" cy="965833"/>
              </a:xfrm>
            </p:grpSpPr>
            <p:grpSp>
              <p:nvGrpSpPr>
                <p:cNvPr id="502" name="그룹 501">
                  <a:extLst>
                    <a:ext uri="{FF2B5EF4-FFF2-40B4-BE49-F238E27FC236}">
                      <a16:creationId xmlns:a16="http://schemas.microsoft.com/office/drawing/2014/main" id="{BA6F898E-5D41-302D-D869-43826929AD1C}"/>
                    </a:ext>
                  </a:extLst>
                </p:cNvPr>
                <p:cNvGrpSpPr/>
                <p:nvPr/>
              </p:nvGrpSpPr>
              <p:grpSpPr>
                <a:xfrm>
                  <a:off x="586961" y="3009653"/>
                  <a:ext cx="797654" cy="437455"/>
                  <a:chOff x="865264" y="3009653"/>
                  <a:chExt cx="797654" cy="437455"/>
                </a:xfrm>
              </p:grpSpPr>
              <p:sp>
                <p:nvSpPr>
                  <p:cNvPr id="504" name="TextBox 503">
                    <a:extLst>
                      <a:ext uri="{FF2B5EF4-FFF2-40B4-BE49-F238E27FC236}">
                        <a16:creationId xmlns:a16="http://schemas.microsoft.com/office/drawing/2014/main" id="{58FB567C-6710-E161-AAFA-8224CF24CEE5}"/>
                      </a:ext>
                    </a:extLst>
                  </p:cNvPr>
                  <p:cNvSpPr txBox="1"/>
                  <p:nvPr/>
                </p:nvSpPr>
                <p:spPr>
                  <a:xfrm>
                    <a:off x="882096" y="3185498"/>
                    <a:ext cx="650819" cy="26161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7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안 재 헌</a:t>
                    </a:r>
                  </a:p>
                </p:txBody>
              </p:sp>
              <p:sp>
                <p:nvSpPr>
                  <p:cNvPr id="505" name="TextBox 504">
                    <a:extLst>
                      <a:ext uri="{FF2B5EF4-FFF2-40B4-BE49-F238E27FC236}">
                        <a16:creationId xmlns:a16="http://schemas.microsoft.com/office/drawing/2014/main" id="{4679D526-0444-134A-64B8-E6D77CA1B273}"/>
                      </a:ext>
                    </a:extLst>
                  </p:cNvPr>
                  <p:cNvSpPr txBox="1"/>
                  <p:nvPr/>
                </p:nvSpPr>
                <p:spPr>
                  <a:xfrm>
                    <a:off x="865264" y="3009653"/>
                    <a:ext cx="797654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COO / 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운영책임자</a:t>
                    </a:r>
                  </a:p>
                </p:txBody>
              </p:sp>
            </p:grpSp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AD2596CF-2E96-F3A9-D9DD-0AFF67E0DE65}"/>
                    </a:ext>
                  </a:extLst>
                </p:cNvPr>
                <p:cNvSpPr txBox="1"/>
                <p:nvPr/>
              </p:nvSpPr>
              <p:spPr>
                <a:xfrm>
                  <a:off x="586961" y="3510422"/>
                  <a:ext cx="1091966" cy="4650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88900" marR="0" lvl="0" indent="-8890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교보생명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제집행비 실행</a:t>
                  </a: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설계사 제도기준 기획</a:t>
                  </a: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고려대 행정학 학사</a:t>
                  </a:r>
                </a:p>
              </p:txBody>
            </p:sp>
          </p:grpSp>
          <p:pic>
            <p:nvPicPr>
              <p:cNvPr id="501" name="Image 1">
                <a:extLst>
                  <a:ext uri="{FF2B5EF4-FFF2-40B4-BE49-F238E27FC236}">
                    <a16:creationId xmlns:a16="http://schemas.microsoft.com/office/drawing/2014/main" id="{558798BB-F819-E05B-877E-AA151BED4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1502994" y="2346353"/>
                <a:ext cx="337255" cy="337255"/>
              </a:xfrm>
              <a:prstGeom prst="ellipse">
                <a:avLst/>
              </a:prstGeom>
            </p:spPr>
          </p:pic>
        </p:grpSp>
        <p:sp>
          <p:nvSpPr>
            <p:cNvPr id="507" name="사각형: 둥근 모서리 506">
              <a:extLst>
                <a:ext uri="{FF2B5EF4-FFF2-40B4-BE49-F238E27FC236}">
                  <a16:creationId xmlns:a16="http://schemas.microsoft.com/office/drawing/2014/main" id="{4A5476FD-FA6C-2A9E-CB4B-3AAD17D30AA8}"/>
                </a:ext>
              </a:extLst>
            </p:cNvPr>
            <p:cNvSpPr/>
            <p:nvPr/>
          </p:nvSpPr>
          <p:spPr>
            <a:xfrm>
              <a:off x="3796496" y="2269513"/>
              <a:ext cx="1551010" cy="1988820"/>
            </a:xfrm>
            <a:prstGeom prst="roundRect">
              <a:avLst>
                <a:gd name="adj" fmla="val 4493"/>
              </a:avLst>
            </a:prstGeom>
            <a:solidFill>
              <a:schemeClr val="bg1"/>
            </a:solidFill>
            <a:ln w="6350">
              <a:solidFill>
                <a:srgbClr val="EC657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8" name="그룹 507">
              <a:extLst>
                <a:ext uri="{FF2B5EF4-FFF2-40B4-BE49-F238E27FC236}">
                  <a16:creationId xmlns:a16="http://schemas.microsoft.com/office/drawing/2014/main" id="{AA460920-EC9E-3EA1-0D71-CC9B5B893866}"/>
                </a:ext>
              </a:extLst>
            </p:cNvPr>
            <p:cNvGrpSpPr/>
            <p:nvPr/>
          </p:nvGrpSpPr>
          <p:grpSpPr>
            <a:xfrm>
              <a:off x="3931579" y="2796693"/>
              <a:ext cx="996427" cy="965833"/>
              <a:chOff x="586961" y="3009653"/>
              <a:chExt cx="996427" cy="965833"/>
            </a:xfrm>
          </p:grpSpPr>
          <p:grpSp>
            <p:nvGrpSpPr>
              <p:cNvPr id="510" name="그룹 509">
                <a:extLst>
                  <a:ext uri="{FF2B5EF4-FFF2-40B4-BE49-F238E27FC236}">
                    <a16:creationId xmlns:a16="http://schemas.microsoft.com/office/drawing/2014/main" id="{788390C9-8FCC-9429-D8D5-7E1723569BA0}"/>
                  </a:ext>
                </a:extLst>
              </p:cNvPr>
              <p:cNvGrpSpPr/>
              <p:nvPr/>
            </p:nvGrpSpPr>
            <p:grpSpPr>
              <a:xfrm>
                <a:off x="586961" y="3009653"/>
                <a:ext cx="907621" cy="437455"/>
                <a:chOff x="865264" y="3009653"/>
                <a:chExt cx="907621" cy="437455"/>
              </a:xfrm>
            </p:grpSpPr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DF6A1256-46AD-516C-B62C-B9E4DAF0BBCC}"/>
                    </a:ext>
                  </a:extLst>
                </p:cNvPr>
                <p:cNvSpPr txBox="1"/>
                <p:nvPr/>
              </p:nvSpPr>
              <p:spPr>
                <a:xfrm>
                  <a:off x="882096" y="3185498"/>
                  <a:ext cx="650819" cy="261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7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염 승 민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EFA21805-3BF5-4301-BDDD-D0E2EE4D021D}"/>
                    </a:ext>
                  </a:extLst>
                </p:cNvPr>
                <p:cNvSpPr txBox="1"/>
                <p:nvPr/>
              </p:nvSpPr>
              <p:spPr>
                <a:xfrm>
                  <a:off x="865264" y="3009653"/>
                  <a:ext cx="90762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CMO /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마케팅책임자</a:t>
                  </a:r>
                </a:p>
              </p:txBody>
            </p:sp>
          </p:grp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321FA1D3-FC1E-1258-ABC1-555D9533601A}"/>
                  </a:ext>
                </a:extLst>
              </p:cNvPr>
              <p:cNvSpPr txBox="1"/>
              <p:nvPr/>
            </p:nvSpPr>
            <p:spPr>
              <a:xfrm>
                <a:off x="586961" y="3510422"/>
                <a:ext cx="996427" cy="4650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88900" marR="0" lvl="0" indent="-88900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보험 대리점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인사</a:t>
                </a:r>
              </a:p>
              <a:p>
                <a:pPr marL="88900" marR="0" lvl="0" indent="-88900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ROTC #52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BD90FF60-7711-0D39-3F26-EDDDDE926295}"/>
                </a:ext>
              </a:extLst>
            </p:cNvPr>
            <p:cNvGrpSpPr/>
            <p:nvPr/>
          </p:nvGrpSpPr>
          <p:grpSpPr>
            <a:xfrm>
              <a:off x="5478744" y="2269513"/>
              <a:ext cx="1551010" cy="1988820"/>
              <a:chOff x="432000" y="2215134"/>
              <a:chExt cx="1551010" cy="1988820"/>
            </a:xfrm>
          </p:grpSpPr>
          <p:sp>
            <p:nvSpPr>
              <p:cNvPr id="259" name="사각형: 둥근 모서리 258">
                <a:extLst>
                  <a:ext uri="{FF2B5EF4-FFF2-40B4-BE49-F238E27FC236}">
                    <a16:creationId xmlns:a16="http://schemas.microsoft.com/office/drawing/2014/main" id="{9FEAA33A-27AF-0258-418B-A1C283BDBD51}"/>
                  </a:ext>
                </a:extLst>
              </p:cNvPr>
              <p:cNvSpPr/>
              <p:nvPr/>
            </p:nvSpPr>
            <p:spPr>
              <a:xfrm>
                <a:off x="432000" y="2215134"/>
                <a:ext cx="1551010" cy="1988820"/>
              </a:xfrm>
              <a:prstGeom prst="roundRect">
                <a:avLst>
                  <a:gd name="adj" fmla="val 4493"/>
                </a:avLst>
              </a:prstGeom>
              <a:solidFill>
                <a:schemeClr val="bg1"/>
              </a:solidFill>
              <a:ln w="6350">
                <a:solidFill>
                  <a:srgbClr val="EC657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60" name="그룹 259">
                <a:extLst>
                  <a:ext uri="{FF2B5EF4-FFF2-40B4-BE49-F238E27FC236}">
                    <a16:creationId xmlns:a16="http://schemas.microsoft.com/office/drawing/2014/main" id="{1B34C2FD-1C4B-7D31-2596-47CE731FD029}"/>
                  </a:ext>
                </a:extLst>
              </p:cNvPr>
              <p:cNvGrpSpPr/>
              <p:nvPr/>
            </p:nvGrpSpPr>
            <p:grpSpPr>
              <a:xfrm>
                <a:off x="567083" y="2742314"/>
                <a:ext cx="1091966" cy="806558"/>
                <a:chOff x="586961" y="3009653"/>
                <a:chExt cx="1091966" cy="806558"/>
              </a:xfrm>
            </p:grpSpPr>
            <p:grpSp>
              <p:nvGrpSpPr>
                <p:cNvPr id="262" name="그룹 261">
                  <a:extLst>
                    <a:ext uri="{FF2B5EF4-FFF2-40B4-BE49-F238E27FC236}">
                      <a16:creationId xmlns:a16="http://schemas.microsoft.com/office/drawing/2014/main" id="{B570DF96-9C58-E7BE-66A6-DD916AFAF872}"/>
                    </a:ext>
                  </a:extLst>
                </p:cNvPr>
                <p:cNvGrpSpPr/>
                <p:nvPr/>
              </p:nvGrpSpPr>
              <p:grpSpPr>
                <a:xfrm>
                  <a:off x="586961" y="3009653"/>
                  <a:ext cx="667651" cy="437455"/>
                  <a:chOff x="865264" y="3009653"/>
                  <a:chExt cx="667651" cy="437455"/>
                </a:xfrm>
              </p:grpSpPr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A702653E-741D-48CA-C8BC-B751C509B0FB}"/>
                      </a:ext>
                    </a:extLst>
                  </p:cNvPr>
                  <p:cNvSpPr txBox="1"/>
                  <p:nvPr/>
                </p:nvSpPr>
                <p:spPr>
                  <a:xfrm>
                    <a:off x="882096" y="3185498"/>
                    <a:ext cx="650819" cy="26161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7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안 정 윤</a:t>
                    </a: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4C2FFDFD-0A6E-0CE4-E149-9808FC013D86}"/>
                      </a:ext>
                    </a:extLst>
                  </p:cNvPr>
                  <p:cNvSpPr txBox="1"/>
                  <p:nvPr/>
                </p:nvSpPr>
                <p:spPr>
                  <a:xfrm>
                    <a:off x="865264" y="3009653"/>
                    <a:ext cx="598241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콘텐츠 마케터</a:t>
                    </a:r>
                  </a:p>
                </p:txBody>
              </p:sp>
            </p:grp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6425517C-7686-B504-61FA-54342F3DA819}"/>
                    </a:ext>
                  </a:extLst>
                </p:cNvPr>
                <p:cNvSpPr txBox="1"/>
                <p:nvPr/>
              </p:nvSpPr>
              <p:spPr>
                <a:xfrm>
                  <a:off x="586961" y="3510422"/>
                  <a:ext cx="1091966" cy="3057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88900" marR="0" lvl="0" indent="-88900" algn="l" defTabSz="4572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서울대 농생명공학 석사</a:t>
                  </a: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고려대 학사</a:t>
                  </a:r>
                </a:p>
              </p:txBody>
            </p:sp>
          </p:grpSp>
          <p:pic>
            <p:nvPicPr>
              <p:cNvPr id="261" name="Image 1">
                <a:extLst>
                  <a:ext uri="{FF2B5EF4-FFF2-40B4-BE49-F238E27FC236}">
                    <a16:creationId xmlns:a16="http://schemas.microsoft.com/office/drawing/2014/main" id="{0F08D9E9-0D87-3C9D-62FA-A637335A5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1502994" y="2346353"/>
                <a:ext cx="337255" cy="337255"/>
              </a:xfrm>
              <a:prstGeom prst="ellipse">
                <a:avLst/>
              </a:prstGeom>
            </p:spPr>
          </p:pic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D77E5381-AD31-7280-C64D-89FB08EAF445}"/>
                </a:ext>
              </a:extLst>
            </p:cNvPr>
            <p:cNvGrpSpPr/>
            <p:nvPr/>
          </p:nvGrpSpPr>
          <p:grpSpPr>
            <a:xfrm>
              <a:off x="7160990" y="2269513"/>
              <a:ext cx="1551010" cy="1988820"/>
              <a:chOff x="432000" y="2215134"/>
              <a:chExt cx="1551010" cy="1988820"/>
            </a:xfrm>
          </p:grpSpPr>
          <p:sp>
            <p:nvSpPr>
              <p:cNvPr id="267" name="사각형: 둥근 모서리 266">
                <a:extLst>
                  <a:ext uri="{FF2B5EF4-FFF2-40B4-BE49-F238E27FC236}">
                    <a16:creationId xmlns:a16="http://schemas.microsoft.com/office/drawing/2014/main" id="{CEBDC849-096D-EE65-1C8F-3166D15BDDD7}"/>
                  </a:ext>
                </a:extLst>
              </p:cNvPr>
              <p:cNvSpPr/>
              <p:nvPr/>
            </p:nvSpPr>
            <p:spPr>
              <a:xfrm>
                <a:off x="432000" y="2215134"/>
                <a:ext cx="1551010" cy="1988820"/>
              </a:xfrm>
              <a:prstGeom prst="roundRect">
                <a:avLst>
                  <a:gd name="adj" fmla="val 4493"/>
                </a:avLst>
              </a:prstGeom>
              <a:solidFill>
                <a:schemeClr val="bg1"/>
              </a:solidFill>
              <a:ln w="6350">
                <a:solidFill>
                  <a:srgbClr val="EC657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68" name="그룹 267">
                <a:extLst>
                  <a:ext uri="{FF2B5EF4-FFF2-40B4-BE49-F238E27FC236}">
                    <a16:creationId xmlns:a16="http://schemas.microsoft.com/office/drawing/2014/main" id="{FA48405B-C84B-3114-B680-34028591405B}"/>
                  </a:ext>
                </a:extLst>
              </p:cNvPr>
              <p:cNvGrpSpPr/>
              <p:nvPr/>
            </p:nvGrpSpPr>
            <p:grpSpPr>
              <a:xfrm>
                <a:off x="567083" y="2742314"/>
                <a:ext cx="1091966" cy="965833"/>
                <a:chOff x="586961" y="3009653"/>
                <a:chExt cx="1091966" cy="965833"/>
              </a:xfrm>
            </p:grpSpPr>
            <p:grpSp>
              <p:nvGrpSpPr>
                <p:cNvPr id="270" name="그룹 269">
                  <a:extLst>
                    <a:ext uri="{FF2B5EF4-FFF2-40B4-BE49-F238E27FC236}">
                      <a16:creationId xmlns:a16="http://schemas.microsoft.com/office/drawing/2014/main" id="{D029A84C-974F-EBBE-A469-BF7613AE1DF4}"/>
                    </a:ext>
                  </a:extLst>
                </p:cNvPr>
                <p:cNvGrpSpPr/>
                <p:nvPr/>
              </p:nvGrpSpPr>
              <p:grpSpPr>
                <a:xfrm>
                  <a:off x="586961" y="3009653"/>
                  <a:ext cx="667651" cy="437455"/>
                  <a:chOff x="865264" y="3009653"/>
                  <a:chExt cx="667651" cy="437455"/>
                </a:xfrm>
              </p:grpSpPr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6BE1E957-B7DE-3720-D8E0-B0F5C2058CDC}"/>
                      </a:ext>
                    </a:extLst>
                  </p:cNvPr>
                  <p:cNvSpPr txBox="1"/>
                  <p:nvPr/>
                </p:nvSpPr>
                <p:spPr>
                  <a:xfrm>
                    <a:off x="882096" y="3185498"/>
                    <a:ext cx="650819" cy="26161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7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권 현 경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81D44DDB-D1AA-999B-6A29-F205BBA71CF9}"/>
                      </a:ext>
                    </a:extLst>
                  </p:cNvPr>
                  <p:cNvSpPr txBox="1"/>
                  <p:nvPr/>
                </p:nvSpPr>
                <p:spPr>
                  <a:xfrm>
                    <a:off x="865264" y="3009653"/>
                    <a:ext cx="480260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마케팅 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a:t>MD</a:t>
                    </a:r>
                  </a:p>
                </p:txBody>
              </p:sp>
            </p:grp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69D14AB-15E9-AEF0-00E2-A420D610FF52}"/>
                    </a:ext>
                  </a:extLst>
                </p:cNvPr>
                <p:cNvSpPr txBox="1"/>
                <p:nvPr/>
              </p:nvSpPr>
              <p:spPr>
                <a:xfrm>
                  <a:off x="586961" y="3510422"/>
                  <a:ext cx="1091966" cy="4650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88900" marR="0" lvl="0" indent="-88900" algn="l" defTabSz="4572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무료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배달앱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두잇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 MD</a:t>
                  </a: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취업박람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컨설팅사 경력</a:t>
                  </a:r>
                </a:p>
                <a:p>
                  <a:pPr marL="88900" marR="0" lvl="0" indent="-88900" algn="l" defTabSz="4572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식품공학 석사</a:t>
                  </a:r>
                </a:p>
              </p:txBody>
            </p:sp>
          </p:grpSp>
          <p:pic>
            <p:nvPicPr>
              <p:cNvPr id="269" name="Image 1">
                <a:extLst>
                  <a:ext uri="{FF2B5EF4-FFF2-40B4-BE49-F238E27FC236}">
                    <a16:creationId xmlns:a16="http://schemas.microsoft.com/office/drawing/2014/main" id="{82F8F8F3-5209-9191-C612-FC7DD0061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/>
              <a:stretch/>
            </p:blipFill>
            <p:spPr>
              <a:xfrm>
                <a:off x="1502994" y="2346353"/>
                <a:ext cx="337255" cy="337255"/>
              </a:xfrm>
              <a:prstGeom prst="ellipse">
                <a:avLst/>
              </a:prstGeom>
            </p:spPr>
          </p:pic>
        </p:grpSp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8A449DB4-80E2-422C-8879-3C3A234A81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alphaModFix amt="26000"/>
            </a:blip>
            <a:srcRect l="-19634" t="-16793" r="-4977" b="5045"/>
            <a:stretch>
              <a:fillRect/>
            </a:stretch>
          </p:blipFill>
          <p:spPr>
            <a:xfrm>
              <a:off x="4867490" y="2400732"/>
              <a:ext cx="338400" cy="338400"/>
            </a:xfrm>
            <a:prstGeom prst="ellipse">
              <a:avLst/>
            </a:prstGeom>
            <a:solidFill>
              <a:srgbClr val="232323">
                <a:alpha val="22000"/>
              </a:srgbClr>
            </a:solidFill>
          </p:spPr>
        </p:pic>
      </p:grpSp>
      <p:sp>
        <p:nvSpPr>
          <p:cNvPr id="280" name="TextBox 279">
            <a:extLst>
              <a:ext uri="{FF2B5EF4-FFF2-40B4-BE49-F238E27FC236}">
                <a16:creationId xmlns:a16="http://schemas.microsoft.com/office/drawing/2014/main" id="{61817AD2-F0E9-EDF5-251E-8DB00C13105F}"/>
              </a:ext>
            </a:extLst>
          </p:cNvPr>
          <p:cNvSpPr txBox="1"/>
          <p:nvPr/>
        </p:nvSpPr>
        <p:spPr>
          <a:xfrm>
            <a:off x="432000" y="4620296"/>
            <a:ext cx="1363515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Key Partner ·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투자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BF660E6-582F-157B-5312-6B61A11E3041}"/>
              </a:ext>
            </a:extLst>
          </p:cNvPr>
          <p:cNvSpPr txBox="1"/>
          <p:nvPr/>
        </p:nvSpPr>
        <p:spPr>
          <a:xfrm>
            <a:off x="490615" y="5059895"/>
            <a:ext cx="1735732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교보생명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사내벤처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핵심 테스트베드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6255F864-C1C3-A124-2308-23C95A7ADCBA}"/>
              </a:ext>
            </a:extLst>
          </p:cNvPr>
          <p:cNvCxnSpPr>
            <a:cxnSpLocks/>
          </p:cNvCxnSpPr>
          <p:nvPr/>
        </p:nvCxnSpPr>
        <p:spPr>
          <a:xfrm>
            <a:off x="432000" y="4925945"/>
            <a:ext cx="2597281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E6691EF1-0C9F-2368-BEB0-ECF9C8465B0B}"/>
              </a:ext>
            </a:extLst>
          </p:cNvPr>
          <p:cNvSpPr txBox="1"/>
          <p:nvPr/>
        </p:nvSpPr>
        <p:spPr>
          <a:xfrm>
            <a:off x="490615" y="5466294"/>
            <a:ext cx="1585049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Post-Value 20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Seed 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억원 투자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C15E4B11-DA85-FBE3-B3A8-3D0464D8C2BF}"/>
              </a:ext>
            </a:extLst>
          </p:cNvPr>
          <p:cNvCxnSpPr>
            <a:cxnSpLocks/>
          </p:cNvCxnSpPr>
          <p:nvPr/>
        </p:nvCxnSpPr>
        <p:spPr>
          <a:xfrm>
            <a:off x="432000" y="5332344"/>
            <a:ext cx="2597281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829F0266-B891-3323-15AA-2BCBAE853900}"/>
              </a:ext>
            </a:extLst>
          </p:cNvPr>
          <p:cNvSpPr txBox="1"/>
          <p:nvPr/>
        </p:nvSpPr>
        <p:spPr>
          <a:xfrm>
            <a:off x="490615" y="5872694"/>
            <a:ext cx="1569340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신용보증기금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 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유치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('25.12)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57F17FAF-797A-D1CE-5CE2-4C1A964287E1}"/>
              </a:ext>
            </a:extLst>
          </p:cNvPr>
          <p:cNvCxnSpPr>
            <a:cxnSpLocks/>
          </p:cNvCxnSpPr>
          <p:nvPr/>
        </p:nvCxnSpPr>
        <p:spPr>
          <a:xfrm>
            <a:off x="432000" y="5738744"/>
            <a:ext cx="2597281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1336A96B-AF92-CB02-A405-2DE3280D5C1B}"/>
              </a:ext>
            </a:extLst>
          </p:cNvPr>
          <p:cNvSpPr txBox="1"/>
          <p:nvPr/>
        </p:nvSpPr>
        <p:spPr>
          <a:xfrm>
            <a:off x="3273360" y="4620299"/>
            <a:ext cx="157382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Technology Partner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56291472-18B2-1731-A15C-00780E0D60DB}"/>
              </a:ext>
            </a:extLst>
          </p:cNvPr>
          <p:cNvSpPr txBox="1"/>
          <p:nvPr/>
        </p:nvSpPr>
        <p:spPr>
          <a:xfrm>
            <a:off x="3331975" y="5032546"/>
            <a:ext cx="1571264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기반 커머스 솔루션 제공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 이전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8690CFB5-5AEF-9965-2D3F-FB66D83E8B49}"/>
              </a:ext>
            </a:extLst>
          </p:cNvPr>
          <p:cNvCxnSpPr>
            <a:cxnSpLocks/>
          </p:cNvCxnSpPr>
          <p:nvPr/>
        </p:nvCxnSpPr>
        <p:spPr>
          <a:xfrm>
            <a:off x="3273360" y="4925953"/>
            <a:ext cx="2597281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F67117F8-EFEA-89FF-1667-E96CEA4D9B17}"/>
              </a:ext>
            </a:extLst>
          </p:cNvPr>
          <p:cNvSpPr txBox="1"/>
          <p:nvPr/>
        </p:nvSpPr>
        <p:spPr>
          <a:xfrm>
            <a:off x="3331975" y="5384231"/>
            <a:ext cx="787716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데이터마케팅 지원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2D4926CA-279C-EBF7-2AFA-A57FEA25D6D8}"/>
              </a:ext>
            </a:extLst>
          </p:cNvPr>
          <p:cNvCxnSpPr>
            <a:cxnSpLocks/>
          </p:cNvCxnSpPr>
          <p:nvPr/>
        </p:nvCxnSpPr>
        <p:spPr>
          <a:xfrm>
            <a:off x="3273360" y="5277638"/>
            <a:ext cx="2597281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3AB4FF01-01D5-BF76-18DD-C1790071DF97}"/>
              </a:ext>
            </a:extLst>
          </p:cNvPr>
          <p:cNvSpPr txBox="1"/>
          <p:nvPr/>
        </p:nvSpPr>
        <p:spPr>
          <a:xfrm>
            <a:off x="3331975" y="5735916"/>
            <a:ext cx="1726755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그로스해커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데이터분석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디자인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과제 참여연구 브리지 인력으로 투입</a:t>
            </a:r>
          </a:p>
        </p:txBody>
      </p: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B76CBE96-BCCA-D4C0-CD05-58DC552822AF}"/>
              </a:ext>
            </a:extLst>
          </p:cNvPr>
          <p:cNvCxnSpPr>
            <a:cxnSpLocks/>
          </p:cNvCxnSpPr>
          <p:nvPr/>
        </p:nvCxnSpPr>
        <p:spPr>
          <a:xfrm>
            <a:off x="3273360" y="5629323"/>
            <a:ext cx="2597281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B7493D0-E261-E032-88A0-C778183C0937}"/>
              </a:ext>
            </a:extLst>
          </p:cNvPr>
          <p:cNvSpPr txBox="1"/>
          <p:nvPr/>
        </p:nvSpPr>
        <p:spPr>
          <a:xfrm>
            <a:off x="6114721" y="4620297"/>
            <a:ext cx="706604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Advisors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BCAF5A7-32A6-17A0-A432-0841471C45BE}"/>
              </a:ext>
            </a:extLst>
          </p:cNvPr>
          <p:cNvSpPr txBox="1"/>
          <p:nvPr/>
        </p:nvSpPr>
        <p:spPr>
          <a:xfrm>
            <a:off x="6173336" y="5005183"/>
            <a:ext cx="2467983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특허법인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MAPS - TIPS IP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포트폴리오 검토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특허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프로세스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건 출원 지원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cxnSp>
        <p:nvCxnSpPr>
          <p:cNvPr id="347" name="직선 연결선 346">
            <a:extLst>
              <a:ext uri="{FF2B5EF4-FFF2-40B4-BE49-F238E27FC236}">
                <a16:creationId xmlns:a16="http://schemas.microsoft.com/office/drawing/2014/main" id="{DC52AB20-78E5-3BBA-D4A2-CA1E8558FC59}"/>
              </a:ext>
            </a:extLst>
          </p:cNvPr>
          <p:cNvCxnSpPr>
            <a:cxnSpLocks/>
          </p:cNvCxnSpPr>
          <p:nvPr/>
        </p:nvCxnSpPr>
        <p:spPr>
          <a:xfrm>
            <a:off x="6114721" y="4925948"/>
            <a:ext cx="2597281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>
            <a:extLst>
              <a:ext uri="{FF2B5EF4-FFF2-40B4-BE49-F238E27FC236}">
                <a16:creationId xmlns:a16="http://schemas.microsoft.com/office/drawing/2014/main" id="{4E15CB22-0AFB-FA4F-06A6-C461897D884F}"/>
              </a:ext>
            </a:extLst>
          </p:cNvPr>
          <p:cNvSpPr txBox="1"/>
          <p:nvPr/>
        </p:nvSpPr>
        <p:spPr>
          <a:xfrm>
            <a:off x="6173336" y="5466300"/>
            <a:ext cx="2432076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법률사무소 사유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 계약 프로세스화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대규모 유저 유입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리스크 법률 자문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349" name="직선 연결선 348">
            <a:extLst>
              <a:ext uri="{FF2B5EF4-FFF2-40B4-BE49-F238E27FC236}">
                <a16:creationId xmlns:a16="http://schemas.microsoft.com/office/drawing/2014/main" id="{6CE577C9-17BE-4495-F6DE-3344AF9C7523}"/>
              </a:ext>
            </a:extLst>
          </p:cNvPr>
          <p:cNvCxnSpPr>
            <a:cxnSpLocks/>
          </p:cNvCxnSpPr>
          <p:nvPr/>
        </p:nvCxnSpPr>
        <p:spPr>
          <a:xfrm>
            <a:off x="6114721" y="5387065"/>
            <a:ext cx="2597281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TextBox 349">
            <a:extLst>
              <a:ext uri="{FF2B5EF4-FFF2-40B4-BE49-F238E27FC236}">
                <a16:creationId xmlns:a16="http://schemas.microsoft.com/office/drawing/2014/main" id="{2CBE6F9B-30D9-A298-CD27-7101BB42899B}"/>
              </a:ext>
            </a:extLst>
          </p:cNvPr>
          <p:cNvSpPr txBox="1"/>
          <p:nvPr/>
        </p:nvSpPr>
        <p:spPr>
          <a:xfrm>
            <a:off x="6173336" y="5927417"/>
            <a:ext cx="2433679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서울창업허브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등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입주 공간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스타트업 네트워크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사업 지원</a:t>
            </a:r>
          </a:p>
        </p:txBody>
      </p:sp>
      <p:cxnSp>
        <p:nvCxnSpPr>
          <p:cNvPr id="351" name="직선 연결선 350">
            <a:extLst>
              <a:ext uri="{FF2B5EF4-FFF2-40B4-BE49-F238E27FC236}">
                <a16:creationId xmlns:a16="http://schemas.microsoft.com/office/drawing/2014/main" id="{B508AFF9-539E-F8BE-809B-352FF661E7E2}"/>
              </a:ext>
            </a:extLst>
          </p:cNvPr>
          <p:cNvCxnSpPr>
            <a:cxnSpLocks/>
          </p:cNvCxnSpPr>
          <p:nvPr/>
        </p:nvCxnSpPr>
        <p:spPr>
          <a:xfrm>
            <a:off x="6114721" y="5848182"/>
            <a:ext cx="2597281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0" name="Image 6" descr="assets/logo40.png">
            <a:extLst>
              <a:ext uri="{FF2B5EF4-FFF2-40B4-BE49-F238E27FC236}">
                <a16:creationId xmlns:a16="http://schemas.microsoft.com/office/drawing/2014/main" id="{587ADCA6-BA01-C304-2BD7-DBA0364281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1121" y="4508626"/>
            <a:ext cx="788670" cy="427674"/>
          </a:xfrm>
          <a:prstGeom prst="rect">
            <a:avLst/>
          </a:prstGeom>
        </p:spPr>
      </p:pic>
      <p:grpSp>
        <p:nvGrpSpPr>
          <p:cNvPr id="373" name="그룹 372">
            <a:extLst>
              <a:ext uri="{FF2B5EF4-FFF2-40B4-BE49-F238E27FC236}">
                <a16:creationId xmlns:a16="http://schemas.microsoft.com/office/drawing/2014/main" id="{64651E66-CE0D-D213-AC36-F7E2A46E7BB6}"/>
              </a:ext>
            </a:extLst>
          </p:cNvPr>
          <p:cNvGrpSpPr/>
          <p:nvPr/>
        </p:nvGrpSpPr>
        <p:grpSpPr>
          <a:xfrm>
            <a:off x="7169612" y="4685376"/>
            <a:ext cx="1542390" cy="138642"/>
            <a:chOff x="15840427" y="5138166"/>
            <a:chExt cx="2441448" cy="219456"/>
          </a:xfrm>
        </p:grpSpPr>
        <p:pic>
          <p:nvPicPr>
            <p:cNvPr id="363" name="Image 10" descr="assets/logo42.png">
              <a:extLst>
                <a:ext uri="{FF2B5EF4-FFF2-40B4-BE49-F238E27FC236}">
                  <a16:creationId xmlns:a16="http://schemas.microsoft.com/office/drawing/2014/main" id="{80F2E4B6-8E11-5C52-EE8C-453234E30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5840427" y="5138166"/>
              <a:ext cx="548640" cy="219456"/>
            </a:xfrm>
            <a:prstGeom prst="rect">
              <a:avLst/>
            </a:prstGeom>
          </p:spPr>
        </p:pic>
        <p:pic>
          <p:nvPicPr>
            <p:cNvPr id="365" name="Image 11" descr="assets/logo43.png">
              <a:extLst>
                <a:ext uri="{FF2B5EF4-FFF2-40B4-BE49-F238E27FC236}">
                  <a16:creationId xmlns:a16="http://schemas.microsoft.com/office/drawing/2014/main" id="{99DEEE73-4ADB-54E8-7951-84B8A03FF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16471363" y="5138166"/>
              <a:ext cx="548640" cy="219456"/>
            </a:xfrm>
            <a:prstGeom prst="rect">
              <a:avLst/>
            </a:prstGeom>
          </p:spPr>
        </p:pic>
        <p:pic>
          <p:nvPicPr>
            <p:cNvPr id="370" name="Image 12" descr="assets/logo44.png">
              <a:extLst>
                <a:ext uri="{FF2B5EF4-FFF2-40B4-BE49-F238E27FC236}">
                  <a16:creationId xmlns:a16="http://schemas.microsoft.com/office/drawing/2014/main" id="{262908CE-9607-A45D-74AE-C9513727A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17102299" y="5138166"/>
              <a:ext cx="548640" cy="219456"/>
            </a:xfrm>
            <a:prstGeom prst="rect">
              <a:avLst/>
            </a:prstGeom>
          </p:spPr>
        </p:pic>
        <p:pic>
          <p:nvPicPr>
            <p:cNvPr id="372" name="Image 13" descr="assets/logo45.png">
              <a:extLst>
                <a:ext uri="{FF2B5EF4-FFF2-40B4-BE49-F238E27FC236}">
                  <a16:creationId xmlns:a16="http://schemas.microsoft.com/office/drawing/2014/main" id="{2FC67308-C10D-600D-247C-F570EA678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7733235" y="5138166"/>
              <a:ext cx="548640" cy="219456"/>
            </a:xfrm>
            <a:prstGeom prst="rect">
              <a:avLst/>
            </a:prstGeom>
          </p:spPr>
        </p:pic>
      </p:grp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AC92C3FF-24F0-C029-C6E8-73DF4CBFB500}"/>
              </a:ext>
            </a:extLst>
          </p:cNvPr>
          <p:cNvCxnSpPr>
            <a:cxnSpLocks/>
          </p:cNvCxnSpPr>
          <p:nvPr/>
        </p:nvCxnSpPr>
        <p:spPr>
          <a:xfrm>
            <a:off x="432000" y="6145145"/>
            <a:ext cx="2597281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3C5EBDE9-5383-E462-7E89-3335EDCB9822}"/>
              </a:ext>
            </a:extLst>
          </p:cNvPr>
          <p:cNvCxnSpPr>
            <a:cxnSpLocks/>
          </p:cNvCxnSpPr>
          <p:nvPr/>
        </p:nvCxnSpPr>
        <p:spPr>
          <a:xfrm>
            <a:off x="3273360" y="6145153"/>
            <a:ext cx="2597281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00332AA3-D994-6003-CFA1-15A51DF36A9D}"/>
              </a:ext>
            </a:extLst>
          </p:cNvPr>
          <p:cNvCxnSpPr>
            <a:cxnSpLocks/>
          </p:cNvCxnSpPr>
          <p:nvPr/>
        </p:nvCxnSpPr>
        <p:spPr>
          <a:xfrm>
            <a:off x="6114721" y="6145148"/>
            <a:ext cx="2597281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D3F6149-A094-E374-7A16-88C998780C59}"/>
              </a:ext>
            </a:extLst>
          </p:cNvPr>
          <p:cNvGrpSpPr/>
          <p:nvPr/>
        </p:nvGrpSpPr>
        <p:grpSpPr>
          <a:xfrm>
            <a:off x="2167496" y="1917144"/>
            <a:ext cx="4809009" cy="404562"/>
            <a:chOff x="1400175" y="1570434"/>
            <a:chExt cx="4809009" cy="4045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0C43CB-2E39-123F-CC10-E3B719E78A68}"/>
                </a:ext>
              </a:extLst>
            </p:cNvPr>
            <p:cNvSpPr txBox="1"/>
            <p:nvPr/>
          </p:nvSpPr>
          <p:spPr>
            <a:xfrm>
              <a:off x="1799485" y="1570434"/>
              <a:ext cx="401039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ko-KR" altLang="en-US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교보생명 사내벤처 검증 실무진 </a:t>
              </a:r>
              <a:r>
                <a:rPr lang="en-US" altLang="ko-KR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+ AI </a:t>
              </a:r>
              <a:r>
                <a:rPr lang="ko-KR" altLang="en-US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파트너 </a:t>
              </a:r>
              <a:r>
                <a:rPr lang="en-US" altLang="ko-KR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+ IP · </a:t>
              </a:r>
              <a:r>
                <a:rPr lang="ko-KR" altLang="en-US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법률 자문</a:t>
              </a:r>
              <a:endParaRPr lang="en-US" altLang="ko-KR" sz="1400" spc="-3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11B51B-D55F-2908-5AF2-79CE7DCA4754}"/>
                </a:ext>
              </a:extLst>
            </p:cNvPr>
            <p:cNvSpPr txBox="1"/>
            <p:nvPr/>
          </p:nvSpPr>
          <p:spPr>
            <a:xfrm>
              <a:off x="1400175" y="1813413"/>
              <a:ext cx="4809009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R&amp;D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수행체계 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연구책임자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(CEO)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총괄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×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신규 연구인력 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8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× XPLAT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참여연구 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(3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책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 준수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4032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0914-F61B-FED3-DF2D-A57C2422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1455F92-9F3E-CD63-8349-E000D1FCFB98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V.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연구개발 안전 및 보안조치 이행계획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FD8FBC9-53BA-A1AE-B625-061FC56288BA}"/>
              </a:ext>
            </a:extLst>
          </p:cNvPr>
          <p:cNvGrpSpPr/>
          <p:nvPr/>
        </p:nvGrpSpPr>
        <p:grpSpPr>
          <a:xfrm>
            <a:off x="0" y="70014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6FB5E5F-3C42-14E6-5A7C-C2064F49752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90310EA-8CB3-97BD-AD9F-447A6700D8DD}"/>
                </a:ext>
              </a:extLst>
            </p:cNvPr>
            <p:cNvGrpSpPr/>
            <p:nvPr/>
          </p:nvGrpSpPr>
          <p:grpSpPr>
            <a:xfrm>
              <a:off x="404618" y="922962"/>
              <a:ext cx="8445349" cy="523558"/>
              <a:chOff x="404618" y="928733"/>
              <a:chExt cx="844534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2D68008-B712-9A34-6770-7CFADC51ED18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1609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신뢰와 서비스 지속 가능성을 보장하는 안전망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 산출물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개인정보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·AI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공정성을 전주기 관리합니다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DC3B77C-723D-5711-BA02-5525D775070E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86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엔터프라이즈급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중 보안 체계와 컴플라이언스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기술적 암호화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ISMS-P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인증 로드맵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윤리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7D2F4A43-7CB5-FF92-1BD5-5FF7CEF444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1F1834-C6AC-A2D8-65C0-7F892B11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4EC8655-9B53-4773-CB74-8C13AE854A49}"/>
              </a:ext>
            </a:extLst>
          </p:cNvPr>
          <p:cNvGrpSpPr/>
          <p:nvPr/>
        </p:nvGrpSpPr>
        <p:grpSpPr>
          <a:xfrm>
            <a:off x="342000" y="1782354"/>
            <a:ext cx="8460000" cy="2956481"/>
            <a:chOff x="342000" y="1772927"/>
            <a:chExt cx="8460000" cy="2956481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EFF6AECB-6303-F467-E070-286369ED43D5}"/>
                </a:ext>
              </a:extLst>
            </p:cNvPr>
            <p:cNvGrpSpPr/>
            <p:nvPr/>
          </p:nvGrpSpPr>
          <p:grpSpPr>
            <a:xfrm>
              <a:off x="342000" y="1772927"/>
              <a:ext cx="2650703" cy="2956481"/>
              <a:chOff x="342000" y="1772927"/>
              <a:chExt cx="2650703" cy="2956481"/>
            </a:xfrm>
          </p:grpSpPr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A9C3A338-9D9C-9308-46B6-F37A4FB6B1FC}"/>
                  </a:ext>
                </a:extLst>
              </p:cNvPr>
              <p:cNvSpPr/>
              <p:nvPr/>
            </p:nvSpPr>
            <p:spPr>
              <a:xfrm>
                <a:off x="342000" y="1772927"/>
                <a:ext cx="2650703" cy="289481"/>
              </a:xfrm>
              <a:prstGeom prst="roundRect">
                <a:avLst/>
              </a:prstGeom>
              <a:solidFill>
                <a:srgbClr val="EC6570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03379C-204F-F4F0-4E71-D90A514A7314}"/>
                  </a:ext>
                </a:extLst>
              </p:cNvPr>
              <p:cNvSpPr txBox="1"/>
              <p:nvPr/>
            </p:nvSpPr>
            <p:spPr>
              <a:xfrm>
                <a:off x="1180519" y="1833029"/>
                <a:ext cx="973663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안전조치 이행계획</a:t>
                </a:r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F21404E3-620F-1316-13AA-BA1A3B7D8BB3}"/>
                  </a:ext>
                </a:extLst>
              </p:cNvPr>
              <p:cNvGrpSpPr/>
              <p:nvPr/>
            </p:nvGrpSpPr>
            <p:grpSpPr>
              <a:xfrm>
                <a:off x="1011242" y="2170529"/>
                <a:ext cx="1312218" cy="317158"/>
                <a:chOff x="1011241" y="2420396"/>
                <a:chExt cx="1312218" cy="317158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0D3C228-BBB4-12CD-8001-7FC3584E43D1}"/>
                    </a:ext>
                  </a:extLst>
                </p:cNvPr>
                <p:cNvSpPr txBox="1"/>
                <p:nvPr/>
              </p:nvSpPr>
              <p:spPr>
                <a:xfrm>
                  <a:off x="1107742" y="2420396"/>
                  <a:ext cx="111921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CTO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안전책임자 지정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79DDBDB-E3FE-AB80-6446-E1A75ACE8AD7}"/>
                    </a:ext>
                  </a:extLst>
                </p:cNvPr>
                <p:cNvSpPr txBox="1"/>
                <p:nvPr/>
              </p:nvSpPr>
              <p:spPr>
                <a:xfrm>
                  <a:off x="1011241" y="2599055"/>
                  <a:ext cx="131221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단계별 위험관리 모니터링 총괄</a:t>
                  </a:r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558DBF6-44D9-F660-BB5E-0568C6D3EBA4}"/>
                  </a:ext>
                </a:extLst>
              </p:cNvPr>
              <p:cNvGrpSpPr/>
              <p:nvPr/>
            </p:nvGrpSpPr>
            <p:grpSpPr>
              <a:xfrm>
                <a:off x="955457" y="2703929"/>
                <a:ext cx="1423788" cy="317158"/>
                <a:chOff x="955457" y="2420396"/>
                <a:chExt cx="1423788" cy="317158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FA1706B-9B5C-1FF7-F668-89F6C13B13A7}"/>
                    </a:ext>
                  </a:extLst>
                </p:cNvPr>
                <p:cNvSpPr txBox="1"/>
                <p:nvPr/>
              </p:nvSpPr>
              <p:spPr>
                <a:xfrm>
                  <a:off x="1129863" y="2420396"/>
                  <a:ext cx="107497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분기별 전사 안전진단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89E29F-A1EF-7D34-869F-7597D423A457}"/>
                    </a:ext>
                  </a:extLst>
                </p:cNvPr>
                <p:cNvSpPr txBox="1"/>
                <p:nvPr/>
              </p:nvSpPr>
              <p:spPr>
                <a:xfrm>
                  <a:off x="955457" y="2599055"/>
                  <a:ext cx="142378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PM 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개발자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외주 인력 포함 회의</a:t>
                  </a:r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3F377947-79DE-5964-0AD3-F49506876855}"/>
                  </a:ext>
                </a:extLst>
              </p:cNvPr>
              <p:cNvGrpSpPr/>
              <p:nvPr/>
            </p:nvGrpSpPr>
            <p:grpSpPr>
              <a:xfrm>
                <a:off x="494114" y="3237329"/>
                <a:ext cx="2346475" cy="317158"/>
                <a:chOff x="494112" y="2420396"/>
                <a:chExt cx="2346475" cy="317158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0EDF4D-9328-2892-C396-85D67A9A8491}"/>
                    </a:ext>
                  </a:extLst>
                </p:cNvPr>
                <p:cNvSpPr txBox="1"/>
                <p:nvPr/>
              </p:nvSpPr>
              <p:spPr>
                <a:xfrm>
                  <a:off x="1212419" y="2420396"/>
                  <a:ext cx="90986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환경 분리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이중화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8074FB5-F895-4AA5-5385-3A9C7344058C}"/>
                    </a:ext>
                  </a:extLst>
                </p:cNvPr>
                <p:cNvSpPr txBox="1"/>
                <p:nvPr/>
              </p:nvSpPr>
              <p:spPr>
                <a:xfrm>
                  <a:off x="494112" y="2599055"/>
                  <a:ext cx="2346475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스테이징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 완전 분리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클라우드 이중화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BCP</a:t>
                  </a:r>
                </a:p>
              </p:txBody>
            </p: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DBACAEF5-8531-9697-B099-A1CB2291315D}"/>
                  </a:ext>
                </a:extLst>
              </p:cNvPr>
              <p:cNvGrpSpPr/>
              <p:nvPr/>
            </p:nvGrpSpPr>
            <p:grpSpPr>
              <a:xfrm>
                <a:off x="517998" y="3770729"/>
                <a:ext cx="2298706" cy="317158"/>
                <a:chOff x="517997" y="2420396"/>
                <a:chExt cx="2298706" cy="317158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AB4B412-D692-3493-ADFA-21EFCCB818BF}"/>
                    </a:ext>
                  </a:extLst>
                </p:cNvPr>
                <p:cNvSpPr txBox="1"/>
                <p:nvPr/>
              </p:nvSpPr>
              <p:spPr>
                <a:xfrm>
                  <a:off x="1370314" y="2420396"/>
                  <a:ext cx="59407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품질 게이트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4107089-51BD-9D79-8ADF-F5C1669ED53E}"/>
                    </a:ext>
                  </a:extLst>
                </p:cNvPr>
                <p:cNvSpPr txBox="1"/>
                <p:nvPr/>
              </p:nvSpPr>
              <p:spPr>
                <a:xfrm>
                  <a:off x="517997" y="2599055"/>
                  <a:ext cx="229870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테스트 커버리지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90%+ 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자동화 린트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Git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리뷰 의무화</a:t>
                  </a:r>
                </a:p>
              </p:txBody>
            </p:sp>
          </p:grp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D8C5C5F7-9B26-1833-C4F7-1675BEF06378}"/>
                  </a:ext>
                </a:extLst>
              </p:cNvPr>
              <p:cNvGrpSpPr/>
              <p:nvPr/>
            </p:nvGrpSpPr>
            <p:grpSpPr>
              <a:xfrm>
                <a:off x="778806" y="4304129"/>
                <a:ext cx="1777090" cy="317158"/>
                <a:chOff x="778805" y="2420396"/>
                <a:chExt cx="1777090" cy="317158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E7D3D5B-FF44-6BCD-471C-4D2443DD9D5F}"/>
                    </a:ext>
                  </a:extLst>
                </p:cNvPr>
                <p:cNvSpPr txBox="1"/>
                <p:nvPr/>
              </p:nvSpPr>
              <p:spPr>
                <a:xfrm>
                  <a:off x="1313728" y="2420396"/>
                  <a:ext cx="707245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리스크 워크숍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8EB5314-CB9A-3AFB-4E52-944916F7A59F}"/>
                    </a:ext>
                  </a:extLst>
                </p:cNvPr>
                <p:cNvSpPr txBox="1"/>
                <p:nvPr/>
              </p:nvSpPr>
              <p:spPr>
                <a:xfrm>
                  <a:off x="778805" y="2599055"/>
                  <a:ext cx="177709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분기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회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회 외부 전문가 보안 세미나</a:t>
                  </a:r>
                </a:p>
              </p:txBody>
            </p:sp>
          </p:grp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0395D286-15B1-4B96-FCFC-F2FAC344B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25958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2B960EE6-2E5C-8522-B4A0-C2C00BE04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31292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AA3637AA-9836-5B55-1D48-77D7C3323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36626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CBE81DB3-CCFC-3FAB-898D-06FEB40509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41960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BCF26A0-6AB3-E358-DEAB-ECC33C7C7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4729408"/>
                <a:ext cx="2650703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92EC2C2A-995E-985A-F401-A2ACF26D353D}"/>
                </a:ext>
              </a:extLst>
            </p:cNvPr>
            <p:cNvGrpSpPr/>
            <p:nvPr/>
          </p:nvGrpSpPr>
          <p:grpSpPr>
            <a:xfrm>
              <a:off x="3246648" y="1772927"/>
              <a:ext cx="2650704" cy="2956481"/>
              <a:chOff x="3246648" y="1772927"/>
              <a:chExt cx="2650704" cy="2956481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3F516FBC-D5E0-F831-F997-064663C8B60F}"/>
                  </a:ext>
                </a:extLst>
              </p:cNvPr>
              <p:cNvSpPr/>
              <p:nvPr/>
            </p:nvSpPr>
            <p:spPr>
              <a:xfrm>
                <a:off x="3246648" y="1772927"/>
                <a:ext cx="2650703" cy="289481"/>
              </a:xfrm>
              <a:prstGeom prst="roundRect">
                <a:avLst/>
              </a:prstGeom>
              <a:solidFill>
                <a:srgbClr val="438DD1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7657D6-49A2-AE5E-F41D-A77A17B48833}"/>
                  </a:ext>
                </a:extLst>
              </p:cNvPr>
              <p:cNvSpPr txBox="1"/>
              <p:nvPr/>
            </p:nvSpPr>
            <p:spPr>
              <a:xfrm>
                <a:off x="4085168" y="1833029"/>
                <a:ext cx="973663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보안조치 이행계획</a:t>
                </a:r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3073ED00-6E02-7D3F-05BB-AC71E86C016D}"/>
                  </a:ext>
                </a:extLst>
              </p:cNvPr>
              <p:cNvGrpSpPr/>
              <p:nvPr/>
            </p:nvGrpSpPr>
            <p:grpSpPr>
              <a:xfrm>
                <a:off x="3962859" y="2170529"/>
                <a:ext cx="1218282" cy="317158"/>
                <a:chOff x="1058209" y="2420396"/>
                <a:chExt cx="1218282" cy="317158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71A1EF9-F827-284F-0297-21E5609C3FA7}"/>
                    </a:ext>
                  </a:extLst>
                </p:cNvPr>
                <p:cNvSpPr txBox="1"/>
                <p:nvPr/>
              </p:nvSpPr>
              <p:spPr>
                <a:xfrm>
                  <a:off x="1087544" y="2420396"/>
                  <a:ext cx="115961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AES-256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암호화 저장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2926949-BD03-3B40-5AFC-ADF1D323BCEC}"/>
                    </a:ext>
                  </a:extLst>
                </p:cNvPr>
                <p:cNvSpPr txBox="1"/>
                <p:nvPr/>
              </p:nvSpPr>
              <p:spPr>
                <a:xfrm>
                  <a:off x="1058209" y="2599055"/>
                  <a:ext cx="121828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고객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결제정보 비식별화 + B2B 오픈베타 영업비밀(기업명·담당자 연락처·주문 이력·입점사 공급가·생산량·리드타임) 접근통제·암호화 관리</a:t>
                  </a: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96837218-B7E0-3F0B-EF6C-81EDE516C134}"/>
                  </a:ext>
                </a:extLst>
              </p:cNvPr>
              <p:cNvGrpSpPr/>
              <p:nvPr/>
            </p:nvGrpSpPr>
            <p:grpSpPr>
              <a:xfrm>
                <a:off x="3939935" y="2703929"/>
                <a:ext cx="1264129" cy="317158"/>
                <a:chOff x="1035286" y="2420396"/>
                <a:chExt cx="1264129" cy="317158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6B38454-1C52-E857-1052-36A7599D4CDC}"/>
                    </a:ext>
                  </a:extLst>
                </p:cNvPr>
                <p:cNvSpPr txBox="1"/>
                <p:nvPr/>
              </p:nvSpPr>
              <p:spPr>
                <a:xfrm>
                  <a:off x="1035286" y="2420396"/>
                  <a:ext cx="126412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SSL/TLS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전 구간 암호화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EEECBCF-6E4D-4D67-1B01-6F8FC3D6EB8D}"/>
                    </a:ext>
                  </a:extLst>
                </p:cNvPr>
                <p:cNvSpPr txBox="1"/>
                <p:nvPr/>
              </p:nvSpPr>
              <p:spPr>
                <a:xfrm>
                  <a:off x="1357330" y="2599055"/>
                  <a:ext cx="62004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통신 구간 보호</a:t>
                  </a: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27F9F80A-494A-5D54-BE86-6DF1F3AD9DE6}"/>
                  </a:ext>
                </a:extLst>
              </p:cNvPr>
              <p:cNvGrpSpPr/>
              <p:nvPr/>
            </p:nvGrpSpPr>
            <p:grpSpPr>
              <a:xfrm>
                <a:off x="3263950" y="3237329"/>
                <a:ext cx="2616101" cy="317158"/>
                <a:chOff x="359299" y="2420396"/>
                <a:chExt cx="2616101" cy="317158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0618B64-C4AF-C2A7-CB1E-CA9BC422B594}"/>
                    </a:ext>
                  </a:extLst>
                </p:cNvPr>
                <p:cNvSpPr txBox="1"/>
                <p:nvPr/>
              </p:nvSpPr>
              <p:spPr>
                <a:xfrm>
                  <a:off x="1307476" y="2420396"/>
                  <a:ext cx="71974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2FA + RBAC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468314D-AA88-1F0E-3B85-74B3C7C2A97C}"/>
                    </a:ext>
                  </a:extLst>
                </p:cNvPr>
                <p:cNvSpPr txBox="1"/>
                <p:nvPr/>
              </p:nvSpPr>
              <p:spPr>
                <a:xfrm>
                  <a:off x="359299" y="2599055"/>
                  <a:ext cx="261610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관리계정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IP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제한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이중 인증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DB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CTO+CISO 2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 승인</a:t>
                  </a:r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692983F7-103F-CC13-EBF0-3DCEDE16589D}"/>
                  </a:ext>
                </a:extLst>
              </p:cNvPr>
              <p:cNvGrpSpPr/>
              <p:nvPr/>
            </p:nvGrpSpPr>
            <p:grpSpPr>
              <a:xfrm>
                <a:off x="4062887" y="3770729"/>
                <a:ext cx="1018228" cy="317158"/>
                <a:chOff x="1158237" y="2420396"/>
                <a:chExt cx="1018228" cy="317158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6F27A60-4BEF-A460-DA6D-0E8FC63A0BC8}"/>
                    </a:ext>
                  </a:extLst>
                </p:cNvPr>
                <p:cNvSpPr txBox="1"/>
                <p:nvPr/>
              </p:nvSpPr>
              <p:spPr>
                <a:xfrm>
                  <a:off x="1158237" y="2420396"/>
                  <a:ext cx="1018228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접근 로그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년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+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보존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51B2C65-EEFB-27B6-0363-ED636B52478C}"/>
                    </a:ext>
                  </a:extLst>
                </p:cNvPr>
                <p:cNvSpPr txBox="1"/>
                <p:nvPr/>
              </p:nvSpPr>
              <p:spPr>
                <a:xfrm>
                  <a:off x="1202318" y="2599055"/>
                  <a:ext cx="93006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주기적 감사 로그 분석</a:t>
                  </a:r>
                </a:p>
              </p:txBody>
            </p:sp>
          </p:grp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AE199390-0206-7D8A-75AF-C2C58C990716}"/>
                  </a:ext>
                </a:extLst>
              </p:cNvPr>
              <p:cNvGrpSpPr/>
              <p:nvPr/>
            </p:nvGrpSpPr>
            <p:grpSpPr>
              <a:xfrm>
                <a:off x="3606031" y="4304129"/>
                <a:ext cx="1931939" cy="317158"/>
                <a:chOff x="701381" y="2420396"/>
                <a:chExt cx="1931939" cy="317158"/>
              </a:xfrm>
            </p:grpSpPr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82FA27E-9E37-6694-D7F4-3CF18B7FAD86}"/>
                    </a:ext>
                  </a:extLst>
                </p:cNvPr>
                <p:cNvSpPr txBox="1"/>
                <p:nvPr/>
              </p:nvSpPr>
              <p:spPr>
                <a:xfrm>
                  <a:off x="1348193" y="2420396"/>
                  <a:ext cx="638315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NDA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의무화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99B6509-97CF-A43D-4178-15624A9C1883}"/>
                    </a:ext>
                  </a:extLst>
                </p:cNvPr>
                <p:cNvSpPr txBox="1"/>
                <p:nvPr/>
              </p:nvSpPr>
              <p:spPr>
                <a:xfrm>
                  <a:off x="701381" y="2599055"/>
                  <a:ext cx="193193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외주 인력 개발기록 반출 금지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보안 서약 병행</a:t>
                  </a:r>
                </a:p>
              </p:txBody>
            </p:sp>
          </p:grp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D9F8B304-00F9-C6F7-5400-9355C006A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25958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699EB196-460D-D102-5253-9F60FF9FEB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31292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8AAD4EF1-8B39-A6E8-8BBD-2576992D1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36626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6A13B67-F9E4-3A74-04BB-BB011C0EC9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41960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F4E14246-FFDC-B01B-7665-BCBB7B4BC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4729408"/>
                <a:ext cx="2650703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5CBA001E-D9E5-A3AF-7078-D9B86A971FA9}"/>
                </a:ext>
              </a:extLst>
            </p:cNvPr>
            <p:cNvGrpSpPr/>
            <p:nvPr/>
          </p:nvGrpSpPr>
          <p:grpSpPr>
            <a:xfrm>
              <a:off x="6151297" y="1772927"/>
              <a:ext cx="2650703" cy="2956481"/>
              <a:chOff x="6151297" y="1772927"/>
              <a:chExt cx="2650703" cy="2956481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E87AC2F4-7A0E-D8D9-C933-FEC1427070A2}"/>
                  </a:ext>
                </a:extLst>
              </p:cNvPr>
              <p:cNvSpPr/>
              <p:nvPr/>
            </p:nvSpPr>
            <p:spPr>
              <a:xfrm>
                <a:off x="6151297" y="1772927"/>
                <a:ext cx="2650703" cy="289481"/>
              </a:xfrm>
              <a:prstGeom prst="roundRect">
                <a:avLst/>
              </a:prstGeom>
              <a:solidFill>
                <a:srgbClr val="232323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F05C2F-C0C5-0D11-4C05-C08AB3EBCB0B}"/>
                  </a:ext>
                </a:extLst>
              </p:cNvPr>
              <p:cNvSpPr txBox="1"/>
              <p:nvPr/>
            </p:nvSpPr>
            <p:spPr>
              <a:xfrm>
                <a:off x="7033899" y="1833029"/>
                <a:ext cx="88549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그 밖의 조치사항</a:t>
                </a:r>
              </a:p>
            </p:txBody>
          </p: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B39B21C6-11FD-F509-CB32-CCA48ED1CB54}"/>
                  </a:ext>
                </a:extLst>
              </p:cNvPr>
              <p:cNvGrpSpPr/>
              <p:nvPr/>
            </p:nvGrpSpPr>
            <p:grpSpPr>
              <a:xfrm>
                <a:off x="6917040" y="2170529"/>
                <a:ext cx="1119217" cy="317158"/>
                <a:chOff x="1107742" y="2420396"/>
                <a:chExt cx="1119217" cy="317158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8EC9DC3-9505-FD10-6B3B-097073DD670F}"/>
                    </a:ext>
                  </a:extLst>
                </p:cNvPr>
                <p:cNvSpPr txBox="1"/>
                <p:nvPr/>
              </p:nvSpPr>
              <p:spPr>
                <a:xfrm>
                  <a:off x="1107742" y="2420396"/>
                  <a:ext cx="111921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EDMS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전자문서 관리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2DC17C7-8D52-2350-27D9-DFDB06D3925D}"/>
                    </a:ext>
                  </a:extLst>
                </p:cNvPr>
                <p:cNvSpPr txBox="1"/>
                <p:nvPr/>
              </p:nvSpPr>
              <p:spPr>
                <a:xfrm>
                  <a:off x="1154549" y="2599055"/>
                  <a:ext cx="102560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기술 산출물 체계적 보관</a:t>
                  </a:r>
                </a:p>
              </p:txBody>
            </p: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08F9A1B-5C2F-8D12-4A6D-23AEDC8E2556}"/>
                  </a:ext>
                </a:extLst>
              </p:cNvPr>
              <p:cNvGrpSpPr/>
              <p:nvPr/>
            </p:nvGrpSpPr>
            <p:grpSpPr>
              <a:xfrm>
                <a:off x="6675307" y="2703929"/>
                <a:ext cx="1602683" cy="317158"/>
                <a:chOff x="866010" y="2420396"/>
                <a:chExt cx="1602683" cy="317158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793848A-A45D-7CCC-9D21-AF894D1F342F}"/>
                    </a:ext>
                  </a:extLst>
                </p:cNvPr>
                <p:cNvSpPr txBox="1"/>
                <p:nvPr/>
              </p:nvSpPr>
              <p:spPr>
                <a:xfrm>
                  <a:off x="1059171" y="2420396"/>
                  <a:ext cx="121635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핵심 알고리즘 특허 출원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40B7BDF-FC3A-39E7-5AF8-2B65AC3EB018}"/>
                    </a:ext>
                  </a:extLst>
                </p:cNvPr>
                <p:cNvSpPr txBox="1"/>
                <p:nvPr/>
              </p:nvSpPr>
              <p:spPr>
                <a:xfrm>
                  <a:off x="866010" y="2599055"/>
                  <a:ext cx="160268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건 출원 완료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상표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저작권 등록 검토</a:t>
                  </a:r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62941FA6-3556-EF7D-CD57-41ABFF17DBFE}"/>
                  </a:ext>
                </a:extLst>
              </p:cNvPr>
              <p:cNvGrpSpPr/>
              <p:nvPr/>
            </p:nvGrpSpPr>
            <p:grpSpPr>
              <a:xfrm>
                <a:off x="6927940" y="3237329"/>
                <a:ext cx="1097416" cy="317158"/>
                <a:chOff x="1118641" y="2420396"/>
                <a:chExt cx="1097416" cy="317158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67AFF33-6526-D222-1D64-46771E638638}"/>
                    </a:ext>
                  </a:extLst>
                </p:cNvPr>
                <p:cNvSpPr txBox="1"/>
                <p:nvPr/>
              </p:nvSpPr>
              <p:spPr>
                <a:xfrm>
                  <a:off x="1212419" y="2420396"/>
                  <a:ext cx="90986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직무발명보상제도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669CBA2-6454-D26E-C9A9-7D57F063D0EE}"/>
                    </a:ext>
                  </a:extLst>
                </p:cNvPr>
                <p:cNvSpPr txBox="1"/>
                <p:nvPr/>
              </p:nvSpPr>
              <p:spPr>
                <a:xfrm>
                  <a:off x="1118641" y="2599055"/>
                  <a:ext cx="109741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연구 성과 권리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보상 체계</a:t>
                  </a:r>
                </a:p>
              </p:txBody>
            </p:sp>
          </p:grp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6683031A-B742-C509-5FB5-032DF499EAD7}"/>
                  </a:ext>
                </a:extLst>
              </p:cNvPr>
              <p:cNvGrpSpPr/>
              <p:nvPr/>
            </p:nvGrpSpPr>
            <p:grpSpPr>
              <a:xfrm>
                <a:off x="6310783" y="3770729"/>
                <a:ext cx="2331729" cy="317158"/>
                <a:chOff x="501485" y="2420396"/>
                <a:chExt cx="2331729" cy="317158"/>
              </a:xfrm>
            </p:grpSpPr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AC8388F-09E5-BE51-C874-7A9DD8AA1C33}"/>
                    </a:ext>
                  </a:extLst>
                </p:cNvPr>
                <p:cNvSpPr txBox="1"/>
                <p:nvPr/>
              </p:nvSpPr>
              <p:spPr>
                <a:xfrm>
                  <a:off x="1138039" y="2420396"/>
                  <a:ext cx="105862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AI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윤리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공정성 점검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8BC9B05-837B-9400-F27F-79B44BE0C872}"/>
                    </a:ext>
                  </a:extLst>
                </p:cNvPr>
                <p:cNvSpPr txBox="1"/>
                <p:nvPr/>
              </p:nvSpPr>
              <p:spPr>
                <a:xfrm>
                  <a:off x="501485" y="2599055"/>
                  <a:ext cx="233172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추천 편향성 모니터링 체계 운영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부스트 감사로그 연계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9413D4E-8456-128C-1A57-A1FAB663863A}"/>
                  </a:ext>
                </a:extLst>
              </p:cNvPr>
              <p:cNvGrpSpPr/>
              <p:nvPr/>
            </p:nvGrpSpPr>
            <p:grpSpPr>
              <a:xfrm>
                <a:off x="6417223" y="4304129"/>
                <a:ext cx="2118850" cy="317158"/>
                <a:chOff x="607925" y="2420396"/>
                <a:chExt cx="2118850" cy="317158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2FD6D9C-ACD1-22A1-065E-E414E233CFB1}"/>
                    </a:ext>
                  </a:extLst>
                </p:cNvPr>
                <p:cNvSpPr txBox="1"/>
                <p:nvPr/>
              </p:nvSpPr>
              <p:spPr>
                <a:xfrm>
                  <a:off x="1129864" y="2420396"/>
                  <a:ext cx="107497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데이터 수집 거버넌스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F95BA29-63D2-002F-9E26-9E750B405BDA}"/>
                    </a:ext>
                  </a:extLst>
                </p:cNvPr>
                <p:cNvSpPr txBox="1"/>
                <p:nvPr/>
              </p:nvSpPr>
              <p:spPr>
                <a:xfrm>
                  <a:off x="607925" y="2599055"/>
                  <a:ext cx="211885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공식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API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우선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robots/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약관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개인정보 준수 문서화</a:t>
                  </a:r>
                </a:p>
              </p:txBody>
            </p:sp>
          </p:grp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CC72AD52-854C-4DDA-727F-842D4F380B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25958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F8628BA3-4424-ABD0-2220-DFBCCEB668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31292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17A7A169-BDDB-AD61-C92F-A32BB8F335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36626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996834C9-B7BD-FC81-5A84-D7E7E853B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41960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5197D509-4C6F-3418-47B2-4D1D12F8A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4729408"/>
                <a:ext cx="2650703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DA53E85-A561-0E97-7BC9-ABFA5C87F809}"/>
              </a:ext>
            </a:extLst>
          </p:cNvPr>
          <p:cNvGrpSpPr/>
          <p:nvPr/>
        </p:nvGrpSpPr>
        <p:grpSpPr>
          <a:xfrm>
            <a:off x="342001" y="4924425"/>
            <a:ext cx="4164534" cy="1289051"/>
            <a:chOff x="342001" y="4924425"/>
            <a:chExt cx="4164534" cy="1289051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E2BF93B-CA07-3188-4285-F4F382F9E0EA}"/>
                </a:ext>
              </a:extLst>
            </p:cNvPr>
            <p:cNvSpPr/>
            <p:nvPr/>
          </p:nvSpPr>
          <p:spPr>
            <a:xfrm>
              <a:off x="342001" y="4924425"/>
              <a:ext cx="4164534" cy="1289051"/>
            </a:xfrm>
            <a:prstGeom prst="roundRect">
              <a:avLst>
                <a:gd name="adj" fmla="val 5407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47986534-EEE9-83B0-28F8-450BADCAD97A}"/>
                </a:ext>
              </a:extLst>
            </p:cNvPr>
            <p:cNvGrpSpPr/>
            <p:nvPr/>
          </p:nvGrpSpPr>
          <p:grpSpPr>
            <a:xfrm>
              <a:off x="564233" y="5114816"/>
              <a:ext cx="3132268" cy="908269"/>
              <a:chOff x="564233" y="5147204"/>
              <a:chExt cx="3132268" cy="908269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082F05F-91CB-C408-9FCB-06EF2AA825B0}"/>
                  </a:ext>
                </a:extLst>
              </p:cNvPr>
              <p:cNvSpPr txBox="1"/>
              <p:nvPr/>
            </p:nvSpPr>
            <p:spPr>
              <a:xfrm>
                <a:off x="564233" y="5147204"/>
                <a:ext cx="14026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법령 준수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현재 준수 중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)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E3927-259D-4D4D-F07C-CD217629DA72}"/>
                  </a:ext>
                </a:extLst>
              </p:cNvPr>
              <p:cNvSpPr txBox="1"/>
              <p:nvPr/>
            </p:nvSpPr>
            <p:spPr>
              <a:xfrm>
                <a:off x="564233" y="5393753"/>
                <a:ext cx="3132268" cy="661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개인정보 보호법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처리방침 공개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법정대리인 동의 체계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정보통신망법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정보보호 관리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침해사고 대응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전자상거래법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청약철회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환불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소비자 보호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국가연구개발혁신법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3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연구윤리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연구비 사용기준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(RCMS)</a:t>
                </a:r>
                <a:endPara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9E06B50C-BA41-73C2-9198-2ACE2FE9A077}"/>
              </a:ext>
            </a:extLst>
          </p:cNvPr>
          <p:cNvGrpSpPr/>
          <p:nvPr/>
        </p:nvGrpSpPr>
        <p:grpSpPr>
          <a:xfrm>
            <a:off x="4637467" y="4924425"/>
            <a:ext cx="4164534" cy="1289051"/>
            <a:chOff x="4637467" y="4924425"/>
            <a:chExt cx="4164534" cy="1289051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1C48082-9711-02C9-FAC7-4E281C64529B}"/>
                </a:ext>
              </a:extLst>
            </p:cNvPr>
            <p:cNvSpPr/>
            <p:nvPr/>
          </p:nvSpPr>
          <p:spPr>
            <a:xfrm>
              <a:off x="4637467" y="4924425"/>
              <a:ext cx="4164534" cy="1289051"/>
            </a:xfrm>
            <a:prstGeom prst="roundRect">
              <a:avLst>
                <a:gd name="adj" fmla="val 5407"/>
              </a:avLst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DF50E48-E08C-D405-C675-345791547D60}"/>
                </a:ext>
              </a:extLst>
            </p:cNvPr>
            <p:cNvSpPr txBox="1"/>
            <p:nvPr/>
          </p:nvSpPr>
          <p:spPr>
            <a:xfrm>
              <a:off x="4859699" y="5114816"/>
              <a:ext cx="161871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인증 추진 로드맵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(ISMS-P)</a:t>
              </a:r>
            </a:p>
          </p:txBody>
        </p:sp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2663A641-7953-516E-B3F2-275A58315453}"/>
                </a:ext>
              </a:extLst>
            </p:cNvPr>
            <p:cNvSpPr/>
            <p:nvPr/>
          </p:nvSpPr>
          <p:spPr>
            <a:xfrm>
              <a:off x="4859700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A196254D-D01E-C1C9-46EF-E38F44C8C362}"/>
                </a:ext>
              </a:extLst>
            </p:cNvPr>
            <p:cNvSpPr/>
            <p:nvPr/>
          </p:nvSpPr>
          <p:spPr>
            <a:xfrm>
              <a:off x="5817773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8293B5EB-2D6E-9FE2-F096-523B53B6A69F}"/>
                </a:ext>
              </a:extLst>
            </p:cNvPr>
            <p:cNvSpPr/>
            <p:nvPr/>
          </p:nvSpPr>
          <p:spPr>
            <a:xfrm>
              <a:off x="6775847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535D3615-498C-811F-F595-A099B17EFDF5}"/>
                </a:ext>
              </a:extLst>
            </p:cNvPr>
            <p:cNvSpPr/>
            <p:nvPr/>
          </p:nvSpPr>
          <p:spPr>
            <a:xfrm>
              <a:off x="7733920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 w="635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9F585831-3305-CCDC-C475-995728F9F1A8}"/>
                </a:ext>
              </a:extLst>
            </p:cNvPr>
            <p:cNvGrpSpPr/>
            <p:nvPr/>
          </p:nvGrpSpPr>
          <p:grpSpPr>
            <a:xfrm>
              <a:off x="5081530" y="5470496"/>
              <a:ext cx="402189" cy="489644"/>
              <a:chOff x="5081530" y="5469623"/>
              <a:chExt cx="402189" cy="489644"/>
            </a:xfrm>
          </p:grpSpPr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4AD33FDC-C416-FF8D-DCA2-C710B638B56A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17" name="사각형: 둥근 모서리 116">
                  <a:extLst>
                    <a:ext uri="{FF2B5EF4-FFF2-40B4-BE49-F238E27FC236}">
                      <a16:creationId xmlns:a16="http://schemas.microsoft.com/office/drawing/2014/main" id="{A719DACE-94C7-75F7-E80E-10B42C4459FA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F2AE99C-850A-EF93-B847-1BE69D8DF8C4}"/>
                    </a:ext>
                  </a:extLst>
                </p:cNvPr>
                <p:cNvSpPr txBox="1"/>
                <p:nvPr/>
              </p:nvSpPr>
              <p:spPr>
                <a:xfrm>
                  <a:off x="5157109" y="5548823"/>
                  <a:ext cx="2510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'25 4Q</a:t>
                  </a:r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B83CE6B-C9A1-D735-E081-5C5395A3DE84}"/>
                  </a:ext>
                </a:extLst>
              </p:cNvPr>
              <p:cNvSpPr txBox="1"/>
              <p:nvPr/>
            </p:nvSpPr>
            <p:spPr>
              <a:xfrm>
                <a:off x="5091546" y="5682268"/>
                <a:ext cx="3821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보안체계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구축</a:t>
                </a:r>
              </a:p>
            </p:txBody>
          </p:sp>
        </p:grp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9C9D7E18-B44A-6309-21E8-F28240674297}"/>
                </a:ext>
              </a:extLst>
            </p:cNvPr>
            <p:cNvGrpSpPr/>
            <p:nvPr/>
          </p:nvGrpSpPr>
          <p:grpSpPr>
            <a:xfrm>
              <a:off x="6039603" y="5470496"/>
              <a:ext cx="402189" cy="489644"/>
              <a:chOff x="5081530" y="5469623"/>
              <a:chExt cx="402189" cy="489644"/>
            </a:xfrm>
          </p:grpSpPr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2185CE25-3288-D81B-4AB0-6438F63C8584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84CE1397-81AF-D263-761E-A1B8746F759F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210FF33-DB2A-C5B0-1D35-404DFE6DFEE7}"/>
                    </a:ext>
                  </a:extLst>
                </p:cNvPr>
                <p:cNvSpPr txBox="1"/>
                <p:nvPr/>
              </p:nvSpPr>
              <p:spPr>
                <a:xfrm>
                  <a:off x="5157109" y="5548823"/>
                  <a:ext cx="2510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'26 2Q</a:t>
                  </a:r>
                </a:p>
              </p:txBody>
            </p:sp>
          </p:grp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7CEAC3E-EFDC-BC4C-C100-E9325347F3BB}"/>
                  </a:ext>
                </a:extLst>
              </p:cNvPr>
              <p:cNvSpPr txBox="1"/>
              <p:nvPr/>
            </p:nvSpPr>
            <p:spPr>
              <a:xfrm>
                <a:off x="5091546" y="5682268"/>
                <a:ext cx="3821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내부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보안진단</a:t>
                </a:r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6E1FBFF5-5B41-26CC-EC90-37FCCDBD481C}"/>
                </a:ext>
              </a:extLst>
            </p:cNvPr>
            <p:cNvGrpSpPr/>
            <p:nvPr/>
          </p:nvGrpSpPr>
          <p:grpSpPr>
            <a:xfrm>
              <a:off x="6997677" y="5470496"/>
              <a:ext cx="402189" cy="489644"/>
              <a:chOff x="5081530" y="5469623"/>
              <a:chExt cx="402189" cy="489644"/>
            </a:xfrm>
          </p:grpSpPr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C6B3191E-1F6B-AFFE-43B3-DC4FC260960E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30" name="사각형: 둥근 모서리 129">
                  <a:extLst>
                    <a:ext uri="{FF2B5EF4-FFF2-40B4-BE49-F238E27FC236}">
                      <a16:creationId xmlns:a16="http://schemas.microsoft.com/office/drawing/2014/main" id="{E06B8FEE-B52E-E123-F086-E3030CE3918E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D4B4AE3C-5B5C-2AEC-D8B8-E547EB950FBA}"/>
                    </a:ext>
                  </a:extLst>
                </p:cNvPr>
                <p:cNvSpPr txBox="1"/>
                <p:nvPr/>
              </p:nvSpPr>
              <p:spPr>
                <a:xfrm>
                  <a:off x="5157109" y="5548823"/>
                  <a:ext cx="2510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'26 3Q</a:t>
                  </a:r>
                </a:p>
              </p:txBody>
            </p: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FA00822-A115-7470-606E-6F390E6797EC}"/>
                  </a:ext>
                </a:extLst>
              </p:cNvPr>
              <p:cNvSpPr txBox="1"/>
              <p:nvPr/>
            </p:nvSpPr>
            <p:spPr>
              <a:xfrm>
                <a:off x="5100202" y="5682268"/>
                <a:ext cx="3648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ISMS-P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신청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7529378-E68D-20E0-FC26-331FBFAD34E6}"/>
                </a:ext>
              </a:extLst>
            </p:cNvPr>
            <p:cNvGrpSpPr/>
            <p:nvPr/>
          </p:nvGrpSpPr>
          <p:grpSpPr>
            <a:xfrm>
              <a:off x="7953262" y="5470496"/>
              <a:ext cx="407163" cy="489644"/>
              <a:chOff x="5079042" y="5469623"/>
              <a:chExt cx="407163" cy="489644"/>
            </a:xfrm>
          </p:grpSpPr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4111F5C0-C111-7A75-AF30-89290821F806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35" name="사각형: 둥근 모서리 134">
                  <a:extLst>
                    <a:ext uri="{FF2B5EF4-FFF2-40B4-BE49-F238E27FC236}">
                      <a16:creationId xmlns:a16="http://schemas.microsoft.com/office/drawing/2014/main" id="{B341C98A-142B-BD50-50DD-6F5DE5489629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A92262E-97C4-92A9-4BB1-1C075708D12B}"/>
                    </a:ext>
                  </a:extLst>
                </p:cNvPr>
                <p:cNvSpPr txBox="1"/>
                <p:nvPr/>
              </p:nvSpPr>
              <p:spPr>
                <a:xfrm>
                  <a:off x="5199749" y="5548823"/>
                  <a:ext cx="16575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'27~</a:t>
                  </a:r>
                </a:p>
              </p:txBody>
            </p: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6E3C467-89C8-B2B0-D119-DB413BE2E56C}"/>
                  </a:ext>
                </a:extLst>
              </p:cNvPr>
              <p:cNvSpPr txBox="1"/>
              <p:nvPr/>
            </p:nvSpPr>
            <p:spPr>
              <a:xfrm>
                <a:off x="5079042" y="5682268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인증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취득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유지</a:t>
                </a:r>
              </a:p>
            </p:txBody>
          </p:sp>
        </p:grpSp>
        <p:sp>
          <p:nvSpPr>
            <p:cNvPr id="138" name="화살표: 오른쪽 137">
              <a:extLst>
                <a:ext uri="{FF2B5EF4-FFF2-40B4-BE49-F238E27FC236}">
                  <a16:creationId xmlns:a16="http://schemas.microsoft.com/office/drawing/2014/main" id="{425A3781-F524-FC5E-A8C9-7670FC2DB611}"/>
                </a:ext>
              </a:extLst>
            </p:cNvPr>
            <p:cNvSpPr/>
            <p:nvPr/>
          </p:nvSpPr>
          <p:spPr>
            <a:xfrm>
              <a:off x="5705548" y="5649241"/>
              <a:ext cx="152327" cy="132154"/>
            </a:xfrm>
            <a:prstGeom prst="rightArrow">
              <a:avLst>
                <a:gd name="adj1" fmla="val 64414"/>
                <a:gd name="adj2" fmla="val 5000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화살표: 오른쪽 138">
              <a:extLst>
                <a:ext uri="{FF2B5EF4-FFF2-40B4-BE49-F238E27FC236}">
                  <a16:creationId xmlns:a16="http://schemas.microsoft.com/office/drawing/2014/main" id="{F9CF4BC7-4713-3324-B77B-472A7DE36247}"/>
                </a:ext>
              </a:extLst>
            </p:cNvPr>
            <p:cNvSpPr/>
            <p:nvPr/>
          </p:nvSpPr>
          <p:spPr>
            <a:xfrm>
              <a:off x="6664398" y="5649241"/>
              <a:ext cx="152327" cy="132154"/>
            </a:xfrm>
            <a:prstGeom prst="rightArrow">
              <a:avLst>
                <a:gd name="adj1" fmla="val 64414"/>
                <a:gd name="adj2" fmla="val 5000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0" name="화살표: 오른쪽 139">
              <a:extLst>
                <a:ext uri="{FF2B5EF4-FFF2-40B4-BE49-F238E27FC236}">
                  <a16:creationId xmlns:a16="http://schemas.microsoft.com/office/drawing/2014/main" id="{35025B52-965E-0EF3-5A81-C401566E0A69}"/>
                </a:ext>
              </a:extLst>
            </p:cNvPr>
            <p:cNvSpPr/>
            <p:nvPr/>
          </p:nvSpPr>
          <p:spPr>
            <a:xfrm>
              <a:off x="7623248" y="5649241"/>
              <a:ext cx="152327" cy="132154"/>
            </a:xfrm>
            <a:prstGeom prst="rightArrow">
              <a:avLst>
                <a:gd name="adj1" fmla="val 64414"/>
                <a:gd name="adj2" fmla="val 5000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71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ctr">
          <a:defRPr sz="1200" spc="-30" smtClean="0">
            <a:solidFill>
              <a:schemeClr val="tx1">
                <a:lumMod val="85000"/>
                <a:lumOff val="15000"/>
              </a:schemeClr>
            </a:solidFill>
            <a:latin typeface="Pretendard Light" panose="02000403000000020004" pitchFamily="50" charset="-127"/>
            <a:ea typeface="Pretendard Light" panose="02000403000000020004" pitchFamily="50" charset="-127"/>
            <a:cs typeface="Pretendard Light" panose="020004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l">
          <a:spcBef>
            <a:spcPts val="200"/>
          </a:spcBef>
          <a:defRPr sz="1050" spc="-30" dirty="0">
            <a:solidFill>
              <a:schemeClr val="tx1">
                <a:lumMod val="85000"/>
                <a:lumOff val="15000"/>
              </a:schemeClr>
            </a:solidFill>
            <a:latin typeface="Pretendard Light" panose="02000403000000020004" pitchFamily="50" charset="-127"/>
            <a:ea typeface="Pretendard Light" panose="02000403000000020004" pitchFamily="50" charset="-127"/>
            <a:cs typeface="Pretendard Light" panose="020004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300" spc="-30" smtClean="0">
            <a:solidFill>
              <a:schemeClr val="tx1">
                <a:lumMod val="85000"/>
                <a:lumOff val="15000"/>
              </a:schemeClr>
            </a:solidFill>
            <a:latin typeface="Pretendard Light" panose="02000403000000020004" pitchFamily="50" charset="-127"/>
            <a:ea typeface="Pretendard Light" panose="02000403000000020004" pitchFamily="50" charset="-127"/>
            <a:cs typeface="Pretendard Light" panose="020004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ctr">
          <a:spcBef>
            <a:spcPts val="200"/>
          </a:spcBef>
          <a:buClr>
            <a:srgbClr val="EC6570"/>
          </a:buClr>
          <a:defRPr sz="900" spc="-30" dirty="0">
            <a:solidFill>
              <a:prstClr val="black">
                <a:lumMod val="85000"/>
                <a:lumOff val="15000"/>
              </a:prstClr>
            </a:solidFill>
            <a:latin typeface="Pretendard Medium" panose="02000603000000020004" pitchFamily="50" charset="-127"/>
            <a:ea typeface="Pretendard Medium" panose="02000603000000020004" pitchFamily="50" charset="-127"/>
            <a:cs typeface="Pretendard Medium" panose="020006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7EC2C13D88984F8FA3FEE5E2B1FE94" ma:contentTypeVersion="11" ma:contentTypeDescription="Create a new document." ma:contentTypeScope="" ma:versionID="e3203d0c5f126bad390c338fd83f7ade">
  <xsd:schema xmlns:xsd="http://www.w3.org/2001/XMLSchema" xmlns:xs="http://www.w3.org/2001/XMLSchema" xmlns:p="http://schemas.microsoft.com/office/2006/metadata/properties" xmlns:ns3="7bcf376a-8d88-48b4-9638-01d4459dbb70" targetNamespace="http://schemas.microsoft.com/office/2006/metadata/properties" ma:root="true" ma:fieldsID="c545d759fffd6efe65844da0ddfb4b9f" ns3:_="">
    <xsd:import namespace="7bcf376a-8d88-48b4-9638-01d4459dbb7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f376a-8d88-48b4-9638-01d4459dbb7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cf376a-8d88-48b4-9638-01d4459dbb70" xsi:nil="true"/>
  </documentManagement>
</p:properties>
</file>

<file path=customXml/itemProps1.xml><?xml version="1.0" encoding="utf-8"?>
<ds:datastoreItem xmlns:ds="http://schemas.openxmlformats.org/officeDocument/2006/customXml" ds:itemID="{2D7E1CBF-83F4-48B0-B87B-832739171A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F534A3-A182-4A7A-BDBD-C606FB487A6A}">
  <ds:schemaRefs>
    <ds:schemaRef ds:uri="7bcf376a-8d88-48b4-9638-01d4459dbb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CDE793-28D5-475E-BF66-EB462818BE37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7bcf376a-8d88-48b4-9638-01d4459dbb7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</TotalTime>
  <Words>15435</Words>
  <Application>Microsoft Office PowerPoint</Application>
  <PresentationFormat>화면 슬라이드 쇼(4:3)</PresentationFormat>
  <Paragraphs>2157</Paragraphs>
  <Slides>43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43</vt:i4>
      </vt:variant>
    </vt:vector>
  </HeadingPairs>
  <TitlesOfParts>
    <vt:vector size="59" baseType="lpstr">
      <vt:lpstr>Arial</vt:lpstr>
      <vt:lpstr>Calibri</vt:lpstr>
      <vt:lpstr>Calibri Light</vt:lpstr>
      <vt:lpstr>HELVETICA</vt:lpstr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Office 테마</vt:lpstr>
      <vt:lpstr>1_Office 2013 - 2022 테마</vt:lpstr>
      <vt:lpstr>2_Office 2013 - 2022 테마</vt:lpstr>
      <vt:lpstr>3_Office 2013 - 2022 테마</vt:lpstr>
      <vt:lpstr>1_Office 테마</vt:lpstr>
      <vt:lpstr>3_Office 테마</vt:lpstr>
      <vt:lpstr>디저트 도메인 특화 AI 트렌드 분석·수요예측 엔진 및 B2B/B2B2C 단체주문 자동 매칭·랭킹 시스템 개발</vt:lpstr>
      <vt:lpstr>목 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딸기로컴퍼니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딸기로컴퍼니 TIPS 연구개발계획서 (일반트랙)</dc:title>
  <dc:subject>PptxGenJS Presentation</dc:subject>
  <dc:creator>딸기로컴퍼니</dc:creator>
  <cp:lastModifiedBy>정규진</cp:lastModifiedBy>
  <cp:revision>4</cp:revision>
  <dcterms:created xsi:type="dcterms:W3CDTF">2026-07-02T00:42:36Z</dcterms:created>
  <dcterms:modified xsi:type="dcterms:W3CDTF">2026-07-14T14:41:12Z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0x010100B57EC2C13D88984F8FA3FEE5E2B1FE94</vt:lpwstr>
  </property>
</Properties>
</file>